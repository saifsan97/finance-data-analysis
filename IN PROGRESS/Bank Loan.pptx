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99" r:id="rId1"/>
  </p:sldMasterIdLst>
  <p:sldIdLst>
    <p:sldId id="256" r:id="rId2"/>
    <p:sldId id="262" r:id="rId3"/>
    <p:sldId id="259" r:id="rId4"/>
    <p:sldId id="261" r:id="rId5"/>
    <p:sldId id="263" r:id="rId6"/>
    <p:sldId id="264" r:id="rId7"/>
    <p:sldId id="265" r:id="rId8"/>
    <p:sldId id="266" r:id="rId9"/>
    <p:sldId id="267" r:id="rId10"/>
    <p:sldId id="268" r:id="rId11"/>
    <p:sldId id="269" r:id="rId12"/>
    <p:sldId id="270" r:id="rId13"/>
    <p:sldId id="279" r:id="rId14"/>
    <p:sldId id="271" r:id="rId15"/>
    <p:sldId id="272" r:id="rId16"/>
    <p:sldId id="273" r:id="rId17"/>
    <p:sldId id="274" r:id="rId18"/>
    <p:sldId id="275" r:id="rId19"/>
    <p:sldId id="276" r:id="rId20"/>
    <p:sldId id="277" r:id="rId21"/>
    <p:sldId id="278" r:id="rId22"/>
    <p:sldId id="280" r:id="rId23"/>
    <p:sldId id="281" r:id="rId24"/>
    <p:sldId id="257" r:id="rId25"/>
    <p:sldId id="282" r:id="rId26"/>
    <p:sldId id="283"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9" d="100"/>
          <a:sy n="79" d="100"/>
        </p:scale>
        <p:origin x="125"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diagrams/_rels/data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_rels/data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svg"/><Relationship Id="rId1" Type="http://schemas.openxmlformats.org/officeDocument/2006/relationships/image" Target="../media/image10.png"/><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svg"/></Relationships>
</file>

<file path=ppt/diagrams/_rels/data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1.svg"/><Relationship Id="rId1" Type="http://schemas.openxmlformats.org/officeDocument/2006/relationships/image" Target="../media/image10.png"/><Relationship Id="rId4" Type="http://schemas.openxmlformats.org/officeDocument/2006/relationships/image" Target="../media/image15.svg"/></Relationships>
</file>

<file path=ppt/diagrams/_rels/data4.xml.rels><?xml version="1.0" encoding="UTF-8" standalone="yes"?>
<Relationships xmlns="http://schemas.openxmlformats.org/package/2006/relationships"><Relationship Id="rId8" Type="http://schemas.openxmlformats.org/officeDocument/2006/relationships/image" Target="../media/image42.svg"/><Relationship Id="rId3" Type="http://schemas.openxmlformats.org/officeDocument/2006/relationships/image" Target="../media/image16.png"/><Relationship Id="rId7" Type="http://schemas.openxmlformats.org/officeDocument/2006/relationships/image" Target="../media/image41.png"/><Relationship Id="rId2" Type="http://schemas.openxmlformats.org/officeDocument/2006/relationships/image" Target="../media/image19.svg"/><Relationship Id="rId1" Type="http://schemas.openxmlformats.org/officeDocument/2006/relationships/image" Target="../media/image18.png"/><Relationship Id="rId6" Type="http://schemas.openxmlformats.org/officeDocument/2006/relationships/image" Target="../media/image40.svg"/><Relationship Id="rId5" Type="http://schemas.openxmlformats.org/officeDocument/2006/relationships/image" Target="../media/image39.png"/><Relationship Id="rId4" Type="http://schemas.openxmlformats.org/officeDocument/2006/relationships/image" Target="../media/image17.svg"/></Relationships>
</file>

<file path=ppt/diagrams/_rels/drawing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svg"/><Relationship Id="rId1" Type="http://schemas.openxmlformats.org/officeDocument/2006/relationships/image" Target="../media/image10.png"/><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svg"/></Relationships>
</file>

<file path=ppt/diagrams/_rels/drawing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1.svg"/><Relationship Id="rId1" Type="http://schemas.openxmlformats.org/officeDocument/2006/relationships/image" Target="../media/image10.png"/><Relationship Id="rId4" Type="http://schemas.openxmlformats.org/officeDocument/2006/relationships/image" Target="../media/image15.svg"/></Relationships>
</file>

<file path=ppt/diagrams/_rels/drawing4.xml.rels><?xml version="1.0" encoding="UTF-8" standalone="yes"?>
<Relationships xmlns="http://schemas.openxmlformats.org/package/2006/relationships"><Relationship Id="rId8" Type="http://schemas.openxmlformats.org/officeDocument/2006/relationships/image" Target="../media/image42.svg"/><Relationship Id="rId3" Type="http://schemas.openxmlformats.org/officeDocument/2006/relationships/image" Target="../media/image16.png"/><Relationship Id="rId7" Type="http://schemas.openxmlformats.org/officeDocument/2006/relationships/image" Target="../media/image41.png"/><Relationship Id="rId2" Type="http://schemas.openxmlformats.org/officeDocument/2006/relationships/image" Target="../media/image19.svg"/><Relationship Id="rId1" Type="http://schemas.openxmlformats.org/officeDocument/2006/relationships/image" Target="../media/image18.png"/><Relationship Id="rId6" Type="http://schemas.openxmlformats.org/officeDocument/2006/relationships/image" Target="../media/image40.svg"/><Relationship Id="rId5" Type="http://schemas.openxmlformats.org/officeDocument/2006/relationships/image" Target="../media/image39.png"/><Relationship Id="rId4" Type="http://schemas.openxmlformats.org/officeDocument/2006/relationships/image" Target="../media/image17.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7F98C22-E8C7-4CDC-845A-382B29445C5F}"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306DAE30-A11F-4CC6-80D1-94A97A48BB24}">
      <dgm:prSet/>
      <dgm:spPr/>
      <dgm:t>
        <a:bodyPr/>
        <a:lstStyle/>
        <a:p>
          <a:pPr>
            <a:lnSpc>
              <a:spcPct val="100000"/>
            </a:lnSpc>
          </a:pPr>
          <a:r>
            <a:rPr lang="en-US"/>
            <a:t>Objectives</a:t>
          </a:r>
        </a:p>
      </dgm:t>
    </dgm:pt>
    <dgm:pt modelId="{668C7066-0AC6-4766-AFCA-56647AA5C116}" type="parTrans" cxnId="{09F71A99-289D-4852-BBF7-A802FEBE3661}">
      <dgm:prSet/>
      <dgm:spPr/>
      <dgm:t>
        <a:bodyPr/>
        <a:lstStyle/>
        <a:p>
          <a:endParaRPr lang="en-US"/>
        </a:p>
      </dgm:t>
    </dgm:pt>
    <dgm:pt modelId="{62C190DA-62A5-4DD4-A02D-686E15707B7A}" type="sibTrans" cxnId="{09F71A99-289D-4852-BBF7-A802FEBE3661}">
      <dgm:prSet/>
      <dgm:spPr/>
      <dgm:t>
        <a:bodyPr/>
        <a:lstStyle/>
        <a:p>
          <a:endParaRPr lang="en-US"/>
        </a:p>
      </dgm:t>
    </dgm:pt>
    <dgm:pt modelId="{A351694B-124E-47B2-AB8F-A248ED2B3C60}">
      <dgm:prSet/>
      <dgm:spPr/>
      <dgm:t>
        <a:bodyPr/>
        <a:lstStyle/>
        <a:p>
          <a:pPr>
            <a:lnSpc>
              <a:spcPct val="100000"/>
            </a:lnSpc>
          </a:pPr>
          <a:r>
            <a:rPr lang="en-US"/>
            <a:t>Data Analysis</a:t>
          </a:r>
        </a:p>
      </dgm:t>
    </dgm:pt>
    <dgm:pt modelId="{ABA795D2-C788-4890-BBA7-30BB95A9A263}" type="parTrans" cxnId="{C4D5553A-E3C2-4CE1-897E-803A214D7F76}">
      <dgm:prSet/>
      <dgm:spPr/>
      <dgm:t>
        <a:bodyPr/>
        <a:lstStyle/>
        <a:p>
          <a:endParaRPr lang="en-US"/>
        </a:p>
      </dgm:t>
    </dgm:pt>
    <dgm:pt modelId="{0890F7CF-49A7-471E-AC74-EF19B956B12B}" type="sibTrans" cxnId="{C4D5553A-E3C2-4CE1-897E-803A214D7F76}">
      <dgm:prSet/>
      <dgm:spPr/>
      <dgm:t>
        <a:bodyPr/>
        <a:lstStyle/>
        <a:p>
          <a:endParaRPr lang="en-US"/>
        </a:p>
      </dgm:t>
    </dgm:pt>
    <dgm:pt modelId="{63213E45-518D-483B-AD21-840E59CA8747}">
      <dgm:prSet/>
      <dgm:spPr/>
      <dgm:t>
        <a:bodyPr/>
        <a:lstStyle/>
        <a:p>
          <a:pPr>
            <a:lnSpc>
              <a:spcPct val="100000"/>
            </a:lnSpc>
          </a:pPr>
          <a:r>
            <a:rPr lang="en-US"/>
            <a:t>Project Limitations</a:t>
          </a:r>
        </a:p>
      </dgm:t>
    </dgm:pt>
    <dgm:pt modelId="{B41CC1A5-8D3A-4EBE-A549-031F28058986}" type="parTrans" cxnId="{0A3E32B1-0FDC-440C-8D9B-7BB6B2DD7FB9}">
      <dgm:prSet/>
      <dgm:spPr/>
      <dgm:t>
        <a:bodyPr/>
        <a:lstStyle/>
        <a:p>
          <a:endParaRPr lang="en-US"/>
        </a:p>
      </dgm:t>
    </dgm:pt>
    <dgm:pt modelId="{420BCCB4-2A7D-44FD-85ED-D0C36BA57B52}" type="sibTrans" cxnId="{0A3E32B1-0FDC-440C-8D9B-7BB6B2DD7FB9}">
      <dgm:prSet/>
      <dgm:spPr/>
      <dgm:t>
        <a:bodyPr/>
        <a:lstStyle/>
        <a:p>
          <a:endParaRPr lang="en-US"/>
        </a:p>
      </dgm:t>
    </dgm:pt>
    <dgm:pt modelId="{62A69A82-5CA7-4B2A-8A83-2C0FB2B0BFBB}">
      <dgm:prSet/>
      <dgm:spPr/>
      <dgm:t>
        <a:bodyPr/>
        <a:lstStyle/>
        <a:p>
          <a:pPr>
            <a:lnSpc>
              <a:spcPct val="100000"/>
            </a:lnSpc>
          </a:pPr>
          <a:r>
            <a:rPr lang="en-US"/>
            <a:t>Recommendations</a:t>
          </a:r>
        </a:p>
      </dgm:t>
    </dgm:pt>
    <dgm:pt modelId="{15CEA358-4D1C-4093-B937-BBE75A8FF57A}" type="parTrans" cxnId="{FC501169-245D-494F-9EA3-A752A268B6CE}">
      <dgm:prSet/>
      <dgm:spPr/>
      <dgm:t>
        <a:bodyPr/>
        <a:lstStyle/>
        <a:p>
          <a:endParaRPr lang="en-US"/>
        </a:p>
      </dgm:t>
    </dgm:pt>
    <dgm:pt modelId="{4DFD6CED-6579-4D6A-85AA-907FC0F21CE6}" type="sibTrans" cxnId="{FC501169-245D-494F-9EA3-A752A268B6CE}">
      <dgm:prSet/>
      <dgm:spPr/>
      <dgm:t>
        <a:bodyPr/>
        <a:lstStyle/>
        <a:p>
          <a:endParaRPr lang="en-US"/>
        </a:p>
      </dgm:t>
    </dgm:pt>
    <dgm:pt modelId="{8D2F22C3-39AE-4CE6-B09F-087BCDF93ED4}" type="pres">
      <dgm:prSet presAssocID="{27F98C22-E8C7-4CDC-845A-382B29445C5F}" presName="root" presStyleCnt="0">
        <dgm:presLayoutVars>
          <dgm:dir/>
          <dgm:resizeHandles val="exact"/>
        </dgm:presLayoutVars>
      </dgm:prSet>
      <dgm:spPr/>
    </dgm:pt>
    <dgm:pt modelId="{9799073C-6EB8-4D2C-93B0-80F7E776415B}" type="pres">
      <dgm:prSet presAssocID="{306DAE30-A11F-4CC6-80D1-94A97A48BB24}" presName="compNode" presStyleCnt="0"/>
      <dgm:spPr/>
    </dgm:pt>
    <dgm:pt modelId="{06339483-1F59-41EA-900B-6D7EEDCD47B0}" type="pres">
      <dgm:prSet presAssocID="{306DAE30-A11F-4CC6-80D1-94A97A48BB24}"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Presentation with Checklist"/>
        </a:ext>
      </dgm:extLst>
    </dgm:pt>
    <dgm:pt modelId="{CC77A46A-E56A-4E05-BAC7-262A827C60DA}" type="pres">
      <dgm:prSet presAssocID="{306DAE30-A11F-4CC6-80D1-94A97A48BB24}" presName="spaceRect" presStyleCnt="0"/>
      <dgm:spPr/>
    </dgm:pt>
    <dgm:pt modelId="{D46924BE-A424-4AA0-887A-7C38BB279016}" type="pres">
      <dgm:prSet presAssocID="{306DAE30-A11F-4CC6-80D1-94A97A48BB24}" presName="textRect" presStyleLbl="revTx" presStyleIdx="0" presStyleCnt="4">
        <dgm:presLayoutVars>
          <dgm:chMax val="1"/>
          <dgm:chPref val="1"/>
        </dgm:presLayoutVars>
      </dgm:prSet>
      <dgm:spPr/>
    </dgm:pt>
    <dgm:pt modelId="{8B00DA3E-11B2-4828-94A1-2566BAE37499}" type="pres">
      <dgm:prSet presAssocID="{62C190DA-62A5-4DD4-A02D-686E15707B7A}" presName="sibTrans" presStyleCnt="0"/>
      <dgm:spPr/>
    </dgm:pt>
    <dgm:pt modelId="{609D1958-3D16-4AB7-93D8-1A63DDC743C0}" type="pres">
      <dgm:prSet presAssocID="{A351694B-124E-47B2-AB8F-A248ED2B3C60}" presName="compNode" presStyleCnt="0"/>
      <dgm:spPr/>
    </dgm:pt>
    <dgm:pt modelId="{1351BE46-6980-483B-8A30-D858CCD30360}" type="pres">
      <dgm:prSet presAssocID="{A351694B-124E-47B2-AB8F-A248ED2B3C60}"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Bar chart"/>
        </a:ext>
      </dgm:extLst>
    </dgm:pt>
    <dgm:pt modelId="{1F4F9115-07B5-492E-AB8E-5DF359C698B2}" type="pres">
      <dgm:prSet presAssocID="{A351694B-124E-47B2-AB8F-A248ED2B3C60}" presName="spaceRect" presStyleCnt="0"/>
      <dgm:spPr/>
    </dgm:pt>
    <dgm:pt modelId="{BED64D73-B854-498D-94A2-CA44373E9EE6}" type="pres">
      <dgm:prSet presAssocID="{A351694B-124E-47B2-AB8F-A248ED2B3C60}" presName="textRect" presStyleLbl="revTx" presStyleIdx="1" presStyleCnt="4">
        <dgm:presLayoutVars>
          <dgm:chMax val="1"/>
          <dgm:chPref val="1"/>
        </dgm:presLayoutVars>
      </dgm:prSet>
      <dgm:spPr/>
    </dgm:pt>
    <dgm:pt modelId="{582B17AB-63AE-43F4-B724-C6DE91C83F04}" type="pres">
      <dgm:prSet presAssocID="{0890F7CF-49A7-471E-AC74-EF19B956B12B}" presName="sibTrans" presStyleCnt="0"/>
      <dgm:spPr/>
    </dgm:pt>
    <dgm:pt modelId="{256E3C6D-9BD6-44DF-AA48-2E6C496BA0B8}" type="pres">
      <dgm:prSet presAssocID="{63213E45-518D-483B-AD21-840E59CA8747}" presName="compNode" presStyleCnt="0"/>
      <dgm:spPr/>
    </dgm:pt>
    <dgm:pt modelId="{1A99E02B-5093-4EF7-AE02-1861A0A6CFC9}" type="pres">
      <dgm:prSet presAssocID="{63213E45-518D-483B-AD21-840E59CA8747}"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Warning"/>
        </a:ext>
      </dgm:extLst>
    </dgm:pt>
    <dgm:pt modelId="{531D4D3F-88DE-486C-8078-C94E02A42C2E}" type="pres">
      <dgm:prSet presAssocID="{63213E45-518D-483B-AD21-840E59CA8747}" presName="spaceRect" presStyleCnt="0"/>
      <dgm:spPr/>
    </dgm:pt>
    <dgm:pt modelId="{A2BA60C6-73A2-4DF5-B8D9-77B5339F848A}" type="pres">
      <dgm:prSet presAssocID="{63213E45-518D-483B-AD21-840E59CA8747}" presName="textRect" presStyleLbl="revTx" presStyleIdx="2" presStyleCnt="4">
        <dgm:presLayoutVars>
          <dgm:chMax val="1"/>
          <dgm:chPref val="1"/>
        </dgm:presLayoutVars>
      </dgm:prSet>
      <dgm:spPr/>
    </dgm:pt>
    <dgm:pt modelId="{8AACFA1B-13CD-40C9-9A0C-601117015037}" type="pres">
      <dgm:prSet presAssocID="{420BCCB4-2A7D-44FD-85ED-D0C36BA57B52}" presName="sibTrans" presStyleCnt="0"/>
      <dgm:spPr/>
    </dgm:pt>
    <dgm:pt modelId="{A0F7021A-5D94-4A88-93FD-435C692ADCA1}" type="pres">
      <dgm:prSet presAssocID="{62A69A82-5CA7-4B2A-8A83-2C0FB2B0BFBB}" presName="compNode" presStyleCnt="0"/>
      <dgm:spPr/>
    </dgm:pt>
    <dgm:pt modelId="{7DE8870B-A0A7-4D8F-B606-FDDD04A8B330}" type="pres">
      <dgm:prSet presAssocID="{62A69A82-5CA7-4B2A-8A83-2C0FB2B0BFBB}"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Lightbulb"/>
        </a:ext>
      </dgm:extLst>
    </dgm:pt>
    <dgm:pt modelId="{EAEA4ADB-C8D2-41D8-BB29-0EA07F593E0C}" type="pres">
      <dgm:prSet presAssocID="{62A69A82-5CA7-4B2A-8A83-2C0FB2B0BFBB}" presName="spaceRect" presStyleCnt="0"/>
      <dgm:spPr/>
    </dgm:pt>
    <dgm:pt modelId="{8D0D3993-7C16-451A-BCE9-7F776469BE81}" type="pres">
      <dgm:prSet presAssocID="{62A69A82-5CA7-4B2A-8A83-2C0FB2B0BFBB}" presName="textRect" presStyleLbl="revTx" presStyleIdx="3" presStyleCnt="4">
        <dgm:presLayoutVars>
          <dgm:chMax val="1"/>
          <dgm:chPref val="1"/>
        </dgm:presLayoutVars>
      </dgm:prSet>
      <dgm:spPr/>
    </dgm:pt>
  </dgm:ptLst>
  <dgm:cxnLst>
    <dgm:cxn modelId="{A35F150E-36E3-4A47-B1AC-86C501DF1265}" type="presOf" srcId="{63213E45-518D-483B-AD21-840E59CA8747}" destId="{A2BA60C6-73A2-4DF5-B8D9-77B5339F848A}" srcOrd="0" destOrd="0" presId="urn:microsoft.com/office/officeart/2018/2/layout/IconLabelList"/>
    <dgm:cxn modelId="{C4D5553A-E3C2-4CE1-897E-803A214D7F76}" srcId="{27F98C22-E8C7-4CDC-845A-382B29445C5F}" destId="{A351694B-124E-47B2-AB8F-A248ED2B3C60}" srcOrd="1" destOrd="0" parTransId="{ABA795D2-C788-4890-BBA7-30BB95A9A263}" sibTransId="{0890F7CF-49A7-471E-AC74-EF19B956B12B}"/>
    <dgm:cxn modelId="{97C6253D-8DC9-45B0-9BDC-C2DE4643C8E5}" type="presOf" srcId="{306DAE30-A11F-4CC6-80D1-94A97A48BB24}" destId="{D46924BE-A424-4AA0-887A-7C38BB279016}" srcOrd="0" destOrd="0" presId="urn:microsoft.com/office/officeart/2018/2/layout/IconLabelList"/>
    <dgm:cxn modelId="{FC501169-245D-494F-9EA3-A752A268B6CE}" srcId="{27F98C22-E8C7-4CDC-845A-382B29445C5F}" destId="{62A69A82-5CA7-4B2A-8A83-2C0FB2B0BFBB}" srcOrd="3" destOrd="0" parTransId="{15CEA358-4D1C-4093-B937-BBE75A8FF57A}" sibTransId="{4DFD6CED-6579-4D6A-85AA-907FC0F21CE6}"/>
    <dgm:cxn modelId="{9B42B38E-3ADB-4FAA-8291-C928E9391F78}" type="presOf" srcId="{A351694B-124E-47B2-AB8F-A248ED2B3C60}" destId="{BED64D73-B854-498D-94A2-CA44373E9EE6}" srcOrd="0" destOrd="0" presId="urn:microsoft.com/office/officeart/2018/2/layout/IconLabelList"/>
    <dgm:cxn modelId="{09F71A99-289D-4852-BBF7-A802FEBE3661}" srcId="{27F98C22-E8C7-4CDC-845A-382B29445C5F}" destId="{306DAE30-A11F-4CC6-80D1-94A97A48BB24}" srcOrd="0" destOrd="0" parTransId="{668C7066-0AC6-4766-AFCA-56647AA5C116}" sibTransId="{62C190DA-62A5-4DD4-A02D-686E15707B7A}"/>
    <dgm:cxn modelId="{B0CA669E-1EF1-4AA3-B8F6-0AF9366D1DD3}" type="presOf" srcId="{62A69A82-5CA7-4B2A-8A83-2C0FB2B0BFBB}" destId="{8D0D3993-7C16-451A-BCE9-7F776469BE81}" srcOrd="0" destOrd="0" presId="urn:microsoft.com/office/officeart/2018/2/layout/IconLabelList"/>
    <dgm:cxn modelId="{F9A94DB0-7430-44EC-83A2-C22FA5588284}" type="presOf" srcId="{27F98C22-E8C7-4CDC-845A-382B29445C5F}" destId="{8D2F22C3-39AE-4CE6-B09F-087BCDF93ED4}" srcOrd="0" destOrd="0" presId="urn:microsoft.com/office/officeart/2018/2/layout/IconLabelList"/>
    <dgm:cxn modelId="{0A3E32B1-0FDC-440C-8D9B-7BB6B2DD7FB9}" srcId="{27F98C22-E8C7-4CDC-845A-382B29445C5F}" destId="{63213E45-518D-483B-AD21-840E59CA8747}" srcOrd="2" destOrd="0" parTransId="{B41CC1A5-8D3A-4EBE-A549-031F28058986}" sibTransId="{420BCCB4-2A7D-44FD-85ED-D0C36BA57B52}"/>
    <dgm:cxn modelId="{BD10F38A-954F-4243-A42E-D8FC18833760}" type="presParOf" srcId="{8D2F22C3-39AE-4CE6-B09F-087BCDF93ED4}" destId="{9799073C-6EB8-4D2C-93B0-80F7E776415B}" srcOrd="0" destOrd="0" presId="urn:microsoft.com/office/officeart/2018/2/layout/IconLabelList"/>
    <dgm:cxn modelId="{166F6840-8330-4444-A229-23CD762CFF9B}" type="presParOf" srcId="{9799073C-6EB8-4D2C-93B0-80F7E776415B}" destId="{06339483-1F59-41EA-900B-6D7EEDCD47B0}" srcOrd="0" destOrd="0" presId="urn:microsoft.com/office/officeart/2018/2/layout/IconLabelList"/>
    <dgm:cxn modelId="{08BD26AF-8F1F-4CB0-BC3B-6E3A92B51E4F}" type="presParOf" srcId="{9799073C-6EB8-4D2C-93B0-80F7E776415B}" destId="{CC77A46A-E56A-4E05-BAC7-262A827C60DA}" srcOrd="1" destOrd="0" presId="urn:microsoft.com/office/officeart/2018/2/layout/IconLabelList"/>
    <dgm:cxn modelId="{76E95BA6-686A-40AF-9908-7E164BD3994C}" type="presParOf" srcId="{9799073C-6EB8-4D2C-93B0-80F7E776415B}" destId="{D46924BE-A424-4AA0-887A-7C38BB279016}" srcOrd="2" destOrd="0" presId="urn:microsoft.com/office/officeart/2018/2/layout/IconLabelList"/>
    <dgm:cxn modelId="{C4CD78C7-AFDF-462F-B3E8-2AD6722F49C6}" type="presParOf" srcId="{8D2F22C3-39AE-4CE6-B09F-087BCDF93ED4}" destId="{8B00DA3E-11B2-4828-94A1-2566BAE37499}" srcOrd="1" destOrd="0" presId="urn:microsoft.com/office/officeart/2018/2/layout/IconLabelList"/>
    <dgm:cxn modelId="{C9AEE948-2AE5-4BBB-8F60-62660930A7D0}" type="presParOf" srcId="{8D2F22C3-39AE-4CE6-B09F-087BCDF93ED4}" destId="{609D1958-3D16-4AB7-93D8-1A63DDC743C0}" srcOrd="2" destOrd="0" presId="urn:microsoft.com/office/officeart/2018/2/layout/IconLabelList"/>
    <dgm:cxn modelId="{1A8A21CA-924E-4327-B299-AF8590E00FA1}" type="presParOf" srcId="{609D1958-3D16-4AB7-93D8-1A63DDC743C0}" destId="{1351BE46-6980-483B-8A30-D858CCD30360}" srcOrd="0" destOrd="0" presId="urn:microsoft.com/office/officeart/2018/2/layout/IconLabelList"/>
    <dgm:cxn modelId="{D8D78846-D958-4E38-B930-E0FCB7F478FB}" type="presParOf" srcId="{609D1958-3D16-4AB7-93D8-1A63DDC743C0}" destId="{1F4F9115-07B5-492E-AB8E-5DF359C698B2}" srcOrd="1" destOrd="0" presId="urn:microsoft.com/office/officeart/2018/2/layout/IconLabelList"/>
    <dgm:cxn modelId="{19A1978E-5D6E-43F6-9170-373B15478DF9}" type="presParOf" srcId="{609D1958-3D16-4AB7-93D8-1A63DDC743C0}" destId="{BED64D73-B854-498D-94A2-CA44373E9EE6}" srcOrd="2" destOrd="0" presId="urn:microsoft.com/office/officeart/2018/2/layout/IconLabelList"/>
    <dgm:cxn modelId="{DCBB1BC0-36DB-4179-82A1-EC3FD957E51D}" type="presParOf" srcId="{8D2F22C3-39AE-4CE6-B09F-087BCDF93ED4}" destId="{582B17AB-63AE-43F4-B724-C6DE91C83F04}" srcOrd="3" destOrd="0" presId="urn:microsoft.com/office/officeart/2018/2/layout/IconLabelList"/>
    <dgm:cxn modelId="{51919EB9-1AAE-4967-9958-8A326E311A77}" type="presParOf" srcId="{8D2F22C3-39AE-4CE6-B09F-087BCDF93ED4}" destId="{256E3C6D-9BD6-44DF-AA48-2E6C496BA0B8}" srcOrd="4" destOrd="0" presId="urn:microsoft.com/office/officeart/2018/2/layout/IconLabelList"/>
    <dgm:cxn modelId="{3B39093B-6120-4D71-8CA1-B6834CEDD2FF}" type="presParOf" srcId="{256E3C6D-9BD6-44DF-AA48-2E6C496BA0B8}" destId="{1A99E02B-5093-4EF7-AE02-1861A0A6CFC9}" srcOrd="0" destOrd="0" presId="urn:microsoft.com/office/officeart/2018/2/layout/IconLabelList"/>
    <dgm:cxn modelId="{AA184EF0-605A-417C-AEBE-E1F585D6E070}" type="presParOf" srcId="{256E3C6D-9BD6-44DF-AA48-2E6C496BA0B8}" destId="{531D4D3F-88DE-486C-8078-C94E02A42C2E}" srcOrd="1" destOrd="0" presId="urn:microsoft.com/office/officeart/2018/2/layout/IconLabelList"/>
    <dgm:cxn modelId="{1BD57549-27AF-4417-9794-A54877386C45}" type="presParOf" srcId="{256E3C6D-9BD6-44DF-AA48-2E6C496BA0B8}" destId="{A2BA60C6-73A2-4DF5-B8D9-77B5339F848A}" srcOrd="2" destOrd="0" presId="urn:microsoft.com/office/officeart/2018/2/layout/IconLabelList"/>
    <dgm:cxn modelId="{2B344F21-F29D-4FFF-BB5F-D65FD0DE98D9}" type="presParOf" srcId="{8D2F22C3-39AE-4CE6-B09F-087BCDF93ED4}" destId="{8AACFA1B-13CD-40C9-9A0C-601117015037}" srcOrd="5" destOrd="0" presId="urn:microsoft.com/office/officeart/2018/2/layout/IconLabelList"/>
    <dgm:cxn modelId="{7AA2FFD0-81EA-4504-8227-350E86E64AFC}" type="presParOf" srcId="{8D2F22C3-39AE-4CE6-B09F-087BCDF93ED4}" destId="{A0F7021A-5D94-4A88-93FD-435C692ADCA1}" srcOrd="6" destOrd="0" presId="urn:microsoft.com/office/officeart/2018/2/layout/IconLabelList"/>
    <dgm:cxn modelId="{B0205A6D-0CBC-4D93-82B3-C22DD293A0AF}" type="presParOf" srcId="{A0F7021A-5D94-4A88-93FD-435C692ADCA1}" destId="{7DE8870B-A0A7-4D8F-B606-FDDD04A8B330}" srcOrd="0" destOrd="0" presId="urn:microsoft.com/office/officeart/2018/2/layout/IconLabelList"/>
    <dgm:cxn modelId="{76CF879B-723D-46A5-9E71-9E0956518FE4}" type="presParOf" srcId="{A0F7021A-5D94-4A88-93FD-435C692ADCA1}" destId="{EAEA4ADB-C8D2-41D8-BB29-0EA07F593E0C}" srcOrd="1" destOrd="0" presId="urn:microsoft.com/office/officeart/2018/2/layout/IconLabelList"/>
    <dgm:cxn modelId="{C54F6B2A-88B6-44BC-9C91-35C276FCBEB1}" type="presParOf" srcId="{A0F7021A-5D94-4A88-93FD-435C692ADCA1}" destId="{8D0D3993-7C16-451A-BCE9-7F776469BE81}"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4B49795-BFE9-475F-86BB-8DD91EA699D8}"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2E63BC4C-4213-4984-895D-E3977FACDAFD}">
      <dgm:prSet/>
      <dgm:spPr/>
      <dgm:t>
        <a:bodyPr/>
        <a:lstStyle/>
        <a:p>
          <a:pPr>
            <a:lnSpc>
              <a:spcPct val="100000"/>
            </a:lnSpc>
          </a:pPr>
          <a:r>
            <a:rPr lang="en-US" b="1" i="0" dirty="0">
              <a:solidFill>
                <a:schemeClr val="bg1"/>
              </a:solidFill>
              <a:effectLst/>
              <a:latin typeface="-apple-system"/>
            </a:rPr>
            <a:t>Track Loan Applications</a:t>
          </a:r>
          <a:r>
            <a:rPr lang="en-US" b="0" i="0" dirty="0">
              <a:solidFill>
                <a:schemeClr val="bg1"/>
              </a:solidFill>
              <a:effectLst/>
              <a:latin typeface="-apple-system"/>
            </a:rPr>
            <a:t>: Measure the total number of loan applications, including Month-to-Date (MTD) and Month-over-Month (MoM) changes, to gain insight into the trends and demands of loan applicants.</a:t>
          </a:r>
          <a:endParaRPr lang="en-US" dirty="0">
            <a:solidFill>
              <a:schemeClr val="bg1"/>
            </a:solidFill>
          </a:endParaRPr>
        </a:p>
      </dgm:t>
    </dgm:pt>
    <dgm:pt modelId="{C32BB069-4336-4788-BF89-CE3DF92AF966}" type="parTrans" cxnId="{0B7EAF04-4638-4F0F-AAC2-8CAD40400D39}">
      <dgm:prSet/>
      <dgm:spPr/>
      <dgm:t>
        <a:bodyPr/>
        <a:lstStyle/>
        <a:p>
          <a:endParaRPr lang="en-US"/>
        </a:p>
      </dgm:t>
    </dgm:pt>
    <dgm:pt modelId="{D7CCBE4B-C03D-4C44-8D43-661FDF38DD44}" type="sibTrans" cxnId="{0B7EAF04-4638-4F0F-AAC2-8CAD40400D39}">
      <dgm:prSet/>
      <dgm:spPr/>
      <dgm:t>
        <a:bodyPr/>
        <a:lstStyle/>
        <a:p>
          <a:endParaRPr lang="en-US"/>
        </a:p>
      </dgm:t>
    </dgm:pt>
    <dgm:pt modelId="{19008BD4-4745-49F5-90A4-07B15FB755DA}">
      <dgm:prSet/>
      <dgm:spPr/>
      <dgm:t>
        <a:bodyPr/>
        <a:lstStyle/>
        <a:p>
          <a:pPr>
            <a:lnSpc>
              <a:spcPct val="100000"/>
            </a:lnSpc>
          </a:pPr>
          <a:r>
            <a:rPr lang="en-US" b="1" i="0" dirty="0">
              <a:solidFill>
                <a:schemeClr val="bg1"/>
              </a:solidFill>
              <a:effectLst/>
              <a:latin typeface="-apple-system"/>
            </a:rPr>
            <a:t>Monitor Disbursed Loans</a:t>
          </a:r>
          <a:r>
            <a:rPr lang="en-US" b="0" i="0" dirty="0">
              <a:solidFill>
                <a:schemeClr val="bg1"/>
              </a:solidFill>
              <a:effectLst/>
              <a:latin typeface="-apple-system"/>
            </a:rPr>
            <a:t>: Calculate and track the total amount of loans funded during a specific period, including MTD funded loans and MoM changes, to understand lending volumes and variations over time.</a:t>
          </a:r>
          <a:endParaRPr lang="en-US" dirty="0">
            <a:solidFill>
              <a:schemeClr val="bg1"/>
            </a:solidFill>
          </a:endParaRPr>
        </a:p>
      </dgm:t>
    </dgm:pt>
    <dgm:pt modelId="{6B7DBF80-A046-46E8-9AA1-6139C51E7EA9}" type="parTrans" cxnId="{42E7CBBC-7632-4862-AB7C-652EF7C66E23}">
      <dgm:prSet/>
      <dgm:spPr/>
      <dgm:t>
        <a:bodyPr/>
        <a:lstStyle/>
        <a:p>
          <a:endParaRPr lang="en-US"/>
        </a:p>
      </dgm:t>
    </dgm:pt>
    <dgm:pt modelId="{7FE7C184-8146-4980-B05C-C41A4DB136B0}" type="sibTrans" cxnId="{42E7CBBC-7632-4862-AB7C-652EF7C66E23}">
      <dgm:prSet/>
      <dgm:spPr/>
      <dgm:t>
        <a:bodyPr/>
        <a:lstStyle/>
        <a:p>
          <a:endParaRPr lang="en-US"/>
        </a:p>
      </dgm:t>
    </dgm:pt>
    <dgm:pt modelId="{99A01B54-BEF5-42DD-8C7B-6F2D844C5F3A}">
      <dgm:prSet/>
      <dgm:spPr/>
      <dgm:t>
        <a:bodyPr/>
        <a:lstStyle/>
        <a:p>
          <a:pPr>
            <a:lnSpc>
              <a:spcPct val="100000"/>
            </a:lnSpc>
          </a:pPr>
          <a:r>
            <a:rPr lang="en-US" b="1" i="0" dirty="0">
              <a:solidFill>
                <a:schemeClr val="bg1"/>
              </a:solidFill>
              <a:effectLst/>
              <a:latin typeface="-apple-system"/>
            </a:rPr>
            <a:t>Assess Loan Repayment</a:t>
          </a:r>
          <a:r>
            <a:rPr lang="en-US" b="0" i="0" dirty="0">
              <a:solidFill>
                <a:schemeClr val="bg1"/>
              </a:solidFill>
              <a:effectLst/>
              <a:latin typeface="-apple-system"/>
            </a:rPr>
            <a:t>: Track the total amount received from borrowers and analyze MTD and MoM changes to evaluate the bank's cash flow and repayment patterns.</a:t>
          </a:r>
          <a:endParaRPr lang="en-US" dirty="0">
            <a:solidFill>
              <a:schemeClr val="bg1"/>
            </a:solidFill>
          </a:endParaRPr>
        </a:p>
      </dgm:t>
    </dgm:pt>
    <dgm:pt modelId="{850C8AE0-BE4F-40BA-B236-DC8CEA3474D2}" type="parTrans" cxnId="{42C6F925-43E9-4502-B927-2647DDB53F4D}">
      <dgm:prSet/>
      <dgm:spPr/>
      <dgm:t>
        <a:bodyPr/>
        <a:lstStyle/>
        <a:p>
          <a:endParaRPr lang="en-US"/>
        </a:p>
      </dgm:t>
    </dgm:pt>
    <dgm:pt modelId="{7CFA6665-058C-46E2-81EB-BB07CC25A2A9}" type="sibTrans" cxnId="{42C6F925-43E9-4502-B927-2647DDB53F4D}">
      <dgm:prSet/>
      <dgm:spPr/>
      <dgm:t>
        <a:bodyPr/>
        <a:lstStyle/>
        <a:p>
          <a:endParaRPr lang="en-US"/>
        </a:p>
      </dgm:t>
    </dgm:pt>
    <dgm:pt modelId="{CA8036D3-6A76-4F38-8189-A8D4044B6999}" type="pres">
      <dgm:prSet presAssocID="{34B49795-BFE9-475F-86BB-8DD91EA699D8}" presName="root" presStyleCnt="0">
        <dgm:presLayoutVars>
          <dgm:dir/>
          <dgm:resizeHandles val="exact"/>
        </dgm:presLayoutVars>
      </dgm:prSet>
      <dgm:spPr/>
    </dgm:pt>
    <dgm:pt modelId="{1F8C7CDF-440E-49C1-AF96-68C4F468412B}" type="pres">
      <dgm:prSet presAssocID="{2E63BC4C-4213-4984-895D-E3977FACDAFD}" presName="compNode" presStyleCnt="0"/>
      <dgm:spPr/>
    </dgm:pt>
    <dgm:pt modelId="{F9A36A2B-89FF-4CC1-9DB8-55E33584B5A8}" type="pres">
      <dgm:prSet presAssocID="{2E63BC4C-4213-4984-895D-E3977FACDAFD}" presName="bgRect" presStyleLbl="bgShp" presStyleIdx="0" presStyleCnt="3"/>
      <dgm:spPr>
        <a:solidFill>
          <a:schemeClr val="accent2">
            <a:lumMod val="20000"/>
            <a:lumOff val="80000"/>
          </a:schemeClr>
        </a:solidFill>
      </dgm:spPr>
    </dgm:pt>
    <dgm:pt modelId="{E4D4C96A-9839-4258-B300-3D4E292367AD}" type="pres">
      <dgm:prSet presAssocID="{2E63BC4C-4213-4984-895D-E3977FACDAFD}"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Bank"/>
        </a:ext>
      </dgm:extLst>
    </dgm:pt>
    <dgm:pt modelId="{338EF9B3-C82E-4182-B854-A742118C6B7F}" type="pres">
      <dgm:prSet presAssocID="{2E63BC4C-4213-4984-895D-E3977FACDAFD}" presName="spaceRect" presStyleCnt="0"/>
      <dgm:spPr/>
    </dgm:pt>
    <dgm:pt modelId="{8659BFDC-B87A-439C-8858-27D5CDD17118}" type="pres">
      <dgm:prSet presAssocID="{2E63BC4C-4213-4984-895D-E3977FACDAFD}" presName="parTx" presStyleLbl="revTx" presStyleIdx="0" presStyleCnt="3">
        <dgm:presLayoutVars>
          <dgm:chMax val="0"/>
          <dgm:chPref val="0"/>
        </dgm:presLayoutVars>
      </dgm:prSet>
      <dgm:spPr/>
    </dgm:pt>
    <dgm:pt modelId="{873D2B9E-1B17-4860-B76B-0C9DB661032D}" type="pres">
      <dgm:prSet presAssocID="{D7CCBE4B-C03D-4C44-8D43-661FDF38DD44}" presName="sibTrans" presStyleCnt="0"/>
      <dgm:spPr/>
    </dgm:pt>
    <dgm:pt modelId="{89DD4767-7031-48D5-BCF5-03201C5B471D}" type="pres">
      <dgm:prSet presAssocID="{19008BD4-4745-49F5-90A4-07B15FB755DA}" presName="compNode" presStyleCnt="0"/>
      <dgm:spPr/>
    </dgm:pt>
    <dgm:pt modelId="{9E0A31CD-27D6-45EE-8E4A-D55E781E8E08}" type="pres">
      <dgm:prSet presAssocID="{19008BD4-4745-49F5-90A4-07B15FB755DA}" presName="bgRect" presStyleLbl="bgShp" presStyleIdx="1" presStyleCnt="3"/>
      <dgm:spPr>
        <a:solidFill>
          <a:schemeClr val="accent2">
            <a:lumMod val="20000"/>
            <a:lumOff val="80000"/>
          </a:schemeClr>
        </a:solidFill>
      </dgm:spPr>
    </dgm:pt>
    <dgm:pt modelId="{F84090DD-AB54-49A6-BFE1-189F10AB326F}" type="pres">
      <dgm:prSet presAssocID="{19008BD4-4745-49F5-90A4-07B15FB755DA}"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Dollar"/>
        </a:ext>
      </dgm:extLst>
    </dgm:pt>
    <dgm:pt modelId="{F4908587-1642-4940-AD43-1C6668A0634D}" type="pres">
      <dgm:prSet presAssocID="{19008BD4-4745-49F5-90A4-07B15FB755DA}" presName="spaceRect" presStyleCnt="0"/>
      <dgm:spPr/>
    </dgm:pt>
    <dgm:pt modelId="{F7690FC5-E650-446A-BD28-C4000D814BD6}" type="pres">
      <dgm:prSet presAssocID="{19008BD4-4745-49F5-90A4-07B15FB755DA}" presName="parTx" presStyleLbl="revTx" presStyleIdx="1" presStyleCnt="3">
        <dgm:presLayoutVars>
          <dgm:chMax val="0"/>
          <dgm:chPref val="0"/>
        </dgm:presLayoutVars>
      </dgm:prSet>
      <dgm:spPr/>
    </dgm:pt>
    <dgm:pt modelId="{41CCC566-3E35-4BD7-902B-CB3900AF3B74}" type="pres">
      <dgm:prSet presAssocID="{7FE7C184-8146-4980-B05C-C41A4DB136B0}" presName="sibTrans" presStyleCnt="0"/>
      <dgm:spPr/>
    </dgm:pt>
    <dgm:pt modelId="{1FA3AE2B-6B68-494B-AC99-AC8F6A6B4302}" type="pres">
      <dgm:prSet presAssocID="{99A01B54-BEF5-42DD-8C7B-6F2D844C5F3A}" presName="compNode" presStyleCnt="0"/>
      <dgm:spPr/>
    </dgm:pt>
    <dgm:pt modelId="{FE77F016-6ACC-4557-8FE3-FC03CAF8783C}" type="pres">
      <dgm:prSet presAssocID="{99A01B54-BEF5-42DD-8C7B-6F2D844C5F3A}" presName="bgRect" presStyleLbl="bgShp" presStyleIdx="2" presStyleCnt="3"/>
      <dgm:spPr>
        <a:solidFill>
          <a:schemeClr val="accent2">
            <a:lumMod val="20000"/>
            <a:lumOff val="80000"/>
          </a:schemeClr>
        </a:solidFill>
      </dgm:spPr>
    </dgm:pt>
    <dgm:pt modelId="{E7D61E94-E8D4-41D7-BF51-6A4C0433A39F}" type="pres">
      <dgm:prSet presAssocID="{99A01B54-BEF5-42DD-8C7B-6F2D844C5F3A}"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Money"/>
        </a:ext>
      </dgm:extLst>
    </dgm:pt>
    <dgm:pt modelId="{5F3BFC46-2A55-4214-8ED3-27028834FFD2}" type="pres">
      <dgm:prSet presAssocID="{99A01B54-BEF5-42DD-8C7B-6F2D844C5F3A}" presName="spaceRect" presStyleCnt="0"/>
      <dgm:spPr/>
    </dgm:pt>
    <dgm:pt modelId="{575E7982-8E2F-4C2A-BC68-D166A4F3552A}" type="pres">
      <dgm:prSet presAssocID="{99A01B54-BEF5-42DD-8C7B-6F2D844C5F3A}" presName="parTx" presStyleLbl="revTx" presStyleIdx="2" presStyleCnt="3">
        <dgm:presLayoutVars>
          <dgm:chMax val="0"/>
          <dgm:chPref val="0"/>
        </dgm:presLayoutVars>
      </dgm:prSet>
      <dgm:spPr/>
    </dgm:pt>
  </dgm:ptLst>
  <dgm:cxnLst>
    <dgm:cxn modelId="{706E5800-B440-4F68-81E5-B04DD267E8EB}" type="presOf" srcId="{99A01B54-BEF5-42DD-8C7B-6F2D844C5F3A}" destId="{575E7982-8E2F-4C2A-BC68-D166A4F3552A}" srcOrd="0" destOrd="0" presId="urn:microsoft.com/office/officeart/2018/2/layout/IconVerticalSolidList"/>
    <dgm:cxn modelId="{0B7EAF04-4638-4F0F-AAC2-8CAD40400D39}" srcId="{34B49795-BFE9-475F-86BB-8DD91EA699D8}" destId="{2E63BC4C-4213-4984-895D-E3977FACDAFD}" srcOrd="0" destOrd="0" parTransId="{C32BB069-4336-4788-BF89-CE3DF92AF966}" sibTransId="{D7CCBE4B-C03D-4C44-8D43-661FDF38DD44}"/>
    <dgm:cxn modelId="{42C6F925-43E9-4502-B927-2647DDB53F4D}" srcId="{34B49795-BFE9-475F-86BB-8DD91EA699D8}" destId="{99A01B54-BEF5-42DD-8C7B-6F2D844C5F3A}" srcOrd="2" destOrd="0" parTransId="{850C8AE0-BE4F-40BA-B236-DC8CEA3474D2}" sibTransId="{7CFA6665-058C-46E2-81EB-BB07CC25A2A9}"/>
    <dgm:cxn modelId="{EBDB4C3F-5D05-4BD2-9029-584D5E33A70A}" type="presOf" srcId="{2E63BC4C-4213-4984-895D-E3977FACDAFD}" destId="{8659BFDC-B87A-439C-8858-27D5CDD17118}" srcOrd="0" destOrd="0" presId="urn:microsoft.com/office/officeart/2018/2/layout/IconVerticalSolidList"/>
    <dgm:cxn modelId="{C4A3807F-911B-4FC2-9B08-237DFD7FB682}" type="presOf" srcId="{34B49795-BFE9-475F-86BB-8DD91EA699D8}" destId="{CA8036D3-6A76-4F38-8189-A8D4044B6999}" srcOrd="0" destOrd="0" presId="urn:microsoft.com/office/officeart/2018/2/layout/IconVerticalSolidList"/>
    <dgm:cxn modelId="{42E7CBBC-7632-4862-AB7C-652EF7C66E23}" srcId="{34B49795-BFE9-475F-86BB-8DD91EA699D8}" destId="{19008BD4-4745-49F5-90A4-07B15FB755DA}" srcOrd="1" destOrd="0" parTransId="{6B7DBF80-A046-46E8-9AA1-6139C51E7EA9}" sibTransId="{7FE7C184-8146-4980-B05C-C41A4DB136B0}"/>
    <dgm:cxn modelId="{003C46F8-E93F-45BD-8C09-B580E4FB4EE0}" type="presOf" srcId="{19008BD4-4745-49F5-90A4-07B15FB755DA}" destId="{F7690FC5-E650-446A-BD28-C4000D814BD6}" srcOrd="0" destOrd="0" presId="urn:microsoft.com/office/officeart/2018/2/layout/IconVerticalSolidList"/>
    <dgm:cxn modelId="{9A887B13-F1AD-40D5-B3D6-BD233D1D310F}" type="presParOf" srcId="{CA8036D3-6A76-4F38-8189-A8D4044B6999}" destId="{1F8C7CDF-440E-49C1-AF96-68C4F468412B}" srcOrd="0" destOrd="0" presId="urn:microsoft.com/office/officeart/2018/2/layout/IconVerticalSolidList"/>
    <dgm:cxn modelId="{A3F7C7DC-355F-4423-A9B4-46AD6938E56F}" type="presParOf" srcId="{1F8C7CDF-440E-49C1-AF96-68C4F468412B}" destId="{F9A36A2B-89FF-4CC1-9DB8-55E33584B5A8}" srcOrd="0" destOrd="0" presId="urn:microsoft.com/office/officeart/2018/2/layout/IconVerticalSolidList"/>
    <dgm:cxn modelId="{23A47CB3-E418-4660-AE57-3274899175E3}" type="presParOf" srcId="{1F8C7CDF-440E-49C1-AF96-68C4F468412B}" destId="{E4D4C96A-9839-4258-B300-3D4E292367AD}" srcOrd="1" destOrd="0" presId="urn:microsoft.com/office/officeart/2018/2/layout/IconVerticalSolidList"/>
    <dgm:cxn modelId="{7463122A-9433-407E-9610-F0372634E15B}" type="presParOf" srcId="{1F8C7CDF-440E-49C1-AF96-68C4F468412B}" destId="{338EF9B3-C82E-4182-B854-A742118C6B7F}" srcOrd="2" destOrd="0" presId="urn:microsoft.com/office/officeart/2018/2/layout/IconVerticalSolidList"/>
    <dgm:cxn modelId="{3571C73F-49D7-4B92-AFE3-65CCE470F76E}" type="presParOf" srcId="{1F8C7CDF-440E-49C1-AF96-68C4F468412B}" destId="{8659BFDC-B87A-439C-8858-27D5CDD17118}" srcOrd="3" destOrd="0" presId="urn:microsoft.com/office/officeart/2018/2/layout/IconVerticalSolidList"/>
    <dgm:cxn modelId="{DAD07359-F1EC-4A6E-8496-08E2C7EB6C45}" type="presParOf" srcId="{CA8036D3-6A76-4F38-8189-A8D4044B6999}" destId="{873D2B9E-1B17-4860-B76B-0C9DB661032D}" srcOrd="1" destOrd="0" presId="urn:microsoft.com/office/officeart/2018/2/layout/IconVerticalSolidList"/>
    <dgm:cxn modelId="{35752330-CA2E-4255-9F20-2188747BBE67}" type="presParOf" srcId="{CA8036D3-6A76-4F38-8189-A8D4044B6999}" destId="{89DD4767-7031-48D5-BCF5-03201C5B471D}" srcOrd="2" destOrd="0" presId="urn:microsoft.com/office/officeart/2018/2/layout/IconVerticalSolidList"/>
    <dgm:cxn modelId="{59F394FC-B091-44EF-81FE-BFCA3C3B9757}" type="presParOf" srcId="{89DD4767-7031-48D5-BCF5-03201C5B471D}" destId="{9E0A31CD-27D6-45EE-8E4A-D55E781E8E08}" srcOrd="0" destOrd="0" presId="urn:microsoft.com/office/officeart/2018/2/layout/IconVerticalSolidList"/>
    <dgm:cxn modelId="{35636482-2906-4A69-9708-93048B7504AD}" type="presParOf" srcId="{89DD4767-7031-48D5-BCF5-03201C5B471D}" destId="{F84090DD-AB54-49A6-BFE1-189F10AB326F}" srcOrd="1" destOrd="0" presId="urn:microsoft.com/office/officeart/2018/2/layout/IconVerticalSolidList"/>
    <dgm:cxn modelId="{D887DAFB-73A8-4F42-9DEB-89641F1F88A9}" type="presParOf" srcId="{89DD4767-7031-48D5-BCF5-03201C5B471D}" destId="{F4908587-1642-4940-AD43-1C6668A0634D}" srcOrd="2" destOrd="0" presId="urn:microsoft.com/office/officeart/2018/2/layout/IconVerticalSolidList"/>
    <dgm:cxn modelId="{AF083AC9-9BA7-4533-9E05-CD9D6E4178CA}" type="presParOf" srcId="{89DD4767-7031-48D5-BCF5-03201C5B471D}" destId="{F7690FC5-E650-446A-BD28-C4000D814BD6}" srcOrd="3" destOrd="0" presId="urn:microsoft.com/office/officeart/2018/2/layout/IconVerticalSolidList"/>
    <dgm:cxn modelId="{A6D3DF09-820D-4485-B190-EA120D644996}" type="presParOf" srcId="{CA8036D3-6A76-4F38-8189-A8D4044B6999}" destId="{41CCC566-3E35-4BD7-902B-CB3900AF3B74}" srcOrd="3" destOrd="0" presId="urn:microsoft.com/office/officeart/2018/2/layout/IconVerticalSolidList"/>
    <dgm:cxn modelId="{4629BE37-D788-4AF0-8003-9FFC765E53FE}" type="presParOf" srcId="{CA8036D3-6A76-4F38-8189-A8D4044B6999}" destId="{1FA3AE2B-6B68-494B-AC99-AC8F6A6B4302}" srcOrd="4" destOrd="0" presId="urn:microsoft.com/office/officeart/2018/2/layout/IconVerticalSolidList"/>
    <dgm:cxn modelId="{45AD2ADD-50D3-4B8C-BB7B-14604E172873}" type="presParOf" srcId="{1FA3AE2B-6B68-494B-AC99-AC8F6A6B4302}" destId="{FE77F016-6ACC-4557-8FE3-FC03CAF8783C}" srcOrd="0" destOrd="0" presId="urn:microsoft.com/office/officeart/2018/2/layout/IconVerticalSolidList"/>
    <dgm:cxn modelId="{7325DEF2-3C9D-4EB6-9CB4-973734001EA0}" type="presParOf" srcId="{1FA3AE2B-6B68-494B-AC99-AC8F6A6B4302}" destId="{E7D61E94-E8D4-41D7-BF51-6A4C0433A39F}" srcOrd="1" destOrd="0" presId="urn:microsoft.com/office/officeart/2018/2/layout/IconVerticalSolidList"/>
    <dgm:cxn modelId="{18655613-3324-400B-9470-5172C02A8B18}" type="presParOf" srcId="{1FA3AE2B-6B68-494B-AC99-AC8F6A6B4302}" destId="{5F3BFC46-2A55-4214-8ED3-27028834FFD2}" srcOrd="2" destOrd="0" presId="urn:microsoft.com/office/officeart/2018/2/layout/IconVerticalSolidList"/>
    <dgm:cxn modelId="{C534F27C-3CD6-44E3-9122-A2E2B3A421FC}" type="presParOf" srcId="{1FA3AE2B-6B68-494B-AC99-AC8F6A6B4302}" destId="{575E7982-8E2F-4C2A-BC68-D166A4F3552A}"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4B49795-BFE9-475F-86BB-8DD91EA699D8}"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2E63BC4C-4213-4984-895D-E3977FACDAFD}">
      <dgm:prSet/>
      <dgm:spPr/>
      <dgm:t>
        <a:bodyPr/>
        <a:lstStyle/>
        <a:p>
          <a:pPr>
            <a:lnSpc>
              <a:spcPct val="100000"/>
            </a:lnSpc>
          </a:pPr>
          <a:r>
            <a:rPr lang="en-US" b="1" i="0" dirty="0">
              <a:solidFill>
                <a:schemeClr val="bg1"/>
              </a:solidFill>
              <a:effectLst/>
              <a:latin typeface="-apple-system"/>
            </a:rPr>
            <a:t>Analyze Financial Health</a:t>
          </a:r>
          <a:r>
            <a:rPr lang="en-US" b="0" i="0" dirty="0">
              <a:solidFill>
                <a:schemeClr val="bg1"/>
              </a:solidFill>
              <a:effectLst/>
              <a:latin typeface="-apple-system"/>
            </a:rPr>
            <a:t>: Calculate the average interest rate and Debt-to-Income (DTI) ratio across all loans, providing a comprehensive look at the cost of lending and the financial stability of borrowers.</a:t>
          </a:r>
          <a:endParaRPr lang="en-US" dirty="0">
            <a:solidFill>
              <a:schemeClr val="bg1"/>
            </a:solidFill>
          </a:endParaRPr>
        </a:p>
      </dgm:t>
    </dgm:pt>
    <dgm:pt modelId="{C32BB069-4336-4788-BF89-CE3DF92AF966}" type="parTrans" cxnId="{0B7EAF04-4638-4F0F-AAC2-8CAD40400D39}">
      <dgm:prSet/>
      <dgm:spPr/>
      <dgm:t>
        <a:bodyPr/>
        <a:lstStyle/>
        <a:p>
          <a:endParaRPr lang="en-US"/>
        </a:p>
      </dgm:t>
    </dgm:pt>
    <dgm:pt modelId="{D7CCBE4B-C03D-4C44-8D43-661FDF38DD44}" type="sibTrans" cxnId="{0B7EAF04-4638-4F0F-AAC2-8CAD40400D39}">
      <dgm:prSet/>
      <dgm:spPr/>
      <dgm:t>
        <a:bodyPr/>
        <a:lstStyle/>
        <a:p>
          <a:endParaRPr lang="en-US"/>
        </a:p>
      </dgm:t>
    </dgm:pt>
    <dgm:pt modelId="{19008BD4-4745-49F5-90A4-07B15FB755DA}">
      <dgm:prSet/>
      <dgm:spPr/>
      <dgm:t>
        <a:bodyPr/>
        <a:lstStyle/>
        <a:p>
          <a:pPr>
            <a:lnSpc>
              <a:spcPct val="100000"/>
            </a:lnSpc>
          </a:pPr>
          <a:r>
            <a:rPr lang="en-US" b="1" i="0" dirty="0">
              <a:solidFill>
                <a:schemeClr val="bg1"/>
              </a:solidFill>
              <a:effectLst/>
              <a:latin typeface="-apple-system"/>
            </a:rPr>
            <a:t>Visualize Lending Patterns</a:t>
          </a:r>
          <a:r>
            <a:rPr lang="en-US" b="0" i="0" dirty="0">
              <a:solidFill>
                <a:schemeClr val="bg1"/>
              </a:solidFill>
              <a:effectLst/>
              <a:latin typeface="-apple-system"/>
            </a:rPr>
            <a:t>: Provide detailed data visualizations, including monthly trends, regional analysis, loan term distributions, and borrower demographics, allowing for better insights into loan activity across different dimensions.</a:t>
          </a:r>
          <a:endParaRPr lang="en-US" dirty="0">
            <a:solidFill>
              <a:schemeClr val="bg1"/>
            </a:solidFill>
          </a:endParaRPr>
        </a:p>
      </dgm:t>
    </dgm:pt>
    <dgm:pt modelId="{6B7DBF80-A046-46E8-9AA1-6139C51E7EA9}" type="parTrans" cxnId="{42E7CBBC-7632-4862-AB7C-652EF7C66E23}">
      <dgm:prSet/>
      <dgm:spPr/>
      <dgm:t>
        <a:bodyPr/>
        <a:lstStyle/>
        <a:p>
          <a:endParaRPr lang="en-US"/>
        </a:p>
      </dgm:t>
    </dgm:pt>
    <dgm:pt modelId="{7FE7C184-8146-4980-B05C-C41A4DB136B0}" type="sibTrans" cxnId="{42E7CBBC-7632-4862-AB7C-652EF7C66E23}">
      <dgm:prSet/>
      <dgm:spPr/>
      <dgm:t>
        <a:bodyPr/>
        <a:lstStyle/>
        <a:p>
          <a:endParaRPr lang="en-US"/>
        </a:p>
      </dgm:t>
    </dgm:pt>
    <dgm:pt modelId="{99A01B54-BEF5-42DD-8C7B-6F2D844C5F3A}">
      <dgm:prSet/>
      <dgm:spPr/>
      <dgm:t>
        <a:bodyPr/>
        <a:lstStyle/>
        <a:p>
          <a:pPr>
            <a:lnSpc>
              <a:spcPct val="100000"/>
            </a:lnSpc>
          </a:pPr>
          <a:r>
            <a:rPr lang="en-US" b="1" i="0" dirty="0">
              <a:solidFill>
                <a:schemeClr val="bg1"/>
              </a:solidFill>
              <a:effectLst/>
              <a:latin typeface="-apple-system"/>
            </a:rPr>
            <a:t>Support Decision-Making</a:t>
          </a:r>
          <a:r>
            <a:rPr lang="en-US" b="0" i="0" dirty="0">
              <a:solidFill>
                <a:schemeClr val="bg1"/>
              </a:solidFill>
              <a:effectLst/>
              <a:latin typeface="-apple-system"/>
            </a:rPr>
            <a:t>: Enable stakeholders to make data-informed decisions by identifying lending trends, understanding borrower behavior, and recognizing regional disparities in loan applications and funding.</a:t>
          </a:r>
          <a:endParaRPr lang="en-US" dirty="0">
            <a:solidFill>
              <a:schemeClr val="bg1"/>
            </a:solidFill>
          </a:endParaRPr>
        </a:p>
      </dgm:t>
    </dgm:pt>
    <dgm:pt modelId="{850C8AE0-BE4F-40BA-B236-DC8CEA3474D2}" type="parTrans" cxnId="{42C6F925-43E9-4502-B927-2647DDB53F4D}">
      <dgm:prSet/>
      <dgm:spPr/>
      <dgm:t>
        <a:bodyPr/>
        <a:lstStyle/>
        <a:p>
          <a:endParaRPr lang="en-US"/>
        </a:p>
      </dgm:t>
    </dgm:pt>
    <dgm:pt modelId="{7CFA6665-058C-46E2-81EB-BB07CC25A2A9}" type="sibTrans" cxnId="{42C6F925-43E9-4502-B927-2647DDB53F4D}">
      <dgm:prSet/>
      <dgm:spPr/>
      <dgm:t>
        <a:bodyPr/>
        <a:lstStyle/>
        <a:p>
          <a:endParaRPr lang="en-US"/>
        </a:p>
      </dgm:t>
    </dgm:pt>
    <dgm:pt modelId="{CA8036D3-6A76-4F38-8189-A8D4044B6999}" type="pres">
      <dgm:prSet presAssocID="{34B49795-BFE9-475F-86BB-8DD91EA699D8}" presName="root" presStyleCnt="0">
        <dgm:presLayoutVars>
          <dgm:dir/>
          <dgm:resizeHandles val="exact"/>
        </dgm:presLayoutVars>
      </dgm:prSet>
      <dgm:spPr/>
    </dgm:pt>
    <dgm:pt modelId="{1F8C7CDF-440E-49C1-AF96-68C4F468412B}" type="pres">
      <dgm:prSet presAssocID="{2E63BC4C-4213-4984-895D-E3977FACDAFD}" presName="compNode" presStyleCnt="0"/>
      <dgm:spPr/>
    </dgm:pt>
    <dgm:pt modelId="{F9A36A2B-89FF-4CC1-9DB8-55E33584B5A8}" type="pres">
      <dgm:prSet presAssocID="{2E63BC4C-4213-4984-895D-E3977FACDAFD}" presName="bgRect" presStyleLbl="bgShp" presStyleIdx="0" presStyleCnt="3"/>
      <dgm:spPr>
        <a:solidFill>
          <a:schemeClr val="accent2">
            <a:lumMod val="20000"/>
            <a:lumOff val="80000"/>
          </a:schemeClr>
        </a:solidFill>
      </dgm:spPr>
    </dgm:pt>
    <dgm:pt modelId="{E4D4C96A-9839-4258-B300-3D4E292367AD}" type="pres">
      <dgm:prSet presAssocID="{2E63BC4C-4213-4984-895D-E3977FACDAFD}" presName="iconRect" presStyleLbl="node1" presStyleIdx="0" presStyleCnt="3" custLinFactY="200000" custLinFactNeighborX="13982" custLinFactNeighborY="259848"/>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Bank"/>
        </a:ext>
      </dgm:extLst>
    </dgm:pt>
    <dgm:pt modelId="{338EF9B3-C82E-4182-B854-A742118C6B7F}" type="pres">
      <dgm:prSet presAssocID="{2E63BC4C-4213-4984-895D-E3977FACDAFD}" presName="spaceRect" presStyleCnt="0"/>
      <dgm:spPr/>
    </dgm:pt>
    <dgm:pt modelId="{8659BFDC-B87A-439C-8858-27D5CDD17118}" type="pres">
      <dgm:prSet presAssocID="{2E63BC4C-4213-4984-895D-E3977FACDAFD}" presName="parTx" presStyleLbl="revTx" presStyleIdx="0" presStyleCnt="3">
        <dgm:presLayoutVars>
          <dgm:chMax val="0"/>
          <dgm:chPref val="0"/>
        </dgm:presLayoutVars>
      </dgm:prSet>
      <dgm:spPr/>
    </dgm:pt>
    <dgm:pt modelId="{873D2B9E-1B17-4860-B76B-0C9DB661032D}" type="pres">
      <dgm:prSet presAssocID="{D7CCBE4B-C03D-4C44-8D43-661FDF38DD44}" presName="sibTrans" presStyleCnt="0"/>
      <dgm:spPr/>
    </dgm:pt>
    <dgm:pt modelId="{89DD4767-7031-48D5-BCF5-03201C5B471D}" type="pres">
      <dgm:prSet presAssocID="{19008BD4-4745-49F5-90A4-07B15FB755DA}" presName="compNode" presStyleCnt="0"/>
      <dgm:spPr/>
    </dgm:pt>
    <dgm:pt modelId="{9E0A31CD-27D6-45EE-8E4A-D55E781E8E08}" type="pres">
      <dgm:prSet presAssocID="{19008BD4-4745-49F5-90A4-07B15FB755DA}" presName="bgRect" presStyleLbl="bgShp" presStyleIdx="1" presStyleCnt="3" custLinFactNeighborX="-7209" custLinFactNeighborY="0"/>
      <dgm:spPr>
        <a:solidFill>
          <a:schemeClr val="accent2">
            <a:lumMod val="20000"/>
            <a:lumOff val="80000"/>
          </a:schemeClr>
        </a:solidFill>
      </dgm:spPr>
    </dgm:pt>
    <dgm:pt modelId="{F84090DD-AB54-49A6-BFE1-189F10AB326F}" type="pres">
      <dgm:prSet presAssocID="{19008BD4-4745-49F5-90A4-07B15FB755DA}" presName="iconRect" presStyleLbl="node1" presStyleIdx="1" presStyleCnt="3" custFlipVert="1" custFlipHor="1" custScaleX="80219" custScaleY="13312" custLinFactX="600000" custLinFactY="100000" custLinFactNeighborX="668264" custLinFactNeighborY="185540"/>
      <dgm:spPr/>
    </dgm:pt>
    <dgm:pt modelId="{F4908587-1642-4940-AD43-1C6668A0634D}" type="pres">
      <dgm:prSet presAssocID="{19008BD4-4745-49F5-90A4-07B15FB755DA}" presName="spaceRect" presStyleCnt="0"/>
      <dgm:spPr/>
    </dgm:pt>
    <dgm:pt modelId="{F7690FC5-E650-446A-BD28-C4000D814BD6}" type="pres">
      <dgm:prSet presAssocID="{19008BD4-4745-49F5-90A4-07B15FB755DA}" presName="parTx" presStyleLbl="revTx" presStyleIdx="1" presStyleCnt="3">
        <dgm:presLayoutVars>
          <dgm:chMax val="0"/>
          <dgm:chPref val="0"/>
        </dgm:presLayoutVars>
      </dgm:prSet>
      <dgm:spPr/>
    </dgm:pt>
    <dgm:pt modelId="{41CCC566-3E35-4BD7-902B-CB3900AF3B74}" type="pres">
      <dgm:prSet presAssocID="{7FE7C184-8146-4980-B05C-C41A4DB136B0}" presName="sibTrans" presStyleCnt="0"/>
      <dgm:spPr/>
    </dgm:pt>
    <dgm:pt modelId="{1FA3AE2B-6B68-494B-AC99-AC8F6A6B4302}" type="pres">
      <dgm:prSet presAssocID="{99A01B54-BEF5-42DD-8C7B-6F2D844C5F3A}" presName="compNode" presStyleCnt="0"/>
      <dgm:spPr/>
    </dgm:pt>
    <dgm:pt modelId="{FE77F016-6ACC-4557-8FE3-FC03CAF8783C}" type="pres">
      <dgm:prSet presAssocID="{99A01B54-BEF5-42DD-8C7B-6F2D844C5F3A}" presName="bgRect" presStyleLbl="bgShp" presStyleIdx="2" presStyleCnt="3" custLinFactNeighborX="-288" custLinFactNeighborY="689"/>
      <dgm:spPr>
        <a:solidFill>
          <a:schemeClr val="accent2">
            <a:lumMod val="20000"/>
            <a:lumOff val="80000"/>
          </a:schemeClr>
        </a:solidFill>
      </dgm:spPr>
    </dgm:pt>
    <dgm:pt modelId="{E7D61E94-E8D4-41D7-BF51-6A4C0433A39F}" type="pres">
      <dgm:prSet presAssocID="{99A01B54-BEF5-42DD-8C7B-6F2D844C5F3A}" presName="iconRect" presStyleLbl="node1" presStyleIdx="2" presStyleCnt="3" custLinFactY="-200000" custLinFactNeighborX="0" custLinFactNeighborY="-259848"/>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Money"/>
        </a:ext>
      </dgm:extLst>
    </dgm:pt>
    <dgm:pt modelId="{5F3BFC46-2A55-4214-8ED3-27028834FFD2}" type="pres">
      <dgm:prSet presAssocID="{99A01B54-BEF5-42DD-8C7B-6F2D844C5F3A}" presName="spaceRect" presStyleCnt="0"/>
      <dgm:spPr/>
    </dgm:pt>
    <dgm:pt modelId="{575E7982-8E2F-4C2A-BC68-D166A4F3552A}" type="pres">
      <dgm:prSet presAssocID="{99A01B54-BEF5-42DD-8C7B-6F2D844C5F3A}" presName="parTx" presStyleLbl="revTx" presStyleIdx="2" presStyleCnt="3">
        <dgm:presLayoutVars>
          <dgm:chMax val="0"/>
          <dgm:chPref val="0"/>
        </dgm:presLayoutVars>
      </dgm:prSet>
      <dgm:spPr/>
    </dgm:pt>
  </dgm:ptLst>
  <dgm:cxnLst>
    <dgm:cxn modelId="{706E5800-B440-4F68-81E5-B04DD267E8EB}" type="presOf" srcId="{99A01B54-BEF5-42DD-8C7B-6F2D844C5F3A}" destId="{575E7982-8E2F-4C2A-BC68-D166A4F3552A}" srcOrd="0" destOrd="0" presId="urn:microsoft.com/office/officeart/2018/2/layout/IconVerticalSolidList"/>
    <dgm:cxn modelId="{0B7EAF04-4638-4F0F-AAC2-8CAD40400D39}" srcId="{34B49795-BFE9-475F-86BB-8DD91EA699D8}" destId="{2E63BC4C-4213-4984-895D-E3977FACDAFD}" srcOrd="0" destOrd="0" parTransId="{C32BB069-4336-4788-BF89-CE3DF92AF966}" sibTransId="{D7CCBE4B-C03D-4C44-8D43-661FDF38DD44}"/>
    <dgm:cxn modelId="{42C6F925-43E9-4502-B927-2647DDB53F4D}" srcId="{34B49795-BFE9-475F-86BB-8DD91EA699D8}" destId="{99A01B54-BEF5-42DD-8C7B-6F2D844C5F3A}" srcOrd="2" destOrd="0" parTransId="{850C8AE0-BE4F-40BA-B236-DC8CEA3474D2}" sibTransId="{7CFA6665-058C-46E2-81EB-BB07CC25A2A9}"/>
    <dgm:cxn modelId="{EBDB4C3F-5D05-4BD2-9029-584D5E33A70A}" type="presOf" srcId="{2E63BC4C-4213-4984-895D-E3977FACDAFD}" destId="{8659BFDC-B87A-439C-8858-27D5CDD17118}" srcOrd="0" destOrd="0" presId="urn:microsoft.com/office/officeart/2018/2/layout/IconVerticalSolidList"/>
    <dgm:cxn modelId="{C4A3807F-911B-4FC2-9B08-237DFD7FB682}" type="presOf" srcId="{34B49795-BFE9-475F-86BB-8DD91EA699D8}" destId="{CA8036D3-6A76-4F38-8189-A8D4044B6999}" srcOrd="0" destOrd="0" presId="urn:microsoft.com/office/officeart/2018/2/layout/IconVerticalSolidList"/>
    <dgm:cxn modelId="{42E7CBBC-7632-4862-AB7C-652EF7C66E23}" srcId="{34B49795-BFE9-475F-86BB-8DD91EA699D8}" destId="{19008BD4-4745-49F5-90A4-07B15FB755DA}" srcOrd="1" destOrd="0" parTransId="{6B7DBF80-A046-46E8-9AA1-6139C51E7EA9}" sibTransId="{7FE7C184-8146-4980-B05C-C41A4DB136B0}"/>
    <dgm:cxn modelId="{003C46F8-E93F-45BD-8C09-B580E4FB4EE0}" type="presOf" srcId="{19008BD4-4745-49F5-90A4-07B15FB755DA}" destId="{F7690FC5-E650-446A-BD28-C4000D814BD6}" srcOrd="0" destOrd="0" presId="urn:microsoft.com/office/officeart/2018/2/layout/IconVerticalSolidList"/>
    <dgm:cxn modelId="{9A887B13-F1AD-40D5-B3D6-BD233D1D310F}" type="presParOf" srcId="{CA8036D3-6A76-4F38-8189-A8D4044B6999}" destId="{1F8C7CDF-440E-49C1-AF96-68C4F468412B}" srcOrd="0" destOrd="0" presId="urn:microsoft.com/office/officeart/2018/2/layout/IconVerticalSolidList"/>
    <dgm:cxn modelId="{A3F7C7DC-355F-4423-A9B4-46AD6938E56F}" type="presParOf" srcId="{1F8C7CDF-440E-49C1-AF96-68C4F468412B}" destId="{F9A36A2B-89FF-4CC1-9DB8-55E33584B5A8}" srcOrd="0" destOrd="0" presId="urn:microsoft.com/office/officeart/2018/2/layout/IconVerticalSolidList"/>
    <dgm:cxn modelId="{23A47CB3-E418-4660-AE57-3274899175E3}" type="presParOf" srcId="{1F8C7CDF-440E-49C1-AF96-68C4F468412B}" destId="{E4D4C96A-9839-4258-B300-3D4E292367AD}" srcOrd="1" destOrd="0" presId="urn:microsoft.com/office/officeart/2018/2/layout/IconVerticalSolidList"/>
    <dgm:cxn modelId="{7463122A-9433-407E-9610-F0372634E15B}" type="presParOf" srcId="{1F8C7CDF-440E-49C1-AF96-68C4F468412B}" destId="{338EF9B3-C82E-4182-B854-A742118C6B7F}" srcOrd="2" destOrd="0" presId="urn:microsoft.com/office/officeart/2018/2/layout/IconVerticalSolidList"/>
    <dgm:cxn modelId="{3571C73F-49D7-4B92-AFE3-65CCE470F76E}" type="presParOf" srcId="{1F8C7CDF-440E-49C1-AF96-68C4F468412B}" destId="{8659BFDC-B87A-439C-8858-27D5CDD17118}" srcOrd="3" destOrd="0" presId="urn:microsoft.com/office/officeart/2018/2/layout/IconVerticalSolidList"/>
    <dgm:cxn modelId="{DAD07359-F1EC-4A6E-8496-08E2C7EB6C45}" type="presParOf" srcId="{CA8036D3-6A76-4F38-8189-A8D4044B6999}" destId="{873D2B9E-1B17-4860-B76B-0C9DB661032D}" srcOrd="1" destOrd="0" presId="urn:microsoft.com/office/officeart/2018/2/layout/IconVerticalSolidList"/>
    <dgm:cxn modelId="{35752330-CA2E-4255-9F20-2188747BBE67}" type="presParOf" srcId="{CA8036D3-6A76-4F38-8189-A8D4044B6999}" destId="{89DD4767-7031-48D5-BCF5-03201C5B471D}" srcOrd="2" destOrd="0" presId="urn:microsoft.com/office/officeart/2018/2/layout/IconVerticalSolidList"/>
    <dgm:cxn modelId="{59F394FC-B091-44EF-81FE-BFCA3C3B9757}" type="presParOf" srcId="{89DD4767-7031-48D5-BCF5-03201C5B471D}" destId="{9E0A31CD-27D6-45EE-8E4A-D55E781E8E08}" srcOrd="0" destOrd="0" presId="urn:microsoft.com/office/officeart/2018/2/layout/IconVerticalSolidList"/>
    <dgm:cxn modelId="{35636482-2906-4A69-9708-93048B7504AD}" type="presParOf" srcId="{89DD4767-7031-48D5-BCF5-03201C5B471D}" destId="{F84090DD-AB54-49A6-BFE1-189F10AB326F}" srcOrd="1" destOrd="0" presId="urn:microsoft.com/office/officeart/2018/2/layout/IconVerticalSolidList"/>
    <dgm:cxn modelId="{D887DAFB-73A8-4F42-9DEB-89641F1F88A9}" type="presParOf" srcId="{89DD4767-7031-48D5-BCF5-03201C5B471D}" destId="{F4908587-1642-4940-AD43-1C6668A0634D}" srcOrd="2" destOrd="0" presId="urn:microsoft.com/office/officeart/2018/2/layout/IconVerticalSolidList"/>
    <dgm:cxn modelId="{AF083AC9-9BA7-4533-9E05-CD9D6E4178CA}" type="presParOf" srcId="{89DD4767-7031-48D5-BCF5-03201C5B471D}" destId="{F7690FC5-E650-446A-BD28-C4000D814BD6}" srcOrd="3" destOrd="0" presId="urn:microsoft.com/office/officeart/2018/2/layout/IconVerticalSolidList"/>
    <dgm:cxn modelId="{A6D3DF09-820D-4485-B190-EA120D644996}" type="presParOf" srcId="{CA8036D3-6A76-4F38-8189-A8D4044B6999}" destId="{41CCC566-3E35-4BD7-902B-CB3900AF3B74}" srcOrd="3" destOrd="0" presId="urn:microsoft.com/office/officeart/2018/2/layout/IconVerticalSolidList"/>
    <dgm:cxn modelId="{4629BE37-D788-4AF0-8003-9FFC765E53FE}" type="presParOf" srcId="{CA8036D3-6A76-4F38-8189-A8D4044B6999}" destId="{1FA3AE2B-6B68-494B-AC99-AC8F6A6B4302}" srcOrd="4" destOrd="0" presId="urn:microsoft.com/office/officeart/2018/2/layout/IconVerticalSolidList"/>
    <dgm:cxn modelId="{45AD2ADD-50D3-4B8C-BB7B-14604E172873}" type="presParOf" srcId="{1FA3AE2B-6B68-494B-AC99-AC8F6A6B4302}" destId="{FE77F016-6ACC-4557-8FE3-FC03CAF8783C}" srcOrd="0" destOrd="0" presId="urn:microsoft.com/office/officeart/2018/2/layout/IconVerticalSolidList"/>
    <dgm:cxn modelId="{7325DEF2-3C9D-4EB6-9CB4-973734001EA0}" type="presParOf" srcId="{1FA3AE2B-6B68-494B-AC99-AC8F6A6B4302}" destId="{E7D61E94-E8D4-41D7-BF51-6A4C0433A39F}" srcOrd="1" destOrd="0" presId="urn:microsoft.com/office/officeart/2018/2/layout/IconVerticalSolidList"/>
    <dgm:cxn modelId="{18655613-3324-400B-9470-5172C02A8B18}" type="presParOf" srcId="{1FA3AE2B-6B68-494B-AC99-AC8F6A6B4302}" destId="{5F3BFC46-2A55-4214-8ED3-27028834FFD2}" srcOrd="2" destOrd="0" presId="urn:microsoft.com/office/officeart/2018/2/layout/IconVerticalSolidList"/>
    <dgm:cxn modelId="{C534F27C-3CD6-44E3-9122-A2E2B3A421FC}" type="presParOf" srcId="{1FA3AE2B-6B68-494B-AC99-AC8F6A6B4302}" destId="{575E7982-8E2F-4C2A-BC68-D166A4F3552A}"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28D34456-0529-4F39-B6B8-70EDAAF8F195}" type="doc">
      <dgm:prSet loTypeId="urn:microsoft.com/office/officeart/2018/2/layout/IconCircleList" loCatId="icon" qsTypeId="urn:microsoft.com/office/officeart/2005/8/quickstyle/simple1" qsCatId="simple" csTypeId="urn:microsoft.com/office/officeart/2005/8/colors/accent1_2" csCatId="accent1" phldr="1"/>
      <dgm:spPr/>
      <dgm:t>
        <a:bodyPr/>
        <a:lstStyle/>
        <a:p>
          <a:endParaRPr lang="en-US"/>
        </a:p>
      </dgm:t>
    </dgm:pt>
    <dgm:pt modelId="{2606A87B-A37C-42A5-925E-AD39D92AF7EB}">
      <dgm:prSet custT="1"/>
      <dgm:spPr/>
      <dgm:t>
        <a:bodyPr/>
        <a:lstStyle/>
        <a:p>
          <a:pPr>
            <a:lnSpc>
              <a:spcPct val="100000"/>
            </a:lnSpc>
          </a:pPr>
          <a:r>
            <a:rPr lang="en-US" sz="1400" b="0" u="sng" dirty="0">
              <a:latin typeface="Aptos" panose="020B0004020202020204" pitchFamily="34" charset="0"/>
            </a:rPr>
            <a:t>Limited Data on Certain Demographics: </a:t>
          </a:r>
        </a:p>
        <a:p>
          <a:pPr>
            <a:lnSpc>
              <a:spcPct val="100000"/>
            </a:lnSpc>
          </a:pPr>
          <a:r>
            <a:rPr lang="en-US" sz="1400" b="0" u="none" dirty="0">
              <a:latin typeface="Aptos" panose="020B0004020202020204" pitchFamily="34" charset="0"/>
            </a:rPr>
            <a:t>There is very little data on loan applications from the "none" and "other" homeownership categories. This limits the bank's understanding of potential market opportunities or challenges in these smaller segments.</a:t>
          </a:r>
        </a:p>
      </dgm:t>
    </dgm:pt>
    <dgm:pt modelId="{79E932AB-C43F-488F-A9DE-5702B2110E89}" type="parTrans" cxnId="{C8005768-106D-4A30-B366-642C2E517E5B}">
      <dgm:prSet/>
      <dgm:spPr/>
      <dgm:t>
        <a:bodyPr/>
        <a:lstStyle/>
        <a:p>
          <a:endParaRPr lang="en-US"/>
        </a:p>
      </dgm:t>
    </dgm:pt>
    <dgm:pt modelId="{2BA670F9-4BE7-4C9F-B523-FB32BEE000B8}" type="sibTrans" cxnId="{C8005768-106D-4A30-B366-642C2E517E5B}">
      <dgm:prSet/>
      <dgm:spPr/>
      <dgm:t>
        <a:bodyPr/>
        <a:lstStyle/>
        <a:p>
          <a:pPr>
            <a:lnSpc>
              <a:spcPct val="100000"/>
            </a:lnSpc>
          </a:pPr>
          <a:endParaRPr lang="en-US"/>
        </a:p>
      </dgm:t>
    </dgm:pt>
    <dgm:pt modelId="{956589AD-56CF-47AD-AEE3-92444134A7D9}">
      <dgm:prSet custT="1"/>
      <dgm:spPr/>
      <dgm:t>
        <a:bodyPr/>
        <a:lstStyle/>
        <a:p>
          <a:pPr>
            <a:lnSpc>
              <a:spcPct val="100000"/>
            </a:lnSpc>
          </a:pPr>
          <a:r>
            <a:rPr lang="en-US" sz="1400" u="sng" dirty="0">
              <a:latin typeface="Aptos" panose="020B0004020202020204" pitchFamily="34" charset="0"/>
            </a:rPr>
            <a:t>Narrow Loan Terms</a:t>
          </a:r>
          <a:r>
            <a:rPr lang="en-US" sz="1400" u="none" dirty="0">
              <a:latin typeface="Aptos" panose="020B0004020202020204" pitchFamily="34" charset="0"/>
            </a:rPr>
            <a:t>:</a:t>
          </a:r>
        </a:p>
        <a:p>
          <a:pPr>
            <a:lnSpc>
              <a:spcPct val="100000"/>
            </a:lnSpc>
          </a:pPr>
          <a:r>
            <a:rPr lang="en-US" sz="1400" u="none" dirty="0">
              <a:latin typeface="Aptos" panose="020B0004020202020204" pitchFamily="34" charset="0"/>
            </a:rPr>
            <a:t> The data only reflects two loan term options: 36 months and 60 months, which limits insight into customer preferences for other potential loan durations, such as shorter-term or longer-term loans (e.g., 12 months, 48 months). This gap restricts understanding of broader customer needs.</a:t>
          </a:r>
        </a:p>
      </dgm:t>
    </dgm:pt>
    <dgm:pt modelId="{34BB556D-DB48-465B-BF23-3F328533E484}" type="parTrans" cxnId="{B5E765D1-A406-414C-B4F5-26B394DD0486}">
      <dgm:prSet/>
      <dgm:spPr/>
      <dgm:t>
        <a:bodyPr/>
        <a:lstStyle/>
        <a:p>
          <a:endParaRPr lang="en-US"/>
        </a:p>
      </dgm:t>
    </dgm:pt>
    <dgm:pt modelId="{85809FE9-1447-4B3C-B134-FB8D2ECF2CA6}" type="sibTrans" cxnId="{B5E765D1-A406-414C-B4F5-26B394DD0486}">
      <dgm:prSet/>
      <dgm:spPr/>
      <dgm:t>
        <a:bodyPr/>
        <a:lstStyle/>
        <a:p>
          <a:pPr>
            <a:lnSpc>
              <a:spcPct val="100000"/>
            </a:lnSpc>
          </a:pPr>
          <a:endParaRPr lang="en-US"/>
        </a:p>
      </dgm:t>
    </dgm:pt>
    <dgm:pt modelId="{0372C4E9-4D3C-4FB2-BD83-ABDBC29248F9}">
      <dgm:prSet custT="1"/>
      <dgm:spPr/>
      <dgm:t>
        <a:bodyPr/>
        <a:lstStyle/>
        <a:p>
          <a:pPr>
            <a:lnSpc>
              <a:spcPct val="100000"/>
            </a:lnSpc>
          </a:pPr>
          <a:r>
            <a:rPr lang="en-US" sz="1400" b="0" u="sng" dirty="0">
              <a:latin typeface="Aptos" panose="020B0004020202020204" pitchFamily="34" charset="0"/>
            </a:rPr>
            <a:t>Lack of Creditworthiness Data: </a:t>
          </a:r>
        </a:p>
        <a:p>
          <a:pPr>
            <a:lnSpc>
              <a:spcPct val="100000"/>
            </a:lnSpc>
          </a:pPr>
          <a:r>
            <a:rPr lang="en-US" sz="1400" b="0" u="none" dirty="0">
              <a:latin typeface="Aptos" panose="020B0004020202020204" pitchFamily="34" charset="0"/>
            </a:rPr>
            <a:t>The analysis does not account for credit scores, income levels, or debt-to-income ratios. This omission limits the bank's ability to understand the risk associated with different borrower groups and the likelihood of defaults.</a:t>
          </a:r>
          <a:endParaRPr lang="en-US" sz="1400" b="0" u="none" dirty="0"/>
        </a:p>
      </dgm:t>
    </dgm:pt>
    <dgm:pt modelId="{A5A9E393-C9C5-43EF-8BC7-FA07B5EF176A}" type="parTrans" cxnId="{71709F72-EFF9-477F-9CCF-9CEC613F3DE1}">
      <dgm:prSet/>
      <dgm:spPr/>
      <dgm:t>
        <a:bodyPr/>
        <a:lstStyle/>
        <a:p>
          <a:endParaRPr lang="en-US"/>
        </a:p>
      </dgm:t>
    </dgm:pt>
    <dgm:pt modelId="{313C1C5A-666F-44A2-902F-D78606D664A1}" type="sibTrans" cxnId="{71709F72-EFF9-477F-9CCF-9CEC613F3DE1}">
      <dgm:prSet/>
      <dgm:spPr/>
      <dgm:t>
        <a:bodyPr/>
        <a:lstStyle/>
        <a:p>
          <a:pPr>
            <a:lnSpc>
              <a:spcPct val="100000"/>
            </a:lnSpc>
          </a:pPr>
          <a:endParaRPr lang="en-US"/>
        </a:p>
      </dgm:t>
    </dgm:pt>
    <dgm:pt modelId="{15EB7531-36E4-4293-8A16-E6F7E1BD13F0}">
      <dgm:prSet custT="1"/>
      <dgm:spPr/>
      <dgm:t>
        <a:bodyPr/>
        <a:lstStyle/>
        <a:p>
          <a:pPr>
            <a:lnSpc>
              <a:spcPct val="100000"/>
            </a:lnSpc>
          </a:pPr>
          <a:r>
            <a:rPr lang="en-US" sz="1400" b="1" u="sng" dirty="0">
              <a:latin typeface="Aptos" panose="020B0004020202020204" pitchFamily="34" charset="0"/>
            </a:rPr>
            <a:t>Regional Disparities:</a:t>
          </a:r>
        </a:p>
        <a:p>
          <a:pPr>
            <a:lnSpc>
              <a:spcPct val="100000"/>
            </a:lnSpc>
          </a:pPr>
          <a:r>
            <a:rPr lang="en-US" sz="1400" b="0" u="none" dirty="0">
              <a:latin typeface="Aptos" panose="020B0004020202020204" pitchFamily="34" charset="0"/>
            </a:rPr>
            <a:t>Some states have negligible loan activity. The bank’s market penetration appears to be uneven across regions, potentially missing growth opportunities in underrepresented states.</a:t>
          </a:r>
        </a:p>
      </dgm:t>
    </dgm:pt>
    <dgm:pt modelId="{131FAAB1-0924-4194-8640-98CCCB7BF733}" type="parTrans" cxnId="{35274E98-BB4D-44D2-926D-831DA2362D2C}">
      <dgm:prSet/>
      <dgm:spPr/>
      <dgm:t>
        <a:bodyPr/>
        <a:lstStyle/>
        <a:p>
          <a:endParaRPr lang="en-US"/>
        </a:p>
      </dgm:t>
    </dgm:pt>
    <dgm:pt modelId="{331FF027-F97A-47EC-AA60-3ADE2BE4F522}" type="sibTrans" cxnId="{35274E98-BB4D-44D2-926D-831DA2362D2C}">
      <dgm:prSet/>
      <dgm:spPr/>
      <dgm:t>
        <a:bodyPr/>
        <a:lstStyle/>
        <a:p>
          <a:endParaRPr lang="en-US"/>
        </a:p>
      </dgm:t>
    </dgm:pt>
    <dgm:pt modelId="{3BF11055-73CD-4F43-8BF4-087165915C43}" type="pres">
      <dgm:prSet presAssocID="{28D34456-0529-4F39-B6B8-70EDAAF8F195}" presName="root" presStyleCnt="0">
        <dgm:presLayoutVars>
          <dgm:dir/>
          <dgm:resizeHandles val="exact"/>
        </dgm:presLayoutVars>
      </dgm:prSet>
      <dgm:spPr/>
    </dgm:pt>
    <dgm:pt modelId="{CFCFBBA5-F06A-4AD2-8DF2-485F79979B5F}" type="pres">
      <dgm:prSet presAssocID="{28D34456-0529-4F39-B6B8-70EDAAF8F195}" presName="container" presStyleCnt="0">
        <dgm:presLayoutVars>
          <dgm:dir/>
          <dgm:resizeHandles val="exact"/>
        </dgm:presLayoutVars>
      </dgm:prSet>
      <dgm:spPr/>
    </dgm:pt>
    <dgm:pt modelId="{E7F58B8B-CA5B-44B3-9DC3-9787DBB7BB56}" type="pres">
      <dgm:prSet presAssocID="{2606A87B-A37C-42A5-925E-AD39D92AF7EB}" presName="compNode" presStyleCnt="0"/>
      <dgm:spPr/>
    </dgm:pt>
    <dgm:pt modelId="{C546DBC7-D2D4-4CBB-AAB3-C6F923D264D3}" type="pres">
      <dgm:prSet presAssocID="{2606A87B-A37C-42A5-925E-AD39D92AF7EB}" presName="iconBgRect" presStyleLbl="bgShp" presStyleIdx="0" presStyleCnt="4"/>
      <dgm:spPr/>
    </dgm:pt>
    <dgm:pt modelId="{136755CD-5A8C-4CB3-B82B-CA7D1752EC06}" type="pres">
      <dgm:prSet presAssocID="{2606A87B-A37C-42A5-925E-AD39D92AF7EB}"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Statistics"/>
        </a:ext>
      </dgm:extLst>
    </dgm:pt>
    <dgm:pt modelId="{6CFF51E6-59CF-427F-9695-54B63B93F312}" type="pres">
      <dgm:prSet presAssocID="{2606A87B-A37C-42A5-925E-AD39D92AF7EB}" presName="spaceRect" presStyleCnt="0"/>
      <dgm:spPr/>
    </dgm:pt>
    <dgm:pt modelId="{D5FBCD0F-E00D-40BC-AB37-59EBDDB8EF65}" type="pres">
      <dgm:prSet presAssocID="{2606A87B-A37C-42A5-925E-AD39D92AF7EB}" presName="textRect" presStyleLbl="revTx" presStyleIdx="0" presStyleCnt="4" custScaleX="103285" custScaleY="164607">
        <dgm:presLayoutVars>
          <dgm:chMax val="1"/>
          <dgm:chPref val="1"/>
        </dgm:presLayoutVars>
      </dgm:prSet>
      <dgm:spPr/>
    </dgm:pt>
    <dgm:pt modelId="{F0E329F5-9531-4AB6-A24A-DBD881CE3555}" type="pres">
      <dgm:prSet presAssocID="{2BA670F9-4BE7-4C9F-B523-FB32BEE000B8}" presName="sibTrans" presStyleLbl="sibTrans2D1" presStyleIdx="0" presStyleCnt="0"/>
      <dgm:spPr/>
    </dgm:pt>
    <dgm:pt modelId="{1C5C8607-D0CD-4C93-80F1-89BA7C2A4DCF}" type="pres">
      <dgm:prSet presAssocID="{956589AD-56CF-47AD-AEE3-92444134A7D9}" presName="compNode" presStyleCnt="0"/>
      <dgm:spPr/>
    </dgm:pt>
    <dgm:pt modelId="{90A54723-7894-442E-A415-87A507A71976}" type="pres">
      <dgm:prSet presAssocID="{956589AD-56CF-47AD-AEE3-92444134A7D9}" presName="iconBgRect" presStyleLbl="bgShp" presStyleIdx="1" presStyleCnt="4"/>
      <dgm:spPr/>
    </dgm:pt>
    <dgm:pt modelId="{00992C84-73DD-4663-94C5-18B51AE29B08}" type="pres">
      <dgm:prSet presAssocID="{956589AD-56CF-47AD-AEE3-92444134A7D9}" presName="iconRect" presStyleLbl="node1" presStyleIdx="1" presStyleCnt="4" custLinFactNeighborX="-1734" custLinFactNeighborY="0"/>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Head with Gears"/>
        </a:ext>
      </dgm:extLst>
    </dgm:pt>
    <dgm:pt modelId="{369C90DB-402B-4EB6-8C7D-E55978E59564}" type="pres">
      <dgm:prSet presAssocID="{956589AD-56CF-47AD-AEE3-92444134A7D9}" presName="spaceRect" presStyleCnt="0"/>
      <dgm:spPr/>
    </dgm:pt>
    <dgm:pt modelId="{100C94A1-5969-4CCD-8587-021530C0F688}" type="pres">
      <dgm:prSet presAssocID="{956589AD-56CF-47AD-AEE3-92444134A7D9}" presName="textRect" presStyleLbl="revTx" presStyleIdx="1" presStyleCnt="4" custScaleX="113026" custScaleY="151248">
        <dgm:presLayoutVars>
          <dgm:chMax val="1"/>
          <dgm:chPref val="1"/>
        </dgm:presLayoutVars>
      </dgm:prSet>
      <dgm:spPr/>
    </dgm:pt>
    <dgm:pt modelId="{076FFA6E-0ECA-4DCD-B214-9FA3A648CEFF}" type="pres">
      <dgm:prSet presAssocID="{85809FE9-1447-4B3C-B134-FB8D2ECF2CA6}" presName="sibTrans" presStyleLbl="sibTrans2D1" presStyleIdx="0" presStyleCnt="0"/>
      <dgm:spPr/>
    </dgm:pt>
    <dgm:pt modelId="{2E3F114B-FF75-4A6A-A26E-6E81B070A83C}" type="pres">
      <dgm:prSet presAssocID="{0372C4E9-4D3C-4FB2-BD83-ABDBC29248F9}" presName="compNode" presStyleCnt="0"/>
      <dgm:spPr/>
    </dgm:pt>
    <dgm:pt modelId="{E1C6783E-F08D-4168-91FF-9A32E39BF11A}" type="pres">
      <dgm:prSet presAssocID="{0372C4E9-4D3C-4FB2-BD83-ABDBC29248F9}" presName="iconBgRect" presStyleLbl="bgShp" presStyleIdx="2" presStyleCnt="4"/>
      <dgm:spPr/>
    </dgm:pt>
    <dgm:pt modelId="{AC8F68F5-3509-44C6-9F76-B737E23ACB74}" type="pres">
      <dgm:prSet presAssocID="{0372C4E9-4D3C-4FB2-BD83-ABDBC29248F9}"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Magnifying glass"/>
        </a:ext>
      </dgm:extLst>
    </dgm:pt>
    <dgm:pt modelId="{9EFFB2A2-6202-4525-943C-DE901B97A6C1}" type="pres">
      <dgm:prSet presAssocID="{0372C4E9-4D3C-4FB2-BD83-ABDBC29248F9}" presName="spaceRect" presStyleCnt="0"/>
      <dgm:spPr/>
    </dgm:pt>
    <dgm:pt modelId="{5F419A9A-5563-44AC-9480-4EE67FEDAA43}" type="pres">
      <dgm:prSet presAssocID="{0372C4E9-4D3C-4FB2-BD83-ABDBC29248F9}" presName="textRect" presStyleLbl="revTx" presStyleIdx="2" presStyleCnt="4">
        <dgm:presLayoutVars>
          <dgm:chMax val="1"/>
          <dgm:chPref val="1"/>
        </dgm:presLayoutVars>
      </dgm:prSet>
      <dgm:spPr/>
    </dgm:pt>
    <dgm:pt modelId="{376A0692-0903-41FE-BB7B-E97D7CE4682B}" type="pres">
      <dgm:prSet presAssocID="{313C1C5A-666F-44A2-902F-D78606D664A1}" presName="sibTrans" presStyleLbl="sibTrans2D1" presStyleIdx="0" presStyleCnt="0"/>
      <dgm:spPr/>
    </dgm:pt>
    <dgm:pt modelId="{4043376F-5DF6-44E4-B2DE-C6142749B450}" type="pres">
      <dgm:prSet presAssocID="{15EB7531-36E4-4293-8A16-E6F7E1BD13F0}" presName="compNode" presStyleCnt="0"/>
      <dgm:spPr/>
    </dgm:pt>
    <dgm:pt modelId="{7C5FB380-2FB6-4EF1-B02C-AF8E149AFBD5}" type="pres">
      <dgm:prSet presAssocID="{15EB7531-36E4-4293-8A16-E6F7E1BD13F0}" presName="iconBgRect" presStyleLbl="bgShp" presStyleIdx="3" presStyleCnt="4"/>
      <dgm:spPr/>
    </dgm:pt>
    <dgm:pt modelId="{687A4463-FCC7-421E-A962-8AA5F7FB50F6}" type="pres">
      <dgm:prSet presAssocID="{15EB7531-36E4-4293-8A16-E6F7E1BD13F0}" presName="iconRect" presStyleLbl="node1" presStyleIdx="3" presStyleCnt="4" custLinFactNeighborX="3838" custLinFactNeighborY="-2559"/>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Gauge"/>
        </a:ext>
      </dgm:extLst>
    </dgm:pt>
    <dgm:pt modelId="{EBB3B4EC-EE4B-4DC6-ACFA-33D9F9A3F8B0}" type="pres">
      <dgm:prSet presAssocID="{15EB7531-36E4-4293-8A16-E6F7E1BD13F0}" presName="spaceRect" presStyleCnt="0"/>
      <dgm:spPr/>
    </dgm:pt>
    <dgm:pt modelId="{3F4E00BF-6142-4E6B-9578-5749BE0D6940}" type="pres">
      <dgm:prSet presAssocID="{15EB7531-36E4-4293-8A16-E6F7E1BD13F0}" presName="textRect" presStyleLbl="revTx" presStyleIdx="3" presStyleCnt="4">
        <dgm:presLayoutVars>
          <dgm:chMax val="1"/>
          <dgm:chPref val="1"/>
        </dgm:presLayoutVars>
      </dgm:prSet>
      <dgm:spPr/>
    </dgm:pt>
  </dgm:ptLst>
  <dgm:cxnLst>
    <dgm:cxn modelId="{985D390B-8397-4C6F-A01E-3907DC26F63F}" type="presOf" srcId="{85809FE9-1447-4B3C-B134-FB8D2ECF2CA6}" destId="{076FFA6E-0ECA-4DCD-B214-9FA3A648CEFF}" srcOrd="0" destOrd="0" presId="urn:microsoft.com/office/officeart/2018/2/layout/IconCircleList"/>
    <dgm:cxn modelId="{40612929-39CC-4E74-BE9D-B1B3C7FEB7D5}" type="presOf" srcId="{15EB7531-36E4-4293-8A16-E6F7E1BD13F0}" destId="{3F4E00BF-6142-4E6B-9578-5749BE0D6940}" srcOrd="0" destOrd="0" presId="urn:microsoft.com/office/officeart/2018/2/layout/IconCircleList"/>
    <dgm:cxn modelId="{F4676939-6F91-438B-9912-39A0E1FD8CFC}" type="presOf" srcId="{956589AD-56CF-47AD-AEE3-92444134A7D9}" destId="{100C94A1-5969-4CCD-8587-021530C0F688}" srcOrd="0" destOrd="0" presId="urn:microsoft.com/office/officeart/2018/2/layout/IconCircleList"/>
    <dgm:cxn modelId="{FDA25061-6C83-42E8-910D-DB89E2471B10}" type="presOf" srcId="{2606A87B-A37C-42A5-925E-AD39D92AF7EB}" destId="{D5FBCD0F-E00D-40BC-AB37-59EBDDB8EF65}" srcOrd="0" destOrd="0" presId="urn:microsoft.com/office/officeart/2018/2/layout/IconCircleList"/>
    <dgm:cxn modelId="{C8005768-106D-4A30-B366-642C2E517E5B}" srcId="{28D34456-0529-4F39-B6B8-70EDAAF8F195}" destId="{2606A87B-A37C-42A5-925E-AD39D92AF7EB}" srcOrd="0" destOrd="0" parTransId="{79E932AB-C43F-488F-A9DE-5702B2110E89}" sibTransId="{2BA670F9-4BE7-4C9F-B523-FB32BEE000B8}"/>
    <dgm:cxn modelId="{71709F72-EFF9-477F-9CCF-9CEC613F3DE1}" srcId="{28D34456-0529-4F39-B6B8-70EDAAF8F195}" destId="{0372C4E9-4D3C-4FB2-BD83-ABDBC29248F9}" srcOrd="2" destOrd="0" parTransId="{A5A9E393-C9C5-43EF-8BC7-FA07B5EF176A}" sibTransId="{313C1C5A-666F-44A2-902F-D78606D664A1}"/>
    <dgm:cxn modelId="{03326B82-7847-435C-96E3-32F543AF8139}" type="presOf" srcId="{0372C4E9-4D3C-4FB2-BD83-ABDBC29248F9}" destId="{5F419A9A-5563-44AC-9480-4EE67FEDAA43}" srcOrd="0" destOrd="0" presId="urn:microsoft.com/office/officeart/2018/2/layout/IconCircleList"/>
    <dgm:cxn modelId="{F9D4138A-91B7-4467-871A-FFF4CBD7E71D}" type="presOf" srcId="{2BA670F9-4BE7-4C9F-B523-FB32BEE000B8}" destId="{F0E329F5-9531-4AB6-A24A-DBD881CE3555}" srcOrd="0" destOrd="0" presId="urn:microsoft.com/office/officeart/2018/2/layout/IconCircleList"/>
    <dgm:cxn modelId="{35274E98-BB4D-44D2-926D-831DA2362D2C}" srcId="{28D34456-0529-4F39-B6B8-70EDAAF8F195}" destId="{15EB7531-36E4-4293-8A16-E6F7E1BD13F0}" srcOrd="3" destOrd="0" parTransId="{131FAAB1-0924-4194-8640-98CCCB7BF733}" sibTransId="{331FF027-F97A-47EC-AA60-3ADE2BE4F522}"/>
    <dgm:cxn modelId="{0F87C7AD-F53B-4D57-97D9-8B575FB11D19}" type="presOf" srcId="{313C1C5A-666F-44A2-902F-D78606D664A1}" destId="{376A0692-0903-41FE-BB7B-E97D7CE4682B}" srcOrd="0" destOrd="0" presId="urn:microsoft.com/office/officeart/2018/2/layout/IconCircleList"/>
    <dgm:cxn modelId="{1065C2C8-A834-4801-AB2D-3F85E7E25F0B}" type="presOf" srcId="{28D34456-0529-4F39-B6B8-70EDAAF8F195}" destId="{3BF11055-73CD-4F43-8BF4-087165915C43}" srcOrd="0" destOrd="0" presId="urn:microsoft.com/office/officeart/2018/2/layout/IconCircleList"/>
    <dgm:cxn modelId="{B5E765D1-A406-414C-B4F5-26B394DD0486}" srcId="{28D34456-0529-4F39-B6B8-70EDAAF8F195}" destId="{956589AD-56CF-47AD-AEE3-92444134A7D9}" srcOrd="1" destOrd="0" parTransId="{34BB556D-DB48-465B-BF23-3F328533E484}" sibTransId="{85809FE9-1447-4B3C-B134-FB8D2ECF2CA6}"/>
    <dgm:cxn modelId="{ACDE6515-7B5A-4BD7-B847-5CC442622F5D}" type="presParOf" srcId="{3BF11055-73CD-4F43-8BF4-087165915C43}" destId="{CFCFBBA5-F06A-4AD2-8DF2-485F79979B5F}" srcOrd="0" destOrd="0" presId="urn:microsoft.com/office/officeart/2018/2/layout/IconCircleList"/>
    <dgm:cxn modelId="{9900D102-21F0-4482-ABEB-B3EC76D559C2}" type="presParOf" srcId="{CFCFBBA5-F06A-4AD2-8DF2-485F79979B5F}" destId="{E7F58B8B-CA5B-44B3-9DC3-9787DBB7BB56}" srcOrd="0" destOrd="0" presId="urn:microsoft.com/office/officeart/2018/2/layout/IconCircleList"/>
    <dgm:cxn modelId="{C1BAFD6A-D3E2-4094-90DC-B4D310FEBCD0}" type="presParOf" srcId="{E7F58B8B-CA5B-44B3-9DC3-9787DBB7BB56}" destId="{C546DBC7-D2D4-4CBB-AAB3-C6F923D264D3}" srcOrd="0" destOrd="0" presId="urn:microsoft.com/office/officeart/2018/2/layout/IconCircleList"/>
    <dgm:cxn modelId="{68C088FA-7F31-40DA-ABB1-EC4D30983AC6}" type="presParOf" srcId="{E7F58B8B-CA5B-44B3-9DC3-9787DBB7BB56}" destId="{136755CD-5A8C-4CB3-B82B-CA7D1752EC06}" srcOrd="1" destOrd="0" presId="urn:microsoft.com/office/officeart/2018/2/layout/IconCircleList"/>
    <dgm:cxn modelId="{2CD2F805-5720-4179-A052-089CEE42C3B4}" type="presParOf" srcId="{E7F58B8B-CA5B-44B3-9DC3-9787DBB7BB56}" destId="{6CFF51E6-59CF-427F-9695-54B63B93F312}" srcOrd="2" destOrd="0" presId="urn:microsoft.com/office/officeart/2018/2/layout/IconCircleList"/>
    <dgm:cxn modelId="{AF891AA1-FC15-4E74-A701-94722C2274A3}" type="presParOf" srcId="{E7F58B8B-CA5B-44B3-9DC3-9787DBB7BB56}" destId="{D5FBCD0F-E00D-40BC-AB37-59EBDDB8EF65}" srcOrd="3" destOrd="0" presId="urn:microsoft.com/office/officeart/2018/2/layout/IconCircleList"/>
    <dgm:cxn modelId="{EFD64872-35E3-42B9-93B4-D9682B41C61A}" type="presParOf" srcId="{CFCFBBA5-F06A-4AD2-8DF2-485F79979B5F}" destId="{F0E329F5-9531-4AB6-A24A-DBD881CE3555}" srcOrd="1" destOrd="0" presId="urn:microsoft.com/office/officeart/2018/2/layout/IconCircleList"/>
    <dgm:cxn modelId="{488E7426-0F80-4833-A038-062BB329889F}" type="presParOf" srcId="{CFCFBBA5-F06A-4AD2-8DF2-485F79979B5F}" destId="{1C5C8607-D0CD-4C93-80F1-89BA7C2A4DCF}" srcOrd="2" destOrd="0" presId="urn:microsoft.com/office/officeart/2018/2/layout/IconCircleList"/>
    <dgm:cxn modelId="{B9E47CEA-ADE8-4BB3-A418-AD403E86DF18}" type="presParOf" srcId="{1C5C8607-D0CD-4C93-80F1-89BA7C2A4DCF}" destId="{90A54723-7894-442E-A415-87A507A71976}" srcOrd="0" destOrd="0" presId="urn:microsoft.com/office/officeart/2018/2/layout/IconCircleList"/>
    <dgm:cxn modelId="{97A17460-CC7B-438E-92D9-E6398DB38B32}" type="presParOf" srcId="{1C5C8607-D0CD-4C93-80F1-89BA7C2A4DCF}" destId="{00992C84-73DD-4663-94C5-18B51AE29B08}" srcOrd="1" destOrd="0" presId="urn:microsoft.com/office/officeart/2018/2/layout/IconCircleList"/>
    <dgm:cxn modelId="{D8F5E90A-363B-4404-A7CE-56D3A02653B2}" type="presParOf" srcId="{1C5C8607-D0CD-4C93-80F1-89BA7C2A4DCF}" destId="{369C90DB-402B-4EB6-8C7D-E55978E59564}" srcOrd="2" destOrd="0" presId="urn:microsoft.com/office/officeart/2018/2/layout/IconCircleList"/>
    <dgm:cxn modelId="{60368C36-CBEE-4B88-A295-558D79A88C59}" type="presParOf" srcId="{1C5C8607-D0CD-4C93-80F1-89BA7C2A4DCF}" destId="{100C94A1-5969-4CCD-8587-021530C0F688}" srcOrd="3" destOrd="0" presId="urn:microsoft.com/office/officeart/2018/2/layout/IconCircleList"/>
    <dgm:cxn modelId="{CEDD1F42-3F2F-41A6-9585-66EE149EC16B}" type="presParOf" srcId="{CFCFBBA5-F06A-4AD2-8DF2-485F79979B5F}" destId="{076FFA6E-0ECA-4DCD-B214-9FA3A648CEFF}" srcOrd="3" destOrd="0" presId="urn:microsoft.com/office/officeart/2018/2/layout/IconCircleList"/>
    <dgm:cxn modelId="{25603059-5016-4FFE-9FE3-00E17A5A77F8}" type="presParOf" srcId="{CFCFBBA5-F06A-4AD2-8DF2-485F79979B5F}" destId="{2E3F114B-FF75-4A6A-A26E-6E81B070A83C}" srcOrd="4" destOrd="0" presId="urn:microsoft.com/office/officeart/2018/2/layout/IconCircleList"/>
    <dgm:cxn modelId="{9402DE9D-0FC2-4431-A1B9-E86E73807300}" type="presParOf" srcId="{2E3F114B-FF75-4A6A-A26E-6E81B070A83C}" destId="{E1C6783E-F08D-4168-91FF-9A32E39BF11A}" srcOrd="0" destOrd="0" presId="urn:microsoft.com/office/officeart/2018/2/layout/IconCircleList"/>
    <dgm:cxn modelId="{5FAA69D9-AD09-425E-9924-37B2C5894FDC}" type="presParOf" srcId="{2E3F114B-FF75-4A6A-A26E-6E81B070A83C}" destId="{AC8F68F5-3509-44C6-9F76-B737E23ACB74}" srcOrd="1" destOrd="0" presId="urn:microsoft.com/office/officeart/2018/2/layout/IconCircleList"/>
    <dgm:cxn modelId="{615434F6-8712-4255-860D-435BADDBF577}" type="presParOf" srcId="{2E3F114B-FF75-4A6A-A26E-6E81B070A83C}" destId="{9EFFB2A2-6202-4525-943C-DE901B97A6C1}" srcOrd="2" destOrd="0" presId="urn:microsoft.com/office/officeart/2018/2/layout/IconCircleList"/>
    <dgm:cxn modelId="{AB7ECC3D-9EE1-4577-B169-EA5EA401B190}" type="presParOf" srcId="{2E3F114B-FF75-4A6A-A26E-6E81B070A83C}" destId="{5F419A9A-5563-44AC-9480-4EE67FEDAA43}" srcOrd="3" destOrd="0" presId="urn:microsoft.com/office/officeart/2018/2/layout/IconCircleList"/>
    <dgm:cxn modelId="{53CEC626-1FFE-4CD6-B971-EEF3AA54D347}" type="presParOf" srcId="{CFCFBBA5-F06A-4AD2-8DF2-485F79979B5F}" destId="{376A0692-0903-41FE-BB7B-E97D7CE4682B}" srcOrd="5" destOrd="0" presId="urn:microsoft.com/office/officeart/2018/2/layout/IconCircleList"/>
    <dgm:cxn modelId="{6AD98103-9E26-4655-A4B9-0B5778139CCA}" type="presParOf" srcId="{CFCFBBA5-F06A-4AD2-8DF2-485F79979B5F}" destId="{4043376F-5DF6-44E4-B2DE-C6142749B450}" srcOrd="6" destOrd="0" presId="urn:microsoft.com/office/officeart/2018/2/layout/IconCircleList"/>
    <dgm:cxn modelId="{10DDB4F9-CBCD-4688-BB9B-8079AA62B795}" type="presParOf" srcId="{4043376F-5DF6-44E4-B2DE-C6142749B450}" destId="{7C5FB380-2FB6-4EF1-B02C-AF8E149AFBD5}" srcOrd="0" destOrd="0" presId="urn:microsoft.com/office/officeart/2018/2/layout/IconCircleList"/>
    <dgm:cxn modelId="{DC30EFCD-1A62-4884-8D27-D5593BB4B8A4}" type="presParOf" srcId="{4043376F-5DF6-44E4-B2DE-C6142749B450}" destId="{687A4463-FCC7-421E-A962-8AA5F7FB50F6}" srcOrd="1" destOrd="0" presId="urn:microsoft.com/office/officeart/2018/2/layout/IconCircleList"/>
    <dgm:cxn modelId="{A2E93339-2A0C-44F3-875F-008F1B95035F}" type="presParOf" srcId="{4043376F-5DF6-44E4-B2DE-C6142749B450}" destId="{EBB3B4EC-EE4B-4DC6-ACFA-33D9F9A3F8B0}" srcOrd="2" destOrd="0" presId="urn:microsoft.com/office/officeart/2018/2/layout/IconCircleList"/>
    <dgm:cxn modelId="{377426A2-770E-45B8-823E-38653C18612F}" type="presParOf" srcId="{4043376F-5DF6-44E4-B2DE-C6142749B450}" destId="{3F4E00BF-6142-4E6B-9578-5749BE0D6940}"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6339483-1F59-41EA-900B-6D7EEDCD47B0}">
      <dsp:nvSpPr>
        <dsp:cNvPr id="0" name=""/>
        <dsp:cNvSpPr/>
      </dsp:nvSpPr>
      <dsp:spPr>
        <a:xfrm>
          <a:off x="579720" y="943372"/>
          <a:ext cx="914602" cy="91460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46924BE-A424-4AA0-887A-7C38BB279016}">
      <dsp:nvSpPr>
        <dsp:cNvPr id="0" name=""/>
        <dsp:cNvSpPr/>
      </dsp:nvSpPr>
      <dsp:spPr>
        <a:xfrm>
          <a:off x="20796" y="2146627"/>
          <a:ext cx="2032451"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44550">
            <a:lnSpc>
              <a:spcPct val="100000"/>
            </a:lnSpc>
            <a:spcBef>
              <a:spcPct val="0"/>
            </a:spcBef>
            <a:spcAft>
              <a:spcPct val="35000"/>
            </a:spcAft>
            <a:buNone/>
          </a:pPr>
          <a:r>
            <a:rPr lang="en-US" sz="1900" kern="1200"/>
            <a:t>Objectives</a:t>
          </a:r>
        </a:p>
      </dsp:txBody>
      <dsp:txXfrm>
        <a:off x="20796" y="2146627"/>
        <a:ext cx="2032451" cy="720000"/>
      </dsp:txXfrm>
    </dsp:sp>
    <dsp:sp modelId="{1351BE46-6980-483B-8A30-D858CCD30360}">
      <dsp:nvSpPr>
        <dsp:cNvPr id="0" name=""/>
        <dsp:cNvSpPr/>
      </dsp:nvSpPr>
      <dsp:spPr>
        <a:xfrm>
          <a:off x="2967850" y="943372"/>
          <a:ext cx="914602" cy="91460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ED64D73-B854-498D-94A2-CA44373E9EE6}">
      <dsp:nvSpPr>
        <dsp:cNvPr id="0" name=""/>
        <dsp:cNvSpPr/>
      </dsp:nvSpPr>
      <dsp:spPr>
        <a:xfrm>
          <a:off x="2408926" y="2146627"/>
          <a:ext cx="2032451"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44550">
            <a:lnSpc>
              <a:spcPct val="100000"/>
            </a:lnSpc>
            <a:spcBef>
              <a:spcPct val="0"/>
            </a:spcBef>
            <a:spcAft>
              <a:spcPct val="35000"/>
            </a:spcAft>
            <a:buNone/>
          </a:pPr>
          <a:r>
            <a:rPr lang="en-US" sz="1900" kern="1200"/>
            <a:t>Data Analysis</a:t>
          </a:r>
        </a:p>
      </dsp:txBody>
      <dsp:txXfrm>
        <a:off x="2408926" y="2146627"/>
        <a:ext cx="2032451" cy="720000"/>
      </dsp:txXfrm>
    </dsp:sp>
    <dsp:sp modelId="{1A99E02B-5093-4EF7-AE02-1861A0A6CFC9}">
      <dsp:nvSpPr>
        <dsp:cNvPr id="0" name=""/>
        <dsp:cNvSpPr/>
      </dsp:nvSpPr>
      <dsp:spPr>
        <a:xfrm>
          <a:off x="5355980" y="943372"/>
          <a:ext cx="914602" cy="91460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2BA60C6-73A2-4DF5-B8D9-77B5339F848A}">
      <dsp:nvSpPr>
        <dsp:cNvPr id="0" name=""/>
        <dsp:cNvSpPr/>
      </dsp:nvSpPr>
      <dsp:spPr>
        <a:xfrm>
          <a:off x="4797056" y="2146627"/>
          <a:ext cx="2032451"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44550">
            <a:lnSpc>
              <a:spcPct val="100000"/>
            </a:lnSpc>
            <a:spcBef>
              <a:spcPct val="0"/>
            </a:spcBef>
            <a:spcAft>
              <a:spcPct val="35000"/>
            </a:spcAft>
            <a:buNone/>
          </a:pPr>
          <a:r>
            <a:rPr lang="en-US" sz="1900" kern="1200"/>
            <a:t>Project Limitations</a:t>
          </a:r>
        </a:p>
      </dsp:txBody>
      <dsp:txXfrm>
        <a:off x="4797056" y="2146627"/>
        <a:ext cx="2032451" cy="720000"/>
      </dsp:txXfrm>
    </dsp:sp>
    <dsp:sp modelId="{7DE8870B-A0A7-4D8F-B606-FDDD04A8B330}">
      <dsp:nvSpPr>
        <dsp:cNvPr id="0" name=""/>
        <dsp:cNvSpPr/>
      </dsp:nvSpPr>
      <dsp:spPr>
        <a:xfrm>
          <a:off x="7744110" y="943372"/>
          <a:ext cx="914602" cy="914602"/>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D0D3993-7C16-451A-BCE9-7F776469BE81}">
      <dsp:nvSpPr>
        <dsp:cNvPr id="0" name=""/>
        <dsp:cNvSpPr/>
      </dsp:nvSpPr>
      <dsp:spPr>
        <a:xfrm>
          <a:off x="7185186" y="2146627"/>
          <a:ext cx="2032451"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44550">
            <a:lnSpc>
              <a:spcPct val="100000"/>
            </a:lnSpc>
            <a:spcBef>
              <a:spcPct val="0"/>
            </a:spcBef>
            <a:spcAft>
              <a:spcPct val="35000"/>
            </a:spcAft>
            <a:buNone/>
          </a:pPr>
          <a:r>
            <a:rPr lang="en-US" sz="1900" kern="1200"/>
            <a:t>Recommendations</a:t>
          </a:r>
        </a:p>
      </dsp:txBody>
      <dsp:txXfrm>
        <a:off x="7185186" y="2146627"/>
        <a:ext cx="2032451" cy="720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9A36A2B-89FF-4CC1-9DB8-55E33584B5A8}">
      <dsp:nvSpPr>
        <dsp:cNvPr id="0" name=""/>
        <dsp:cNvSpPr/>
      </dsp:nvSpPr>
      <dsp:spPr>
        <a:xfrm>
          <a:off x="0" y="603"/>
          <a:ext cx="11245174" cy="1411555"/>
        </a:xfrm>
        <a:prstGeom prst="roundRect">
          <a:avLst>
            <a:gd name="adj" fmla="val 10000"/>
          </a:avLst>
        </a:prstGeom>
        <a:solidFill>
          <a:schemeClr val="accent2">
            <a:lumMod val="20000"/>
            <a:lumOff val="80000"/>
          </a:schemeClr>
        </a:solidFill>
        <a:ln>
          <a:noFill/>
        </a:ln>
        <a:effectLst/>
      </dsp:spPr>
      <dsp:style>
        <a:lnRef idx="0">
          <a:scrgbClr r="0" g="0" b="0"/>
        </a:lnRef>
        <a:fillRef idx="1">
          <a:scrgbClr r="0" g="0" b="0"/>
        </a:fillRef>
        <a:effectRef idx="0">
          <a:scrgbClr r="0" g="0" b="0"/>
        </a:effectRef>
        <a:fontRef idx="minor"/>
      </dsp:style>
    </dsp:sp>
    <dsp:sp modelId="{E4D4C96A-9839-4258-B300-3D4E292367AD}">
      <dsp:nvSpPr>
        <dsp:cNvPr id="0" name=""/>
        <dsp:cNvSpPr/>
      </dsp:nvSpPr>
      <dsp:spPr>
        <a:xfrm>
          <a:off x="426995" y="318203"/>
          <a:ext cx="776355" cy="77635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659BFDC-B87A-439C-8858-27D5CDD17118}">
      <dsp:nvSpPr>
        <dsp:cNvPr id="0" name=""/>
        <dsp:cNvSpPr/>
      </dsp:nvSpPr>
      <dsp:spPr>
        <a:xfrm>
          <a:off x="1630346" y="603"/>
          <a:ext cx="9614827" cy="14115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9390" tIns="149390" rIns="149390" bIns="149390" numCol="1" spcCol="1270" anchor="ctr" anchorCtr="0">
          <a:noAutofit/>
        </a:bodyPr>
        <a:lstStyle/>
        <a:p>
          <a:pPr marL="0" lvl="0" indent="0" algn="l" defTabSz="1022350">
            <a:lnSpc>
              <a:spcPct val="100000"/>
            </a:lnSpc>
            <a:spcBef>
              <a:spcPct val="0"/>
            </a:spcBef>
            <a:spcAft>
              <a:spcPct val="35000"/>
            </a:spcAft>
            <a:buNone/>
          </a:pPr>
          <a:r>
            <a:rPr lang="en-US" sz="2300" b="1" i="0" kern="1200" dirty="0">
              <a:solidFill>
                <a:schemeClr val="bg1"/>
              </a:solidFill>
              <a:effectLst/>
              <a:latin typeface="-apple-system"/>
            </a:rPr>
            <a:t>Track Loan Applications</a:t>
          </a:r>
          <a:r>
            <a:rPr lang="en-US" sz="2300" b="0" i="0" kern="1200" dirty="0">
              <a:solidFill>
                <a:schemeClr val="bg1"/>
              </a:solidFill>
              <a:effectLst/>
              <a:latin typeface="-apple-system"/>
            </a:rPr>
            <a:t>: Measure the total number of loan applications, including Month-to-Date (MTD) and Month-over-Month (MoM) changes, to gain insight into the trends and demands of loan applicants.</a:t>
          </a:r>
          <a:endParaRPr lang="en-US" sz="2300" kern="1200" dirty="0">
            <a:solidFill>
              <a:schemeClr val="bg1"/>
            </a:solidFill>
          </a:endParaRPr>
        </a:p>
      </dsp:txBody>
      <dsp:txXfrm>
        <a:off x="1630346" y="603"/>
        <a:ext cx="9614827" cy="1411555"/>
      </dsp:txXfrm>
    </dsp:sp>
    <dsp:sp modelId="{9E0A31CD-27D6-45EE-8E4A-D55E781E8E08}">
      <dsp:nvSpPr>
        <dsp:cNvPr id="0" name=""/>
        <dsp:cNvSpPr/>
      </dsp:nvSpPr>
      <dsp:spPr>
        <a:xfrm>
          <a:off x="0" y="1765047"/>
          <a:ext cx="11245174" cy="1411555"/>
        </a:xfrm>
        <a:prstGeom prst="roundRect">
          <a:avLst>
            <a:gd name="adj" fmla="val 10000"/>
          </a:avLst>
        </a:prstGeom>
        <a:solidFill>
          <a:schemeClr val="accent2">
            <a:lumMod val="20000"/>
            <a:lumOff val="80000"/>
          </a:schemeClr>
        </a:solidFill>
        <a:ln>
          <a:noFill/>
        </a:ln>
        <a:effectLst/>
      </dsp:spPr>
      <dsp:style>
        <a:lnRef idx="0">
          <a:scrgbClr r="0" g="0" b="0"/>
        </a:lnRef>
        <a:fillRef idx="1">
          <a:scrgbClr r="0" g="0" b="0"/>
        </a:fillRef>
        <a:effectRef idx="0">
          <a:scrgbClr r="0" g="0" b="0"/>
        </a:effectRef>
        <a:fontRef idx="minor"/>
      </dsp:style>
    </dsp:sp>
    <dsp:sp modelId="{F84090DD-AB54-49A6-BFE1-189F10AB326F}">
      <dsp:nvSpPr>
        <dsp:cNvPr id="0" name=""/>
        <dsp:cNvSpPr/>
      </dsp:nvSpPr>
      <dsp:spPr>
        <a:xfrm>
          <a:off x="426995" y="2082647"/>
          <a:ext cx="776355" cy="77635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7690FC5-E650-446A-BD28-C4000D814BD6}">
      <dsp:nvSpPr>
        <dsp:cNvPr id="0" name=""/>
        <dsp:cNvSpPr/>
      </dsp:nvSpPr>
      <dsp:spPr>
        <a:xfrm>
          <a:off x="1630346" y="1765047"/>
          <a:ext cx="9614827" cy="14115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9390" tIns="149390" rIns="149390" bIns="149390" numCol="1" spcCol="1270" anchor="ctr" anchorCtr="0">
          <a:noAutofit/>
        </a:bodyPr>
        <a:lstStyle/>
        <a:p>
          <a:pPr marL="0" lvl="0" indent="0" algn="l" defTabSz="1022350">
            <a:lnSpc>
              <a:spcPct val="100000"/>
            </a:lnSpc>
            <a:spcBef>
              <a:spcPct val="0"/>
            </a:spcBef>
            <a:spcAft>
              <a:spcPct val="35000"/>
            </a:spcAft>
            <a:buNone/>
          </a:pPr>
          <a:r>
            <a:rPr lang="en-US" sz="2300" b="1" i="0" kern="1200" dirty="0">
              <a:solidFill>
                <a:schemeClr val="bg1"/>
              </a:solidFill>
              <a:effectLst/>
              <a:latin typeface="-apple-system"/>
            </a:rPr>
            <a:t>Monitor Disbursed Loans</a:t>
          </a:r>
          <a:r>
            <a:rPr lang="en-US" sz="2300" b="0" i="0" kern="1200" dirty="0">
              <a:solidFill>
                <a:schemeClr val="bg1"/>
              </a:solidFill>
              <a:effectLst/>
              <a:latin typeface="-apple-system"/>
            </a:rPr>
            <a:t>: Calculate and track the total amount of loans funded during a specific period, including MTD funded loans and MoM changes, to understand lending volumes and variations over time.</a:t>
          </a:r>
          <a:endParaRPr lang="en-US" sz="2300" kern="1200" dirty="0">
            <a:solidFill>
              <a:schemeClr val="bg1"/>
            </a:solidFill>
          </a:endParaRPr>
        </a:p>
      </dsp:txBody>
      <dsp:txXfrm>
        <a:off x="1630346" y="1765047"/>
        <a:ext cx="9614827" cy="1411555"/>
      </dsp:txXfrm>
    </dsp:sp>
    <dsp:sp modelId="{FE77F016-6ACC-4557-8FE3-FC03CAF8783C}">
      <dsp:nvSpPr>
        <dsp:cNvPr id="0" name=""/>
        <dsp:cNvSpPr/>
      </dsp:nvSpPr>
      <dsp:spPr>
        <a:xfrm>
          <a:off x="0" y="3529491"/>
          <a:ext cx="11245174" cy="1411555"/>
        </a:xfrm>
        <a:prstGeom prst="roundRect">
          <a:avLst>
            <a:gd name="adj" fmla="val 10000"/>
          </a:avLst>
        </a:prstGeom>
        <a:solidFill>
          <a:schemeClr val="accent2">
            <a:lumMod val="20000"/>
            <a:lumOff val="80000"/>
          </a:schemeClr>
        </a:solidFill>
        <a:ln>
          <a:noFill/>
        </a:ln>
        <a:effectLst/>
      </dsp:spPr>
      <dsp:style>
        <a:lnRef idx="0">
          <a:scrgbClr r="0" g="0" b="0"/>
        </a:lnRef>
        <a:fillRef idx="1">
          <a:scrgbClr r="0" g="0" b="0"/>
        </a:fillRef>
        <a:effectRef idx="0">
          <a:scrgbClr r="0" g="0" b="0"/>
        </a:effectRef>
        <a:fontRef idx="minor"/>
      </dsp:style>
    </dsp:sp>
    <dsp:sp modelId="{E7D61E94-E8D4-41D7-BF51-6A4C0433A39F}">
      <dsp:nvSpPr>
        <dsp:cNvPr id="0" name=""/>
        <dsp:cNvSpPr/>
      </dsp:nvSpPr>
      <dsp:spPr>
        <a:xfrm>
          <a:off x="426995" y="3847091"/>
          <a:ext cx="776355" cy="77635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75E7982-8E2F-4C2A-BC68-D166A4F3552A}">
      <dsp:nvSpPr>
        <dsp:cNvPr id="0" name=""/>
        <dsp:cNvSpPr/>
      </dsp:nvSpPr>
      <dsp:spPr>
        <a:xfrm>
          <a:off x="1630346" y="3529491"/>
          <a:ext cx="9614827" cy="14115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9390" tIns="149390" rIns="149390" bIns="149390" numCol="1" spcCol="1270" anchor="ctr" anchorCtr="0">
          <a:noAutofit/>
        </a:bodyPr>
        <a:lstStyle/>
        <a:p>
          <a:pPr marL="0" lvl="0" indent="0" algn="l" defTabSz="1022350">
            <a:lnSpc>
              <a:spcPct val="100000"/>
            </a:lnSpc>
            <a:spcBef>
              <a:spcPct val="0"/>
            </a:spcBef>
            <a:spcAft>
              <a:spcPct val="35000"/>
            </a:spcAft>
            <a:buNone/>
          </a:pPr>
          <a:r>
            <a:rPr lang="en-US" sz="2300" b="1" i="0" kern="1200" dirty="0">
              <a:solidFill>
                <a:schemeClr val="bg1"/>
              </a:solidFill>
              <a:effectLst/>
              <a:latin typeface="-apple-system"/>
            </a:rPr>
            <a:t>Assess Loan Repayment</a:t>
          </a:r>
          <a:r>
            <a:rPr lang="en-US" sz="2300" b="0" i="0" kern="1200" dirty="0">
              <a:solidFill>
                <a:schemeClr val="bg1"/>
              </a:solidFill>
              <a:effectLst/>
              <a:latin typeface="-apple-system"/>
            </a:rPr>
            <a:t>: Track the total amount received from borrowers and analyze MTD and MoM changes to evaluate the bank's cash flow and repayment patterns.</a:t>
          </a:r>
          <a:endParaRPr lang="en-US" sz="2300" kern="1200" dirty="0">
            <a:solidFill>
              <a:schemeClr val="bg1"/>
            </a:solidFill>
          </a:endParaRPr>
        </a:p>
      </dsp:txBody>
      <dsp:txXfrm>
        <a:off x="1630346" y="3529491"/>
        <a:ext cx="9614827" cy="141155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9A36A2B-89FF-4CC1-9DB8-55E33584B5A8}">
      <dsp:nvSpPr>
        <dsp:cNvPr id="0" name=""/>
        <dsp:cNvSpPr/>
      </dsp:nvSpPr>
      <dsp:spPr>
        <a:xfrm>
          <a:off x="0" y="603"/>
          <a:ext cx="11245174" cy="1411555"/>
        </a:xfrm>
        <a:prstGeom prst="roundRect">
          <a:avLst>
            <a:gd name="adj" fmla="val 10000"/>
          </a:avLst>
        </a:prstGeom>
        <a:solidFill>
          <a:schemeClr val="accent2">
            <a:lumMod val="20000"/>
            <a:lumOff val="80000"/>
          </a:schemeClr>
        </a:solidFill>
        <a:ln>
          <a:noFill/>
        </a:ln>
        <a:effectLst/>
      </dsp:spPr>
      <dsp:style>
        <a:lnRef idx="0">
          <a:scrgbClr r="0" g="0" b="0"/>
        </a:lnRef>
        <a:fillRef idx="1">
          <a:scrgbClr r="0" g="0" b="0"/>
        </a:fillRef>
        <a:effectRef idx="0">
          <a:scrgbClr r="0" g="0" b="0"/>
        </a:effectRef>
        <a:fontRef idx="minor"/>
      </dsp:style>
    </dsp:sp>
    <dsp:sp modelId="{E4D4C96A-9839-4258-B300-3D4E292367AD}">
      <dsp:nvSpPr>
        <dsp:cNvPr id="0" name=""/>
        <dsp:cNvSpPr/>
      </dsp:nvSpPr>
      <dsp:spPr>
        <a:xfrm>
          <a:off x="535545" y="3888258"/>
          <a:ext cx="776355" cy="77635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659BFDC-B87A-439C-8858-27D5CDD17118}">
      <dsp:nvSpPr>
        <dsp:cNvPr id="0" name=""/>
        <dsp:cNvSpPr/>
      </dsp:nvSpPr>
      <dsp:spPr>
        <a:xfrm>
          <a:off x="1630346" y="603"/>
          <a:ext cx="9614827" cy="14115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9390" tIns="149390" rIns="149390" bIns="149390" numCol="1" spcCol="1270" anchor="ctr" anchorCtr="0">
          <a:noAutofit/>
        </a:bodyPr>
        <a:lstStyle/>
        <a:p>
          <a:pPr marL="0" lvl="0" indent="0" algn="l" defTabSz="933450">
            <a:lnSpc>
              <a:spcPct val="100000"/>
            </a:lnSpc>
            <a:spcBef>
              <a:spcPct val="0"/>
            </a:spcBef>
            <a:spcAft>
              <a:spcPct val="35000"/>
            </a:spcAft>
            <a:buNone/>
          </a:pPr>
          <a:r>
            <a:rPr lang="en-US" sz="2100" b="1" i="0" kern="1200" dirty="0">
              <a:solidFill>
                <a:schemeClr val="bg1"/>
              </a:solidFill>
              <a:effectLst/>
              <a:latin typeface="-apple-system"/>
            </a:rPr>
            <a:t>Analyze Financial Health</a:t>
          </a:r>
          <a:r>
            <a:rPr lang="en-US" sz="2100" b="0" i="0" kern="1200" dirty="0">
              <a:solidFill>
                <a:schemeClr val="bg1"/>
              </a:solidFill>
              <a:effectLst/>
              <a:latin typeface="-apple-system"/>
            </a:rPr>
            <a:t>: Calculate the average interest rate and Debt-to-Income (DTI) ratio across all loans, providing a comprehensive look at the cost of lending and the financial stability of borrowers.</a:t>
          </a:r>
          <a:endParaRPr lang="en-US" sz="2100" kern="1200" dirty="0">
            <a:solidFill>
              <a:schemeClr val="bg1"/>
            </a:solidFill>
          </a:endParaRPr>
        </a:p>
      </dsp:txBody>
      <dsp:txXfrm>
        <a:off x="1630346" y="603"/>
        <a:ext cx="9614827" cy="1411555"/>
      </dsp:txXfrm>
    </dsp:sp>
    <dsp:sp modelId="{9E0A31CD-27D6-45EE-8E4A-D55E781E8E08}">
      <dsp:nvSpPr>
        <dsp:cNvPr id="0" name=""/>
        <dsp:cNvSpPr/>
      </dsp:nvSpPr>
      <dsp:spPr>
        <a:xfrm>
          <a:off x="0" y="1765047"/>
          <a:ext cx="11245174" cy="1411555"/>
        </a:xfrm>
        <a:prstGeom prst="roundRect">
          <a:avLst>
            <a:gd name="adj" fmla="val 10000"/>
          </a:avLst>
        </a:prstGeom>
        <a:solidFill>
          <a:schemeClr val="accent2">
            <a:lumMod val="20000"/>
            <a:lumOff val="80000"/>
          </a:schemeClr>
        </a:solidFill>
        <a:ln>
          <a:noFill/>
        </a:ln>
        <a:effectLst/>
      </dsp:spPr>
      <dsp:style>
        <a:lnRef idx="0">
          <a:scrgbClr r="0" g="0" b="0"/>
        </a:lnRef>
        <a:fillRef idx="1">
          <a:scrgbClr r="0" g="0" b="0"/>
        </a:fillRef>
        <a:effectRef idx="0">
          <a:scrgbClr r="0" g="0" b="0"/>
        </a:effectRef>
        <a:fontRef idx="minor"/>
      </dsp:style>
    </dsp:sp>
    <dsp:sp modelId="{F84090DD-AB54-49A6-BFE1-189F10AB326F}">
      <dsp:nvSpPr>
        <dsp:cNvPr id="0" name=""/>
        <dsp:cNvSpPr/>
      </dsp:nvSpPr>
      <dsp:spPr>
        <a:xfrm flipH="1" flipV="1">
          <a:off x="10350017" y="4635956"/>
          <a:ext cx="622784" cy="10334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7690FC5-E650-446A-BD28-C4000D814BD6}">
      <dsp:nvSpPr>
        <dsp:cNvPr id="0" name=""/>
        <dsp:cNvSpPr/>
      </dsp:nvSpPr>
      <dsp:spPr>
        <a:xfrm>
          <a:off x="1630346" y="1765047"/>
          <a:ext cx="9614827" cy="14115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9390" tIns="149390" rIns="149390" bIns="149390" numCol="1" spcCol="1270" anchor="ctr" anchorCtr="0">
          <a:noAutofit/>
        </a:bodyPr>
        <a:lstStyle/>
        <a:p>
          <a:pPr marL="0" lvl="0" indent="0" algn="l" defTabSz="933450">
            <a:lnSpc>
              <a:spcPct val="100000"/>
            </a:lnSpc>
            <a:spcBef>
              <a:spcPct val="0"/>
            </a:spcBef>
            <a:spcAft>
              <a:spcPct val="35000"/>
            </a:spcAft>
            <a:buNone/>
          </a:pPr>
          <a:r>
            <a:rPr lang="en-US" sz="2100" b="1" i="0" kern="1200" dirty="0">
              <a:solidFill>
                <a:schemeClr val="bg1"/>
              </a:solidFill>
              <a:effectLst/>
              <a:latin typeface="-apple-system"/>
            </a:rPr>
            <a:t>Visualize Lending Patterns</a:t>
          </a:r>
          <a:r>
            <a:rPr lang="en-US" sz="2100" b="0" i="0" kern="1200" dirty="0">
              <a:solidFill>
                <a:schemeClr val="bg1"/>
              </a:solidFill>
              <a:effectLst/>
              <a:latin typeface="-apple-system"/>
            </a:rPr>
            <a:t>: Provide detailed data visualizations, including monthly trends, regional analysis, loan term distributions, and borrower demographics, allowing for better insights into loan activity across different dimensions.</a:t>
          </a:r>
          <a:endParaRPr lang="en-US" sz="2100" kern="1200" dirty="0">
            <a:solidFill>
              <a:schemeClr val="bg1"/>
            </a:solidFill>
          </a:endParaRPr>
        </a:p>
      </dsp:txBody>
      <dsp:txXfrm>
        <a:off x="1630346" y="1765047"/>
        <a:ext cx="9614827" cy="1411555"/>
      </dsp:txXfrm>
    </dsp:sp>
    <dsp:sp modelId="{FE77F016-6ACC-4557-8FE3-FC03CAF8783C}">
      <dsp:nvSpPr>
        <dsp:cNvPr id="0" name=""/>
        <dsp:cNvSpPr/>
      </dsp:nvSpPr>
      <dsp:spPr>
        <a:xfrm>
          <a:off x="0" y="3530094"/>
          <a:ext cx="11245174" cy="1411555"/>
        </a:xfrm>
        <a:prstGeom prst="roundRect">
          <a:avLst>
            <a:gd name="adj" fmla="val 10000"/>
          </a:avLst>
        </a:prstGeom>
        <a:solidFill>
          <a:schemeClr val="accent2">
            <a:lumMod val="20000"/>
            <a:lumOff val="80000"/>
          </a:schemeClr>
        </a:solidFill>
        <a:ln>
          <a:noFill/>
        </a:ln>
        <a:effectLst/>
      </dsp:spPr>
      <dsp:style>
        <a:lnRef idx="0">
          <a:scrgbClr r="0" g="0" b="0"/>
        </a:lnRef>
        <a:fillRef idx="1">
          <a:scrgbClr r="0" g="0" b="0"/>
        </a:fillRef>
        <a:effectRef idx="0">
          <a:scrgbClr r="0" g="0" b="0"/>
        </a:effectRef>
        <a:fontRef idx="minor"/>
      </dsp:style>
    </dsp:sp>
    <dsp:sp modelId="{E7D61E94-E8D4-41D7-BF51-6A4C0433A39F}">
      <dsp:nvSpPr>
        <dsp:cNvPr id="0" name=""/>
        <dsp:cNvSpPr/>
      </dsp:nvSpPr>
      <dsp:spPr>
        <a:xfrm>
          <a:off x="426995" y="277036"/>
          <a:ext cx="776355" cy="77635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75E7982-8E2F-4C2A-BC68-D166A4F3552A}">
      <dsp:nvSpPr>
        <dsp:cNvPr id="0" name=""/>
        <dsp:cNvSpPr/>
      </dsp:nvSpPr>
      <dsp:spPr>
        <a:xfrm>
          <a:off x="1630346" y="3529491"/>
          <a:ext cx="9614827" cy="14115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9390" tIns="149390" rIns="149390" bIns="149390" numCol="1" spcCol="1270" anchor="ctr" anchorCtr="0">
          <a:noAutofit/>
        </a:bodyPr>
        <a:lstStyle/>
        <a:p>
          <a:pPr marL="0" lvl="0" indent="0" algn="l" defTabSz="933450">
            <a:lnSpc>
              <a:spcPct val="100000"/>
            </a:lnSpc>
            <a:spcBef>
              <a:spcPct val="0"/>
            </a:spcBef>
            <a:spcAft>
              <a:spcPct val="35000"/>
            </a:spcAft>
            <a:buNone/>
          </a:pPr>
          <a:r>
            <a:rPr lang="en-US" sz="2100" b="1" i="0" kern="1200" dirty="0">
              <a:solidFill>
                <a:schemeClr val="bg1"/>
              </a:solidFill>
              <a:effectLst/>
              <a:latin typeface="-apple-system"/>
            </a:rPr>
            <a:t>Support Decision-Making</a:t>
          </a:r>
          <a:r>
            <a:rPr lang="en-US" sz="2100" b="0" i="0" kern="1200" dirty="0">
              <a:solidFill>
                <a:schemeClr val="bg1"/>
              </a:solidFill>
              <a:effectLst/>
              <a:latin typeface="-apple-system"/>
            </a:rPr>
            <a:t>: Enable stakeholders to make data-informed decisions by identifying lending trends, understanding borrower behavior, and recognizing regional disparities in loan applications and funding.</a:t>
          </a:r>
          <a:endParaRPr lang="en-US" sz="2100" kern="1200" dirty="0">
            <a:solidFill>
              <a:schemeClr val="bg1"/>
            </a:solidFill>
          </a:endParaRPr>
        </a:p>
      </dsp:txBody>
      <dsp:txXfrm>
        <a:off x="1630346" y="3529491"/>
        <a:ext cx="9614827" cy="141155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546DBC7-D2D4-4CBB-AAB3-C6F923D264D3}">
      <dsp:nvSpPr>
        <dsp:cNvPr id="0" name=""/>
        <dsp:cNvSpPr/>
      </dsp:nvSpPr>
      <dsp:spPr>
        <a:xfrm>
          <a:off x="119977" y="1030362"/>
          <a:ext cx="1355491" cy="1355491"/>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36755CD-5A8C-4CB3-B82B-CA7D1752EC06}">
      <dsp:nvSpPr>
        <dsp:cNvPr id="0" name=""/>
        <dsp:cNvSpPr/>
      </dsp:nvSpPr>
      <dsp:spPr>
        <a:xfrm>
          <a:off x="404631" y="1315015"/>
          <a:ext cx="786185" cy="78618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5FBCD0F-E00D-40BC-AB37-59EBDDB8EF65}">
      <dsp:nvSpPr>
        <dsp:cNvPr id="0" name=""/>
        <dsp:cNvSpPr/>
      </dsp:nvSpPr>
      <dsp:spPr>
        <a:xfrm>
          <a:off x="1713452" y="592491"/>
          <a:ext cx="3300046" cy="22312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100000"/>
            </a:lnSpc>
            <a:spcBef>
              <a:spcPct val="0"/>
            </a:spcBef>
            <a:spcAft>
              <a:spcPct val="35000"/>
            </a:spcAft>
            <a:buNone/>
          </a:pPr>
          <a:r>
            <a:rPr lang="en-US" sz="1400" b="0" u="sng" kern="1200" dirty="0">
              <a:latin typeface="Aptos" panose="020B0004020202020204" pitchFamily="34" charset="0"/>
            </a:rPr>
            <a:t>Limited Data on Certain Demographics: </a:t>
          </a:r>
        </a:p>
        <a:p>
          <a:pPr marL="0" lvl="0" indent="0" algn="l" defTabSz="622300">
            <a:lnSpc>
              <a:spcPct val="100000"/>
            </a:lnSpc>
            <a:spcBef>
              <a:spcPct val="0"/>
            </a:spcBef>
            <a:spcAft>
              <a:spcPct val="35000"/>
            </a:spcAft>
            <a:buNone/>
          </a:pPr>
          <a:r>
            <a:rPr lang="en-US" sz="1400" b="0" u="none" kern="1200" dirty="0">
              <a:latin typeface="Aptos" panose="020B0004020202020204" pitchFamily="34" charset="0"/>
            </a:rPr>
            <a:t>There is very little data on loan applications from the "none" and "other" homeownership categories. This limits the bank's understanding of potential market opportunities or challenges in these smaller segments.</a:t>
          </a:r>
        </a:p>
      </dsp:txBody>
      <dsp:txXfrm>
        <a:off x="1713452" y="592491"/>
        <a:ext cx="3300046" cy="2231234"/>
      </dsp:txXfrm>
    </dsp:sp>
    <dsp:sp modelId="{90A54723-7894-442E-A415-87A507A71976}">
      <dsp:nvSpPr>
        <dsp:cNvPr id="0" name=""/>
        <dsp:cNvSpPr/>
      </dsp:nvSpPr>
      <dsp:spPr>
        <a:xfrm>
          <a:off x="5570219" y="1030362"/>
          <a:ext cx="1355491" cy="1355491"/>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0992C84-73DD-4663-94C5-18B51AE29B08}">
      <dsp:nvSpPr>
        <dsp:cNvPr id="0" name=""/>
        <dsp:cNvSpPr/>
      </dsp:nvSpPr>
      <dsp:spPr>
        <a:xfrm>
          <a:off x="5841240" y="1315015"/>
          <a:ext cx="786185" cy="78618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00C94A1-5969-4CCD-8587-021530C0F688}">
      <dsp:nvSpPr>
        <dsp:cNvPr id="0" name=""/>
        <dsp:cNvSpPr/>
      </dsp:nvSpPr>
      <dsp:spPr>
        <a:xfrm>
          <a:off x="7008077" y="683031"/>
          <a:ext cx="3611280" cy="20501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100000"/>
            </a:lnSpc>
            <a:spcBef>
              <a:spcPct val="0"/>
            </a:spcBef>
            <a:spcAft>
              <a:spcPct val="35000"/>
            </a:spcAft>
            <a:buNone/>
          </a:pPr>
          <a:r>
            <a:rPr lang="en-US" sz="1400" u="sng" kern="1200" dirty="0">
              <a:latin typeface="Aptos" panose="020B0004020202020204" pitchFamily="34" charset="0"/>
            </a:rPr>
            <a:t>Narrow Loan Terms</a:t>
          </a:r>
          <a:r>
            <a:rPr lang="en-US" sz="1400" u="none" kern="1200" dirty="0">
              <a:latin typeface="Aptos" panose="020B0004020202020204" pitchFamily="34" charset="0"/>
            </a:rPr>
            <a:t>:</a:t>
          </a:r>
        </a:p>
        <a:p>
          <a:pPr marL="0" lvl="0" indent="0" algn="l" defTabSz="622300">
            <a:lnSpc>
              <a:spcPct val="100000"/>
            </a:lnSpc>
            <a:spcBef>
              <a:spcPct val="0"/>
            </a:spcBef>
            <a:spcAft>
              <a:spcPct val="35000"/>
            </a:spcAft>
            <a:buNone/>
          </a:pPr>
          <a:r>
            <a:rPr lang="en-US" sz="1400" u="none" kern="1200" dirty="0">
              <a:latin typeface="Aptos" panose="020B0004020202020204" pitchFamily="34" charset="0"/>
            </a:rPr>
            <a:t> The data only reflects two loan term options: 36 months and 60 months, which limits insight into customer preferences for other potential loan durations, such as shorter-term or longer-term loans (e.g., 12 months, 48 months). This gap restricts understanding of broader customer needs.</a:t>
          </a:r>
        </a:p>
      </dsp:txBody>
      <dsp:txXfrm>
        <a:off x="7008077" y="683031"/>
        <a:ext cx="3611280" cy="2050154"/>
      </dsp:txXfrm>
    </dsp:sp>
    <dsp:sp modelId="{E1C6783E-F08D-4168-91FF-9A32E39BF11A}">
      <dsp:nvSpPr>
        <dsp:cNvPr id="0" name=""/>
        <dsp:cNvSpPr/>
      </dsp:nvSpPr>
      <dsp:spPr>
        <a:xfrm>
          <a:off x="119977" y="3801063"/>
          <a:ext cx="1355491" cy="1355491"/>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C8F68F5-3509-44C6-9F76-B737E23ACB74}">
      <dsp:nvSpPr>
        <dsp:cNvPr id="0" name=""/>
        <dsp:cNvSpPr/>
      </dsp:nvSpPr>
      <dsp:spPr>
        <a:xfrm>
          <a:off x="404631" y="4085717"/>
          <a:ext cx="786185" cy="78618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F419A9A-5563-44AC-9480-4EE67FEDAA43}">
      <dsp:nvSpPr>
        <dsp:cNvPr id="0" name=""/>
        <dsp:cNvSpPr/>
      </dsp:nvSpPr>
      <dsp:spPr>
        <a:xfrm>
          <a:off x="1765932" y="3801063"/>
          <a:ext cx="3195088" cy="13554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100000"/>
            </a:lnSpc>
            <a:spcBef>
              <a:spcPct val="0"/>
            </a:spcBef>
            <a:spcAft>
              <a:spcPct val="35000"/>
            </a:spcAft>
            <a:buNone/>
          </a:pPr>
          <a:r>
            <a:rPr lang="en-US" sz="1400" b="0" u="sng" kern="1200" dirty="0">
              <a:latin typeface="Aptos" panose="020B0004020202020204" pitchFamily="34" charset="0"/>
            </a:rPr>
            <a:t>Lack of Creditworthiness Data: </a:t>
          </a:r>
        </a:p>
        <a:p>
          <a:pPr marL="0" lvl="0" indent="0" algn="l" defTabSz="622300">
            <a:lnSpc>
              <a:spcPct val="100000"/>
            </a:lnSpc>
            <a:spcBef>
              <a:spcPct val="0"/>
            </a:spcBef>
            <a:spcAft>
              <a:spcPct val="35000"/>
            </a:spcAft>
            <a:buNone/>
          </a:pPr>
          <a:r>
            <a:rPr lang="en-US" sz="1400" b="0" u="none" kern="1200" dirty="0">
              <a:latin typeface="Aptos" panose="020B0004020202020204" pitchFamily="34" charset="0"/>
            </a:rPr>
            <a:t>The analysis does not account for credit scores, income levels, or debt-to-income ratios. This omission limits the bank's ability to understand the risk associated with different borrower groups and the likelihood of defaults.</a:t>
          </a:r>
          <a:endParaRPr lang="en-US" sz="1400" b="0" u="none" kern="1200" dirty="0"/>
        </a:p>
      </dsp:txBody>
      <dsp:txXfrm>
        <a:off x="1765932" y="3801063"/>
        <a:ext cx="3195088" cy="1355491"/>
      </dsp:txXfrm>
    </dsp:sp>
    <dsp:sp modelId="{7C5FB380-2FB6-4EF1-B02C-AF8E149AFBD5}">
      <dsp:nvSpPr>
        <dsp:cNvPr id="0" name=""/>
        <dsp:cNvSpPr/>
      </dsp:nvSpPr>
      <dsp:spPr>
        <a:xfrm>
          <a:off x="5517740" y="3801063"/>
          <a:ext cx="1355491" cy="1355491"/>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87A4463-FCC7-421E-A962-8AA5F7FB50F6}">
      <dsp:nvSpPr>
        <dsp:cNvPr id="0" name=""/>
        <dsp:cNvSpPr/>
      </dsp:nvSpPr>
      <dsp:spPr>
        <a:xfrm>
          <a:off x="5832567" y="4065598"/>
          <a:ext cx="786185" cy="786185"/>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F4E00BF-6142-4E6B-9578-5749BE0D6940}">
      <dsp:nvSpPr>
        <dsp:cNvPr id="0" name=""/>
        <dsp:cNvSpPr/>
      </dsp:nvSpPr>
      <dsp:spPr>
        <a:xfrm>
          <a:off x="7163694" y="3801063"/>
          <a:ext cx="3195088" cy="13554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100000"/>
            </a:lnSpc>
            <a:spcBef>
              <a:spcPct val="0"/>
            </a:spcBef>
            <a:spcAft>
              <a:spcPct val="35000"/>
            </a:spcAft>
            <a:buNone/>
          </a:pPr>
          <a:r>
            <a:rPr lang="en-US" sz="1400" b="1" u="sng" kern="1200" dirty="0">
              <a:latin typeface="Aptos" panose="020B0004020202020204" pitchFamily="34" charset="0"/>
            </a:rPr>
            <a:t>Regional Disparities:</a:t>
          </a:r>
        </a:p>
        <a:p>
          <a:pPr marL="0" lvl="0" indent="0" algn="l" defTabSz="622300">
            <a:lnSpc>
              <a:spcPct val="100000"/>
            </a:lnSpc>
            <a:spcBef>
              <a:spcPct val="0"/>
            </a:spcBef>
            <a:spcAft>
              <a:spcPct val="35000"/>
            </a:spcAft>
            <a:buNone/>
          </a:pPr>
          <a:r>
            <a:rPr lang="en-US" sz="1400" b="0" u="none" kern="1200" dirty="0">
              <a:latin typeface="Aptos" panose="020B0004020202020204" pitchFamily="34" charset="0"/>
            </a:rPr>
            <a:t>Some states have negligible loan activity. The bank’s market penetration appears to be uneven across regions, potentially missing growth opportunities in underrepresented states.</a:t>
          </a:r>
        </a:p>
      </dsp:txBody>
      <dsp:txXfrm>
        <a:off x="7163694" y="3801063"/>
        <a:ext cx="3195088" cy="1355491"/>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30F8CF-692C-4963-8B5E-D1C0928CF160}"/>
              </a:ext>
            </a:extLst>
          </p:cNvPr>
          <p:cNvSpPr>
            <a:spLocks noGrp="1"/>
          </p:cNvSpPr>
          <p:nvPr>
            <p:ph type="ctrTitle"/>
          </p:nvPr>
        </p:nvSpPr>
        <p:spPr>
          <a:xfrm>
            <a:off x="1429612" y="1013984"/>
            <a:ext cx="7714388" cy="3260635"/>
          </a:xfrm>
        </p:spPr>
        <p:txBody>
          <a:bodyPr anchor="b"/>
          <a:lstStyle>
            <a:lvl1pPr algn="l">
              <a:defRPr sz="2800"/>
            </a:lvl1pPr>
          </a:lstStyle>
          <a:p>
            <a:r>
              <a:rPr lang="en-US" dirty="0"/>
              <a:t>Click to edit Master title style</a:t>
            </a:r>
          </a:p>
        </p:txBody>
      </p:sp>
      <p:sp>
        <p:nvSpPr>
          <p:cNvPr id="3" name="Subtitle 2">
            <a:extLst>
              <a:ext uri="{FF2B5EF4-FFF2-40B4-BE49-F238E27FC236}">
                <a16:creationId xmlns:a16="http://schemas.microsoft.com/office/drawing/2014/main" id="{9F419655-1613-4CC0-BBE9-BD2CB2C3C766}"/>
              </a:ext>
            </a:extLst>
          </p:cNvPr>
          <p:cNvSpPr>
            <a:spLocks noGrp="1"/>
          </p:cNvSpPr>
          <p:nvPr>
            <p:ph type="subTitle" idx="1"/>
          </p:nvPr>
        </p:nvSpPr>
        <p:spPr>
          <a:xfrm>
            <a:off x="1429612" y="4848464"/>
            <a:ext cx="7714388" cy="1085849"/>
          </a:xfrm>
        </p:spPr>
        <p:txBody>
          <a:bodyPr>
            <a:normAutofit/>
          </a:bodyPr>
          <a:lstStyle>
            <a:lvl1pPr marL="0" indent="0" algn="l">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40267FFF-6BC4-4DF0-BC55-B2C3BFD8ED12}"/>
              </a:ext>
            </a:extLst>
          </p:cNvPr>
          <p:cNvSpPr>
            <a:spLocks noGrp="1"/>
          </p:cNvSpPr>
          <p:nvPr>
            <p:ph type="dt" sz="half" idx="10"/>
          </p:nvPr>
        </p:nvSpPr>
        <p:spPr/>
        <p:txBody>
          <a:bodyPr/>
          <a:lstStyle/>
          <a:p>
            <a:fld id="{3C2B07E4-CDF9-4C88-A2F3-04620E58224D}" type="datetimeFigureOut">
              <a:rPr lang="en-US" smtClean="0"/>
              <a:t>10/7/2024</a:t>
            </a:fld>
            <a:endParaRPr lang="en-US"/>
          </a:p>
        </p:txBody>
      </p:sp>
      <p:sp>
        <p:nvSpPr>
          <p:cNvPr id="5" name="Footer Placeholder 4">
            <a:extLst>
              <a:ext uri="{FF2B5EF4-FFF2-40B4-BE49-F238E27FC236}">
                <a16:creationId xmlns:a16="http://schemas.microsoft.com/office/drawing/2014/main" id="{D6389830-A1B7-484B-832C-F64A558BDFE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4A8F727-72C8-47A9-8E54-AD84590286F9}"/>
              </a:ext>
            </a:extLst>
          </p:cNvPr>
          <p:cNvSpPr>
            <a:spLocks noGrp="1"/>
          </p:cNvSpPr>
          <p:nvPr>
            <p:ph type="sldNum" sz="quarter" idx="12"/>
          </p:nvPr>
        </p:nvSpPr>
        <p:spPr/>
        <p:txBody>
          <a:bodyPr/>
          <a:lstStyle/>
          <a:p>
            <a:fld id="{EFE71E98-A417-4ECC-ACEB-C0490C20DB04}" type="slidenum">
              <a:rPr lang="en-US" smtClean="0"/>
              <a:t>‹#›</a:t>
            </a:fld>
            <a:endParaRPr lang="en-US"/>
          </a:p>
        </p:txBody>
      </p:sp>
      <p:cxnSp>
        <p:nvCxnSpPr>
          <p:cNvPr id="7" name="Straight Connector 6">
            <a:extLst>
              <a:ext uri="{FF2B5EF4-FFF2-40B4-BE49-F238E27FC236}">
                <a16:creationId xmlns:a16="http://schemas.microsoft.com/office/drawing/2014/main" id="{AEED5540-64E5-4258-ABA4-753F07B71B38}"/>
              </a:ext>
            </a:extLst>
          </p:cNvPr>
          <p:cNvCxnSpPr>
            <a:cxnSpLocks/>
          </p:cNvCxnSpPr>
          <p:nvPr/>
        </p:nvCxnSpPr>
        <p:spPr>
          <a:xfrm>
            <a:off x="1524000" y="4571506"/>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128573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3EF94C-BCB1-4F4C-AF70-DD2A5C4E3318}"/>
              </a:ext>
            </a:extLst>
          </p:cNvPr>
          <p:cNvSpPr>
            <a:spLocks noGrp="1"/>
          </p:cNvSpPr>
          <p:nvPr>
            <p:ph type="title"/>
          </p:nvPr>
        </p:nvSpPr>
        <p:spPr>
          <a:xfrm>
            <a:off x="1429566" y="1045445"/>
            <a:ext cx="9238434" cy="857559"/>
          </a:xfrm>
        </p:spPr>
        <p:txBody>
          <a:bodyPr anchor="b"/>
          <a:lstStyle>
            <a:lvl1pPr>
              <a:defRPr>
                <a:solidFill>
                  <a:schemeClr val="tx1"/>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8A909B75-A057-44B5-872F-DF01BDC8EA07}"/>
              </a:ext>
            </a:extLst>
          </p:cNvPr>
          <p:cNvSpPr>
            <a:spLocks noGrp="1"/>
          </p:cNvSpPr>
          <p:nvPr>
            <p:ph idx="1"/>
          </p:nvPr>
        </p:nvSpPr>
        <p:spPr>
          <a:xfrm>
            <a:off x="1429566" y="2286000"/>
            <a:ext cx="9238434" cy="381000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9806260C-3219-4812-88F2-3162D37F293B}"/>
              </a:ext>
            </a:extLst>
          </p:cNvPr>
          <p:cNvSpPr>
            <a:spLocks noGrp="1"/>
          </p:cNvSpPr>
          <p:nvPr>
            <p:ph type="dt" sz="half" idx="10"/>
          </p:nvPr>
        </p:nvSpPr>
        <p:spPr/>
        <p:txBody>
          <a:bodyPr/>
          <a:lstStyle/>
          <a:p>
            <a:fld id="{3C2B07E4-CDF9-4C88-A2F3-04620E58224D}" type="datetimeFigureOut">
              <a:rPr lang="en-US" smtClean="0"/>
              <a:t>10/7/2024</a:t>
            </a:fld>
            <a:endParaRPr lang="en-US"/>
          </a:p>
        </p:txBody>
      </p:sp>
      <p:sp>
        <p:nvSpPr>
          <p:cNvPr id="5" name="Footer Placeholder 4">
            <a:extLst>
              <a:ext uri="{FF2B5EF4-FFF2-40B4-BE49-F238E27FC236}">
                <a16:creationId xmlns:a16="http://schemas.microsoft.com/office/drawing/2014/main" id="{F2762B73-9C01-4BE3-A199-782BE6EBA6E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A761492-EB56-4454-9D2A-8BB94AACB899}"/>
              </a:ext>
            </a:extLst>
          </p:cNvPr>
          <p:cNvSpPr>
            <a:spLocks noGrp="1"/>
          </p:cNvSpPr>
          <p:nvPr>
            <p:ph type="sldNum" sz="quarter" idx="12"/>
          </p:nvPr>
        </p:nvSpPr>
        <p:spPr/>
        <p:txBody>
          <a:bodyPr/>
          <a:lstStyle/>
          <a:p>
            <a:fld id="{EFE71E98-A417-4ECC-ACEB-C0490C20DB04}" type="slidenum">
              <a:rPr lang="en-US" smtClean="0"/>
              <a:t>‹#›</a:t>
            </a:fld>
            <a:endParaRPr lang="en-US"/>
          </a:p>
        </p:txBody>
      </p:sp>
    </p:spTree>
    <p:extLst>
      <p:ext uri="{BB962C8B-B14F-4D97-AF65-F5344CB8AC3E}">
        <p14:creationId xmlns:p14="http://schemas.microsoft.com/office/powerpoint/2010/main" val="23011814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980A128-A52A-402C-865B-1BF08D7F0458}"/>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E900447-3778-4AB7-ACB3-7C2313FE9A47}"/>
              </a:ext>
            </a:extLst>
          </p:cNvPr>
          <p:cNvSpPr>
            <a:spLocks noGrp="1"/>
          </p:cNvSpPr>
          <p:nvPr>
            <p:ph type="title"/>
          </p:nvPr>
        </p:nvSpPr>
        <p:spPr>
          <a:xfrm>
            <a:off x="1421745" y="1287554"/>
            <a:ext cx="8284963" cy="3113064"/>
          </a:xfrm>
        </p:spPr>
        <p:txBody>
          <a:bodyPr anchor="t"/>
          <a:lstStyle>
            <a:lvl1pPr>
              <a:defRPr sz="4400"/>
            </a:lvl1pPr>
          </a:lstStyle>
          <a:p>
            <a:r>
              <a:rPr lang="en-US" dirty="0"/>
              <a:t>Click to edit Master title style</a:t>
            </a:r>
          </a:p>
        </p:txBody>
      </p:sp>
      <p:sp>
        <p:nvSpPr>
          <p:cNvPr id="3" name="Text Placeholder 2">
            <a:extLst>
              <a:ext uri="{FF2B5EF4-FFF2-40B4-BE49-F238E27FC236}">
                <a16:creationId xmlns:a16="http://schemas.microsoft.com/office/drawing/2014/main" id="{F9B910C9-BA3C-4D31-9C62-2C2408591FF2}"/>
              </a:ext>
            </a:extLst>
          </p:cNvPr>
          <p:cNvSpPr>
            <a:spLocks noGrp="1"/>
          </p:cNvSpPr>
          <p:nvPr>
            <p:ph type="body" idx="1"/>
          </p:nvPr>
        </p:nvSpPr>
        <p:spPr>
          <a:xfrm>
            <a:off x="1421744" y="4619707"/>
            <a:ext cx="7722256" cy="1476293"/>
          </a:xfrm>
        </p:spPr>
        <p:txBody>
          <a:bodyPr anchor="b">
            <a:normAutofit/>
          </a:bodyPr>
          <a:lstStyle>
            <a:lvl1pPr marL="0" indent="0">
              <a:buNone/>
              <a:defRPr sz="18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58742E8A-6B69-406B-A3DF-0A1B76832E0A}"/>
              </a:ext>
            </a:extLst>
          </p:cNvPr>
          <p:cNvSpPr>
            <a:spLocks noGrp="1"/>
          </p:cNvSpPr>
          <p:nvPr>
            <p:ph type="dt" sz="half" idx="10"/>
          </p:nvPr>
        </p:nvSpPr>
        <p:spPr/>
        <p:txBody>
          <a:bodyPr/>
          <a:lstStyle/>
          <a:p>
            <a:fld id="{3C2B07E4-CDF9-4C88-A2F3-04620E58224D}" type="datetimeFigureOut">
              <a:rPr lang="en-US" smtClean="0"/>
              <a:t>10/7/2024</a:t>
            </a:fld>
            <a:endParaRPr lang="en-US"/>
          </a:p>
        </p:txBody>
      </p:sp>
      <p:sp>
        <p:nvSpPr>
          <p:cNvPr id="5" name="Footer Placeholder 4">
            <a:extLst>
              <a:ext uri="{FF2B5EF4-FFF2-40B4-BE49-F238E27FC236}">
                <a16:creationId xmlns:a16="http://schemas.microsoft.com/office/drawing/2014/main" id="{64D665CF-4461-4BB8-8F3A-ED1CB1084CA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4898B27-5EF3-49F4-B3CE-F3CF419AE06E}"/>
              </a:ext>
            </a:extLst>
          </p:cNvPr>
          <p:cNvSpPr>
            <a:spLocks noGrp="1"/>
          </p:cNvSpPr>
          <p:nvPr>
            <p:ph type="sldNum" sz="quarter" idx="12"/>
          </p:nvPr>
        </p:nvSpPr>
        <p:spPr/>
        <p:txBody>
          <a:bodyPr/>
          <a:lstStyle/>
          <a:p>
            <a:fld id="{EFE71E98-A417-4ECC-ACEB-C0490C20DB04}" type="slidenum">
              <a:rPr lang="en-US" smtClean="0"/>
              <a:t>‹#›</a:t>
            </a:fld>
            <a:endParaRPr lang="en-US"/>
          </a:p>
        </p:txBody>
      </p:sp>
    </p:spTree>
    <p:extLst>
      <p:ext uri="{BB962C8B-B14F-4D97-AF65-F5344CB8AC3E}">
        <p14:creationId xmlns:p14="http://schemas.microsoft.com/office/powerpoint/2010/main" val="22063215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33F3BA-5AD5-4F15-97B2-E4652D1D4E15}"/>
              </a:ext>
            </a:extLst>
          </p:cNvPr>
          <p:cNvSpPr>
            <a:spLocks noGrp="1"/>
          </p:cNvSpPr>
          <p:nvPr>
            <p:ph type="title"/>
          </p:nvPr>
        </p:nvSpPr>
        <p:spPr>
          <a:xfrm>
            <a:off x="1429566" y="1013411"/>
            <a:ext cx="9238434" cy="889592"/>
          </a:xfrm>
        </p:spPr>
        <p:txBody>
          <a:bodyPr/>
          <a:lstStyle>
            <a:lvl1pPr>
              <a:defRPr>
                <a:solidFill>
                  <a:schemeClr val="tx1"/>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7EA997B8-1FD3-40E6-A486-256EB41DB70A}"/>
              </a:ext>
            </a:extLst>
          </p:cNvPr>
          <p:cNvSpPr>
            <a:spLocks noGrp="1"/>
          </p:cNvSpPr>
          <p:nvPr>
            <p:ph sz="half" idx="1"/>
          </p:nvPr>
        </p:nvSpPr>
        <p:spPr>
          <a:xfrm>
            <a:off x="1429566" y="2135565"/>
            <a:ext cx="4495800" cy="396043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4183F4D8-AA9A-4AF7-86EA-E4D797B98CE9}"/>
              </a:ext>
            </a:extLst>
          </p:cNvPr>
          <p:cNvSpPr>
            <a:spLocks noGrp="1"/>
          </p:cNvSpPr>
          <p:nvPr>
            <p:ph sz="half" idx="2"/>
          </p:nvPr>
        </p:nvSpPr>
        <p:spPr>
          <a:xfrm>
            <a:off x="6172200" y="2135565"/>
            <a:ext cx="4495800" cy="396043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BA08823E-BC08-4810-9BFF-35D2EA2AE729}"/>
              </a:ext>
            </a:extLst>
          </p:cNvPr>
          <p:cNvSpPr>
            <a:spLocks noGrp="1"/>
          </p:cNvSpPr>
          <p:nvPr>
            <p:ph type="dt" sz="half" idx="10"/>
          </p:nvPr>
        </p:nvSpPr>
        <p:spPr/>
        <p:txBody>
          <a:bodyPr/>
          <a:lstStyle/>
          <a:p>
            <a:fld id="{3C2B07E4-CDF9-4C88-A2F3-04620E58224D}" type="datetimeFigureOut">
              <a:rPr lang="en-US" smtClean="0"/>
              <a:t>10/7/2024</a:t>
            </a:fld>
            <a:endParaRPr lang="en-US"/>
          </a:p>
        </p:txBody>
      </p:sp>
      <p:sp>
        <p:nvSpPr>
          <p:cNvPr id="6" name="Footer Placeholder 5">
            <a:extLst>
              <a:ext uri="{FF2B5EF4-FFF2-40B4-BE49-F238E27FC236}">
                <a16:creationId xmlns:a16="http://schemas.microsoft.com/office/drawing/2014/main" id="{2FDD2BFB-BB2C-4C4A-A6E1-DD223C2BE02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D369B2-12F8-4583-8A7F-523C9A3EF09B}"/>
              </a:ext>
            </a:extLst>
          </p:cNvPr>
          <p:cNvSpPr>
            <a:spLocks noGrp="1"/>
          </p:cNvSpPr>
          <p:nvPr>
            <p:ph type="sldNum" sz="quarter" idx="12"/>
          </p:nvPr>
        </p:nvSpPr>
        <p:spPr/>
        <p:txBody>
          <a:bodyPr/>
          <a:lstStyle/>
          <a:p>
            <a:fld id="{EFE71E98-A417-4ECC-ACEB-C0490C20DB04}" type="slidenum">
              <a:rPr lang="en-US" smtClean="0"/>
              <a:t>‹#›</a:t>
            </a:fld>
            <a:endParaRPr lang="en-US"/>
          </a:p>
        </p:txBody>
      </p:sp>
    </p:spTree>
    <p:extLst>
      <p:ext uri="{BB962C8B-B14F-4D97-AF65-F5344CB8AC3E}">
        <p14:creationId xmlns:p14="http://schemas.microsoft.com/office/powerpoint/2010/main" val="14420876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AC717F-84B9-44BA-8DD6-680394AB193E}"/>
              </a:ext>
            </a:extLst>
          </p:cNvPr>
          <p:cNvSpPr>
            <a:spLocks noGrp="1"/>
          </p:cNvSpPr>
          <p:nvPr>
            <p:ph type="title"/>
          </p:nvPr>
        </p:nvSpPr>
        <p:spPr>
          <a:xfrm>
            <a:off x="1429566" y="1079150"/>
            <a:ext cx="9238434" cy="823912"/>
          </a:xfrm>
        </p:spPr>
        <p:txBody>
          <a:bodyPr/>
          <a:lstStyle>
            <a:lvl1pPr>
              <a:defRPr>
                <a:solidFill>
                  <a:schemeClr val="tx1"/>
                </a:solidFill>
              </a:defRPr>
            </a:lvl1pPr>
          </a:lstStyle>
          <a:p>
            <a:r>
              <a:rPr lang="en-US" dirty="0"/>
              <a:t>Click to edit Master title style</a:t>
            </a:r>
          </a:p>
        </p:txBody>
      </p:sp>
      <p:sp>
        <p:nvSpPr>
          <p:cNvPr id="3" name="Text Placeholder 2">
            <a:extLst>
              <a:ext uri="{FF2B5EF4-FFF2-40B4-BE49-F238E27FC236}">
                <a16:creationId xmlns:a16="http://schemas.microsoft.com/office/drawing/2014/main" id="{2A1217D6-7448-4625-964F-5D82F65F11F7}"/>
              </a:ext>
            </a:extLst>
          </p:cNvPr>
          <p:cNvSpPr>
            <a:spLocks noGrp="1"/>
          </p:cNvSpPr>
          <p:nvPr>
            <p:ph type="body" idx="1"/>
          </p:nvPr>
        </p:nvSpPr>
        <p:spPr>
          <a:xfrm>
            <a:off x="1429567" y="2013217"/>
            <a:ext cx="4495799" cy="704232"/>
          </a:xfrm>
        </p:spPr>
        <p:txBody>
          <a:bodyPr anchor="b">
            <a:normAutofit/>
          </a:bodyPr>
          <a:lstStyle>
            <a:lvl1pPr marL="0" indent="0">
              <a:lnSpc>
                <a:spcPct val="100000"/>
              </a:lnSpc>
              <a:buNone/>
              <a:defRPr sz="1800" b="0" cap="all" spc="300" baseline="0">
                <a:solidFill>
                  <a:schemeClr val="tx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253A534C-0B54-4327-99C0-4F0019FD21F6}"/>
              </a:ext>
            </a:extLst>
          </p:cNvPr>
          <p:cNvSpPr>
            <a:spLocks noGrp="1"/>
          </p:cNvSpPr>
          <p:nvPr>
            <p:ph sz="half" idx="2"/>
          </p:nvPr>
        </p:nvSpPr>
        <p:spPr>
          <a:xfrm>
            <a:off x="1429567" y="3048000"/>
            <a:ext cx="4495800" cy="304800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389D4A63-0795-4B74-8C11-5FE7944118C7}"/>
              </a:ext>
            </a:extLst>
          </p:cNvPr>
          <p:cNvSpPr>
            <a:spLocks noGrp="1"/>
          </p:cNvSpPr>
          <p:nvPr>
            <p:ph type="body" sz="quarter" idx="3"/>
          </p:nvPr>
        </p:nvSpPr>
        <p:spPr>
          <a:xfrm>
            <a:off x="6172200" y="2013215"/>
            <a:ext cx="4495800" cy="704233"/>
          </a:xfrm>
        </p:spPr>
        <p:txBody>
          <a:bodyPr anchor="b">
            <a:normAutofit/>
          </a:bodyPr>
          <a:lstStyle>
            <a:lvl1pPr marL="0" indent="0">
              <a:lnSpc>
                <a:spcPct val="100000"/>
              </a:lnSpc>
              <a:buNone/>
              <a:defRPr sz="1800" b="0" cap="all" spc="300" baseline="0">
                <a:solidFill>
                  <a:schemeClr val="tx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823D16F3-F747-441B-9854-27225954DEC4}"/>
              </a:ext>
            </a:extLst>
          </p:cNvPr>
          <p:cNvSpPr>
            <a:spLocks noGrp="1"/>
          </p:cNvSpPr>
          <p:nvPr>
            <p:ph sz="quarter" idx="4"/>
          </p:nvPr>
        </p:nvSpPr>
        <p:spPr>
          <a:xfrm>
            <a:off x="6172200" y="3048000"/>
            <a:ext cx="4495800" cy="304800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0E8168E2-6B97-486E-B0E4-4E7F5CDBB5B1}"/>
              </a:ext>
            </a:extLst>
          </p:cNvPr>
          <p:cNvSpPr>
            <a:spLocks noGrp="1"/>
          </p:cNvSpPr>
          <p:nvPr>
            <p:ph type="dt" sz="half" idx="10"/>
          </p:nvPr>
        </p:nvSpPr>
        <p:spPr/>
        <p:txBody>
          <a:bodyPr/>
          <a:lstStyle/>
          <a:p>
            <a:fld id="{3C2B07E4-CDF9-4C88-A2F3-04620E58224D}" type="datetimeFigureOut">
              <a:rPr lang="en-US" smtClean="0"/>
              <a:t>10/7/2024</a:t>
            </a:fld>
            <a:endParaRPr lang="en-US"/>
          </a:p>
        </p:txBody>
      </p:sp>
      <p:sp>
        <p:nvSpPr>
          <p:cNvPr id="8" name="Footer Placeholder 7">
            <a:extLst>
              <a:ext uri="{FF2B5EF4-FFF2-40B4-BE49-F238E27FC236}">
                <a16:creationId xmlns:a16="http://schemas.microsoft.com/office/drawing/2014/main" id="{D05D3E2B-2F4E-4347-A8E9-27EB7D0359B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C1FC4F5-6876-414E-9E30-84706A3F528C}"/>
              </a:ext>
            </a:extLst>
          </p:cNvPr>
          <p:cNvSpPr>
            <a:spLocks noGrp="1"/>
          </p:cNvSpPr>
          <p:nvPr>
            <p:ph type="sldNum" sz="quarter" idx="12"/>
          </p:nvPr>
        </p:nvSpPr>
        <p:spPr/>
        <p:txBody>
          <a:bodyPr/>
          <a:lstStyle/>
          <a:p>
            <a:fld id="{EFE71E98-A417-4ECC-ACEB-C0490C20DB04}" type="slidenum">
              <a:rPr lang="en-US" smtClean="0"/>
              <a:t>‹#›</a:t>
            </a:fld>
            <a:endParaRPr lang="en-US"/>
          </a:p>
        </p:txBody>
      </p:sp>
      <p:cxnSp>
        <p:nvCxnSpPr>
          <p:cNvPr id="11" name="Straight Connector 10">
            <a:extLst>
              <a:ext uri="{FF2B5EF4-FFF2-40B4-BE49-F238E27FC236}">
                <a16:creationId xmlns:a16="http://schemas.microsoft.com/office/drawing/2014/main" id="{A70D2F04-5474-46B9-B838-858CDF4AB2D2}"/>
              </a:ext>
            </a:extLst>
          </p:cNvPr>
          <p:cNvCxnSpPr>
            <a:cxnSpLocks/>
          </p:cNvCxnSpPr>
          <p:nvPr/>
        </p:nvCxnSpPr>
        <p:spPr>
          <a:xfrm>
            <a:off x="6270727" y="2876662"/>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CADEE893-BE45-47F3-BCF0-02424B3503CC}"/>
              </a:ext>
            </a:extLst>
          </p:cNvPr>
          <p:cNvSpPr/>
          <p:nvPr/>
        </p:nvSpPr>
        <p:spPr>
          <a:xfrm>
            <a:off x="-1171838" y="4592406"/>
            <a:ext cx="808262" cy="38971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Connector 13">
            <a:extLst>
              <a:ext uri="{FF2B5EF4-FFF2-40B4-BE49-F238E27FC236}">
                <a16:creationId xmlns:a16="http://schemas.microsoft.com/office/drawing/2014/main" id="{3FB5178A-4501-4B56-8BF1-D083D7B021CE}"/>
              </a:ext>
            </a:extLst>
          </p:cNvPr>
          <p:cNvCxnSpPr>
            <a:cxnSpLocks/>
          </p:cNvCxnSpPr>
          <p:nvPr/>
        </p:nvCxnSpPr>
        <p:spPr>
          <a:xfrm>
            <a:off x="1524000" y="2876662"/>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758707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52109C6-041C-42BA-B507-8EA298046EDD}"/>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F7BF877-20DD-40F4-AEA8-E1B6D5350D2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67DC874-15B5-4338-B7D1-8E393AB4C16E}"/>
              </a:ext>
            </a:extLst>
          </p:cNvPr>
          <p:cNvSpPr>
            <a:spLocks noGrp="1"/>
          </p:cNvSpPr>
          <p:nvPr>
            <p:ph type="dt" sz="half" idx="10"/>
          </p:nvPr>
        </p:nvSpPr>
        <p:spPr/>
        <p:txBody>
          <a:bodyPr/>
          <a:lstStyle/>
          <a:p>
            <a:fld id="{3C2B07E4-CDF9-4C88-A2F3-04620E58224D}" type="datetimeFigureOut">
              <a:rPr lang="en-US" smtClean="0"/>
              <a:t>10/7/2024</a:t>
            </a:fld>
            <a:endParaRPr lang="en-US"/>
          </a:p>
        </p:txBody>
      </p:sp>
      <p:sp>
        <p:nvSpPr>
          <p:cNvPr id="4" name="Footer Placeholder 3">
            <a:extLst>
              <a:ext uri="{FF2B5EF4-FFF2-40B4-BE49-F238E27FC236}">
                <a16:creationId xmlns:a16="http://schemas.microsoft.com/office/drawing/2014/main" id="{7E66BAE3-24C5-483F-9141-D860A265E78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59AEEB4-66F8-4008-B616-804FB9D91CF9}"/>
              </a:ext>
            </a:extLst>
          </p:cNvPr>
          <p:cNvSpPr>
            <a:spLocks noGrp="1"/>
          </p:cNvSpPr>
          <p:nvPr>
            <p:ph type="sldNum" sz="quarter" idx="12"/>
          </p:nvPr>
        </p:nvSpPr>
        <p:spPr/>
        <p:txBody>
          <a:bodyPr/>
          <a:lstStyle/>
          <a:p>
            <a:fld id="{EFE71E98-A417-4ECC-ACEB-C0490C20DB04}" type="slidenum">
              <a:rPr lang="en-US" smtClean="0"/>
              <a:t>‹#›</a:t>
            </a:fld>
            <a:endParaRPr lang="en-US"/>
          </a:p>
        </p:txBody>
      </p:sp>
    </p:spTree>
    <p:extLst>
      <p:ext uri="{BB962C8B-B14F-4D97-AF65-F5344CB8AC3E}">
        <p14:creationId xmlns:p14="http://schemas.microsoft.com/office/powerpoint/2010/main" val="37462501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746C975-8FFB-4A4B-9213-774EE3901DE9}"/>
              </a:ext>
            </a:extLst>
          </p:cNvPr>
          <p:cNvSpPr>
            <a:spLocks noGrp="1"/>
          </p:cNvSpPr>
          <p:nvPr>
            <p:ph type="dt" sz="half" idx="10"/>
          </p:nvPr>
        </p:nvSpPr>
        <p:spPr/>
        <p:txBody>
          <a:bodyPr/>
          <a:lstStyle/>
          <a:p>
            <a:fld id="{3C2B07E4-CDF9-4C88-A2F3-04620E58224D}" type="datetimeFigureOut">
              <a:rPr lang="en-US" smtClean="0"/>
              <a:t>10/7/2024</a:t>
            </a:fld>
            <a:endParaRPr lang="en-US"/>
          </a:p>
        </p:txBody>
      </p:sp>
      <p:sp>
        <p:nvSpPr>
          <p:cNvPr id="3" name="Footer Placeholder 2">
            <a:extLst>
              <a:ext uri="{FF2B5EF4-FFF2-40B4-BE49-F238E27FC236}">
                <a16:creationId xmlns:a16="http://schemas.microsoft.com/office/drawing/2014/main" id="{4FBA744F-475D-4105-8E4A-02581554953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F3FA64C-7966-4D6F-88D7-4B89F2A1DF2C}"/>
              </a:ext>
            </a:extLst>
          </p:cNvPr>
          <p:cNvSpPr>
            <a:spLocks noGrp="1"/>
          </p:cNvSpPr>
          <p:nvPr>
            <p:ph type="sldNum" sz="quarter" idx="12"/>
          </p:nvPr>
        </p:nvSpPr>
        <p:spPr/>
        <p:txBody>
          <a:bodyPr/>
          <a:lstStyle/>
          <a:p>
            <a:fld id="{EFE71E98-A417-4ECC-ACEB-C0490C20DB04}" type="slidenum">
              <a:rPr lang="en-US" smtClean="0"/>
              <a:t>‹#›</a:t>
            </a:fld>
            <a:endParaRPr lang="en-US"/>
          </a:p>
        </p:txBody>
      </p:sp>
    </p:spTree>
    <p:extLst>
      <p:ext uri="{BB962C8B-B14F-4D97-AF65-F5344CB8AC3E}">
        <p14:creationId xmlns:p14="http://schemas.microsoft.com/office/powerpoint/2010/main" val="3841689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D4ED5F-AB94-4DCF-8971-B8B2B55AF653}"/>
              </a:ext>
            </a:extLst>
          </p:cNvPr>
          <p:cNvSpPr>
            <a:spLocks noGrp="1"/>
          </p:cNvSpPr>
          <p:nvPr>
            <p:ph type="title"/>
          </p:nvPr>
        </p:nvSpPr>
        <p:spPr>
          <a:xfrm>
            <a:off x="1443740" y="1558944"/>
            <a:ext cx="3279689" cy="1864196"/>
          </a:xfrm>
        </p:spPr>
        <p:txBody>
          <a:bodyPr anchor="b"/>
          <a:lstStyle>
            <a:lvl1pPr algn="r">
              <a:defRPr sz="2800">
                <a:solidFill>
                  <a:schemeClr val="tx1"/>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141EE4CB-68CF-4BF3-A891-8277AFD13D88}"/>
              </a:ext>
            </a:extLst>
          </p:cNvPr>
          <p:cNvSpPr>
            <a:spLocks noGrp="1"/>
          </p:cNvSpPr>
          <p:nvPr>
            <p:ph idx="1"/>
          </p:nvPr>
        </p:nvSpPr>
        <p:spPr>
          <a:xfrm>
            <a:off x="5334000" y="762000"/>
            <a:ext cx="5333999" cy="5334000"/>
          </a:xfrm>
        </p:spPr>
        <p:txBody>
          <a:bodyPr anchor="ctr">
            <a:normAutofit/>
          </a:bodyPr>
          <a:lstStyle>
            <a:lvl1pPr>
              <a:defRPr sz="2800">
                <a:solidFill>
                  <a:schemeClr val="tx1"/>
                </a:solidFill>
              </a:defRPr>
            </a:lvl1pPr>
            <a:lvl2pPr>
              <a:defRPr sz="2400">
                <a:solidFill>
                  <a:schemeClr val="tx1"/>
                </a:solidFill>
              </a:defRPr>
            </a:lvl2pPr>
            <a:lvl3pPr>
              <a:defRPr sz="2000">
                <a:solidFill>
                  <a:schemeClr val="tx1"/>
                </a:solidFill>
              </a:defRPr>
            </a:lvl3pPr>
            <a:lvl4pPr>
              <a:defRPr sz="1800">
                <a:solidFill>
                  <a:schemeClr val="tx1"/>
                </a:solidFill>
              </a:defRPr>
            </a:lvl4pPr>
            <a:lvl5pPr>
              <a:defRPr sz="1800">
                <a:solidFill>
                  <a:schemeClr val="tx1"/>
                </a:solidFill>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95292E72-B66D-40EE-B182-5585382A6DC9}"/>
              </a:ext>
            </a:extLst>
          </p:cNvPr>
          <p:cNvSpPr>
            <a:spLocks noGrp="1"/>
          </p:cNvSpPr>
          <p:nvPr>
            <p:ph type="body" sz="half" idx="2"/>
          </p:nvPr>
        </p:nvSpPr>
        <p:spPr>
          <a:xfrm>
            <a:off x="1443741" y="3649682"/>
            <a:ext cx="3233096" cy="1933605"/>
          </a:xfrm>
        </p:spPr>
        <p:txBody>
          <a:bodyPr/>
          <a:lstStyle>
            <a:lvl1pPr marL="0" indent="0" algn="r">
              <a:buNone/>
              <a:defRPr sz="16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ED73B694-B050-45F3-AE6F-A86A129F1C64}"/>
              </a:ext>
            </a:extLst>
          </p:cNvPr>
          <p:cNvSpPr>
            <a:spLocks noGrp="1"/>
          </p:cNvSpPr>
          <p:nvPr>
            <p:ph type="dt" sz="half" idx="10"/>
          </p:nvPr>
        </p:nvSpPr>
        <p:spPr/>
        <p:txBody>
          <a:bodyPr/>
          <a:lstStyle/>
          <a:p>
            <a:fld id="{3C2B07E4-CDF9-4C88-A2F3-04620E58224D}" type="datetimeFigureOut">
              <a:rPr lang="en-US" smtClean="0"/>
              <a:t>10/7/2024</a:t>
            </a:fld>
            <a:endParaRPr lang="en-US"/>
          </a:p>
        </p:txBody>
      </p:sp>
      <p:sp>
        <p:nvSpPr>
          <p:cNvPr id="6" name="Footer Placeholder 5">
            <a:extLst>
              <a:ext uri="{FF2B5EF4-FFF2-40B4-BE49-F238E27FC236}">
                <a16:creationId xmlns:a16="http://schemas.microsoft.com/office/drawing/2014/main" id="{7E8AE423-9CA5-46B3-96B1-7586AD02080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14B973D-F1F7-47BC-996D-6100B7C89520}"/>
              </a:ext>
            </a:extLst>
          </p:cNvPr>
          <p:cNvSpPr>
            <a:spLocks noGrp="1"/>
          </p:cNvSpPr>
          <p:nvPr>
            <p:ph type="sldNum" sz="quarter" idx="12"/>
          </p:nvPr>
        </p:nvSpPr>
        <p:spPr/>
        <p:txBody>
          <a:bodyPr/>
          <a:lstStyle/>
          <a:p>
            <a:fld id="{EFE71E98-A417-4ECC-ACEB-C0490C20DB04}" type="slidenum">
              <a:rPr lang="en-US" smtClean="0"/>
              <a:t>‹#›</a:t>
            </a:fld>
            <a:endParaRPr lang="en-US"/>
          </a:p>
        </p:txBody>
      </p:sp>
    </p:spTree>
    <p:extLst>
      <p:ext uri="{BB962C8B-B14F-4D97-AF65-F5344CB8AC3E}">
        <p14:creationId xmlns:p14="http://schemas.microsoft.com/office/powerpoint/2010/main" val="15061116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AE9949-4A1F-4DA9-9B75-A6180F954B8D}"/>
              </a:ext>
            </a:extLst>
          </p:cNvPr>
          <p:cNvSpPr>
            <a:spLocks noGrp="1"/>
          </p:cNvSpPr>
          <p:nvPr>
            <p:ph type="title"/>
          </p:nvPr>
        </p:nvSpPr>
        <p:spPr>
          <a:xfrm>
            <a:off x="1433543" y="1383126"/>
            <a:ext cx="3289886" cy="2045874"/>
          </a:xfrm>
        </p:spPr>
        <p:txBody>
          <a:bodyPr anchor="b"/>
          <a:lstStyle>
            <a:lvl1pPr algn="r">
              <a:defRPr sz="2800">
                <a:solidFill>
                  <a:schemeClr val="tx1"/>
                </a:solidFill>
              </a:defRPr>
            </a:lvl1pPr>
          </a:lstStyle>
          <a:p>
            <a:r>
              <a:rPr lang="en-US" dirty="0"/>
              <a:t>Click to edit Master title style</a:t>
            </a:r>
          </a:p>
        </p:txBody>
      </p:sp>
      <p:sp>
        <p:nvSpPr>
          <p:cNvPr id="3" name="Picture Placeholder 2">
            <a:extLst>
              <a:ext uri="{FF2B5EF4-FFF2-40B4-BE49-F238E27FC236}">
                <a16:creationId xmlns:a16="http://schemas.microsoft.com/office/drawing/2014/main" id="{79A8D794-C670-4569-93D9-0FF8B35AA7AE}"/>
              </a:ext>
            </a:extLst>
          </p:cNvPr>
          <p:cNvSpPr>
            <a:spLocks noGrp="1"/>
          </p:cNvSpPr>
          <p:nvPr>
            <p:ph type="pic" idx="1"/>
          </p:nvPr>
        </p:nvSpPr>
        <p:spPr>
          <a:xfrm>
            <a:off x="5334001" y="762000"/>
            <a:ext cx="5333999" cy="5334000"/>
          </a:xfrm>
        </p:spPr>
        <p:txBody>
          <a:bodyPr/>
          <a:lstStyle>
            <a:lvl1pPr marL="0" indent="0">
              <a:buNone/>
              <a:defRPr sz="32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A92486F6-AE67-4B34-B8E2-0B7576DC2E3A}"/>
              </a:ext>
            </a:extLst>
          </p:cNvPr>
          <p:cNvSpPr>
            <a:spLocks noGrp="1"/>
          </p:cNvSpPr>
          <p:nvPr>
            <p:ph type="body" sz="half" idx="2"/>
          </p:nvPr>
        </p:nvSpPr>
        <p:spPr>
          <a:xfrm>
            <a:off x="1433544" y="3649682"/>
            <a:ext cx="3243292" cy="1684317"/>
          </a:xfrm>
        </p:spPr>
        <p:txBody>
          <a:bodyPr/>
          <a:lstStyle>
            <a:lvl1pPr marL="0" indent="0" algn="r">
              <a:buNone/>
              <a:defRPr sz="16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B198B11C-BB63-49A6-B488-29D4FBF8E107}"/>
              </a:ext>
            </a:extLst>
          </p:cNvPr>
          <p:cNvSpPr>
            <a:spLocks noGrp="1"/>
          </p:cNvSpPr>
          <p:nvPr>
            <p:ph type="dt" sz="half" idx="10"/>
          </p:nvPr>
        </p:nvSpPr>
        <p:spPr/>
        <p:txBody>
          <a:bodyPr/>
          <a:lstStyle/>
          <a:p>
            <a:fld id="{3C2B07E4-CDF9-4C88-A2F3-04620E58224D}" type="datetimeFigureOut">
              <a:rPr lang="en-US" smtClean="0"/>
              <a:t>10/7/2024</a:t>
            </a:fld>
            <a:endParaRPr lang="en-US"/>
          </a:p>
        </p:txBody>
      </p:sp>
      <p:sp>
        <p:nvSpPr>
          <p:cNvPr id="6" name="Footer Placeholder 5">
            <a:extLst>
              <a:ext uri="{FF2B5EF4-FFF2-40B4-BE49-F238E27FC236}">
                <a16:creationId xmlns:a16="http://schemas.microsoft.com/office/drawing/2014/main" id="{324B9166-6D36-4F0A-9ADD-33D49A0C3A5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FB22B8F-7760-41B3-9053-DD90255B9EEE}"/>
              </a:ext>
            </a:extLst>
          </p:cNvPr>
          <p:cNvSpPr>
            <a:spLocks noGrp="1"/>
          </p:cNvSpPr>
          <p:nvPr>
            <p:ph type="sldNum" sz="quarter" idx="12"/>
          </p:nvPr>
        </p:nvSpPr>
        <p:spPr/>
        <p:txBody>
          <a:bodyPr/>
          <a:lstStyle/>
          <a:p>
            <a:fld id="{EFE71E98-A417-4ECC-ACEB-C0490C20DB04}" type="slidenum">
              <a:rPr lang="en-US" smtClean="0"/>
              <a:t>‹#›</a:t>
            </a:fld>
            <a:endParaRPr lang="en-US"/>
          </a:p>
        </p:txBody>
      </p:sp>
    </p:spTree>
    <p:extLst>
      <p:ext uri="{BB962C8B-B14F-4D97-AF65-F5344CB8AC3E}">
        <p14:creationId xmlns:p14="http://schemas.microsoft.com/office/powerpoint/2010/main" val="36689690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C8A5DE-E5C6-4DB9-AD28-8F1EAC6F5513}"/>
              </a:ext>
            </a:extLst>
          </p:cNvPr>
          <p:cNvSpPr>
            <a:spLocks noGrp="1"/>
          </p:cNvSpPr>
          <p:nvPr>
            <p:ph type="title"/>
          </p:nvPr>
        </p:nvSpPr>
        <p:spPr/>
        <p:txBody>
          <a:bodyPr/>
          <a:lstStyle>
            <a:lvl1pPr>
              <a:defRPr>
                <a:solidFill>
                  <a:schemeClr val="tx1"/>
                </a:solidFill>
              </a:defRPr>
            </a:lvl1pPr>
          </a:lstStyle>
          <a:p>
            <a:r>
              <a:rPr lang="en-US" dirty="0"/>
              <a:t>Click to edit Master title style</a:t>
            </a:r>
          </a:p>
        </p:txBody>
      </p:sp>
      <p:sp>
        <p:nvSpPr>
          <p:cNvPr id="3" name="Vertical Text Placeholder 2">
            <a:extLst>
              <a:ext uri="{FF2B5EF4-FFF2-40B4-BE49-F238E27FC236}">
                <a16:creationId xmlns:a16="http://schemas.microsoft.com/office/drawing/2014/main" id="{4363E08E-9B2D-4740-9AC6-D5E1CFB95FC6}"/>
              </a:ext>
            </a:extLst>
          </p:cNvPr>
          <p:cNvSpPr>
            <a:spLocks noGrp="1"/>
          </p:cNvSpPr>
          <p:nvPr>
            <p:ph type="body" orient="vert" idx="1"/>
          </p:nvPr>
        </p:nvSpPr>
        <p:spPr>
          <a:xfrm>
            <a:off x="1429566" y="2229957"/>
            <a:ext cx="9238434" cy="3866043"/>
          </a:xfrm>
        </p:spPr>
        <p:txBody>
          <a:bodyPr vert="eaVert"/>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4E4E3736-E8AA-4F58-9D3A-27050B287F9D}"/>
              </a:ext>
            </a:extLst>
          </p:cNvPr>
          <p:cNvSpPr>
            <a:spLocks noGrp="1"/>
          </p:cNvSpPr>
          <p:nvPr>
            <p:ph type="dt" sz="half" idx="10"/>
          </p:nvPr>
        </p:nvSpPr>
        <p:spPr/>
        <p:txBody>
          <a:bodyPr/>
          <a:lstStyle/>
          <a:p>
            <a:fld id="{3C2B07E4-CDF9-4C88-A2F3-04620E58224D}" type="datetimeFigureOut">
              <a:rPr lang="en-US" smtClean="0"/>
              <a:t>10/7/2024</a:t>
            </a:fld>
            <a:endParaRPr lang="en-US"/>
          </a:p>
        </p:txBody>
      </p:sp>
      <p:sp>
        <p:nvSpPr>
          <p:cNvPr id="5" name="Footer Placeholder 4">
            <a:extLst>
              <a:ext uri="{FF2B5EF4-FFF2-40B4-BE49-F238E27FC236}">
                <a16:creationId xmlns:a16="http://schemas.microsoft.com/office/drawing/2014/main" id="{1DE95E84-15BC-478B-9DAB-15025867BB9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3E9D98F-E0A8-4254-A957-7F17811D017E}"/>
              </a:ext>
            </a:extLst>
          </p:cNvPr>
          <p:cNvSpPr>
            <a:spLocks noGrp="1"/>
          </p:cNvSpPr>
          <p:nvPr>
            <p:ph type="sldNum" sz="quarter" idx="12"/>
          </p:nvPr>
        </p:nvSpPr>
        <p:spPr/>
        <p:txBody>
          <a:bodyPr/>
          <a:lstStyle/>
          <a:p>
            <a:fld id="{EFE71E98-A417-4ECC-ACEB-C0490C20DB04}" type="slidenum">
              <a:rPr lang="en-US" smtClean="0"/>
              <a:t>‹#›</a:t>
            </a:fld>
            <a:endParaRPr lang="en-US"/>
          </a:p>
        </p:txBody>
      </p:sp>
    </p:spTree>
    <p:extLst>
      <p:ext uri="{BB962C8B-B14F-4D97-AF65-F5344CB8AC3E}">
        <p14:creationId xmlns:p14="http://schemas.microsoft.com/office/powerpoint/2010/main" val="17588959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7DE70F5-2276-4F91-9FC2-8DA4B528814A}"/>
              </a:ext>
            </a:extLst>
          </p:cNvPr>
          <p:cNvSpPr>
            <a:spLocks noGrp="1"/>
          </p:cNvSpPr>
          <p:nvPr>
            <p:ph type="title" orient="vert"/>
          </p:nvPr>
        </p:nvSpPr>
        <p:spPr>
          <a:xfrm>
            <a:off x="9144000" y="1467699"/>
            <a:ext cx="1758461" cy="4628301"/>
          </a:xfrm>
        </p:spPr>
        <p:txBody>
          <a:bodyPr vert="eaVert"/>
          <a:lstStyle>
            <a:lvl1pPr>
              <a:defRPr>
                <a:solidFill>
                  <a:schemeClr val="tx1"/>
                </a:solidFill>
              </a:defRPr>
            </a:lvl1pPr>
          </a:lstStyle>
          <a:p>
            <a:r>
              <a:rPr lang="en-US" dirty="0"/>
              <a:t>Click to edit Master title style</a:t>
            </a:r>
          </a:p>
        </p:txBody>
      </p:sp>
      <p:sp>
        <p:nvSpPr>
          <p:cNvPr id="3" name="Vertical Text Placeholder 2">
            <a:extLst>
              <a:ext uri="{FF2B5EF4-FFF2-40B4-BE49-F238E27FC236}">
                <a16:creationId xmlns:a16="http://schemas.microsoft.com/office/drawing/2014/main" id="{D21856C5-C2FD-45E4-A631-AC06B5495BEA}"/>
              </a:ext>
            </a:extLst>
          </p:cNvPr>
          <p:cNvSpPr>
            <a:spLocks noGrp="1"/>
          </p:cNvSpPr>
          <p:nvPr>
            <p:ph type="body" orient="vert" idx="1"/>
          </p:nvPr>
        </p:nvSpPr>
        <p:spPr>
          <a:xfrm>
            <a:off x="1182312" y="1467699"/>
            <a:ext cx="7839379" cy="4628301"/>
          </a:xfrm>
        </p:spPr>
        <p:txBody>
          <a:bodyPr vert="eaVert"/>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5EE336EA-B6DD-4115-9C67-79A24C866ED4}"/>
              </a:ext>
            </a:extLst>
          </p:cNvPr>
          <p:cNvSpPr>
            <a:spLocks noGrp="1"/>
          </p:cNvSpPr>
          <p:nvPr>
            <p:ph type="dt" sz="half" idx="10"/>
          </p:nvPr>
        </p:nvSpPr>
        <p:spPr/>
        <p:txBody>
          <a:bodyPr/>
          <a:lstStyle/>
          <a:p>
            <a:fld id="{3C2B07E4-CDF9-4C88-A2F3-04620E58224D}" type="datetimeFigureOut">
              <a:rPr lang="en-US" smtClean="0"/>
              <a:t>10/7/2024</a:t>
            </a:fld>
            <a:endParaRPr lang="en-US"/>
          </a:p>
        </p:txBody>
      </p:sp>
      <p:sp>
        <p:nvSpPr>
          <p:cNvPr id="5" name="Footer Placeholder 4">
            <a:extLst>
              <a:ext uri="{FF2B5EF4-FFF2-40B4-BE49-F238E27FC236}">
                <a16:creationId xmlns:a16="http://schemas.microsoft.com/office/drawing/2014/main" id="{C2EA668B-1DAB-449C-9BA4-7B1572A22BA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8C6567E-119D-4C98-93FF-73A332803A13}"/>
              </a:ext>
            </a:extLst>
          </p:cNvPr>
          <p:cNvSpPr>
            <a:spLocks noGrp="1"/>
          </p:cNvSpPr>
          <p:nvPr>
            <p:ph type="sldNum" sz="quarter" idx="12"/>
          </p:nvPr>
        </p:nvSpPr>
        <p:spPr/>
        <p:txBody>
          <a:bodyPr/>
          <a:lstStyle/>
          <a:p>
            <a:fld id="{EFE71E98-A417-4ECC-ACEB-C0490C20DB04}" type="slidenum">
              <a:rPr lang="en-US" smtClean="0"/>
              <a:t>‹#›</a:t>
            </a:fld>
            <a:endParaRPr lang="en-US"/>
          </a:p>
        </p:txBody>
      </p:sp>
    </p:spTree>
    <p:extLst>
      <p:ext uri="{BB962C8B-B14F-4D97-AF65-F5344CB8AC3E}">
        <p14:creationId xmlns:p14="http://schemas.microsoft.com/office/powerpoint/2010/main" val="33531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F84152A-7FE0-4708-B7C1-DBEC8F133766}"/>
              </a:ext>
            </a:extLst>
          </p:cNvPr>
          <p:cNvSpPr>
            <a:spLocks noGrp="1"/>
          </p:cNvSpPr>
          <p:nvPr>
            <p:ph type="title"/>
          </p:nvPr>
        </p:nvSpPr>
        <p:spPr>
          <a:xfrm>
            <a:off x="1429566" y="1041621"/>
            <a:ext cx="9238434" cy="861383"/>
          </a:xfrm>
          <a:prstGeom prst="rect">
            <a:avLst/>
          </a:prstGeom>
        </p:spPr>
        <p:txBody>
          <a:bodyPr vert="horz" lIns="91440" tIns="45720" rIns="91440" bIns="45720" rtlCol="0" anchor="b">
            <a:noAutofit/>
          </a:bodyPr>
          <a:lstStyle/>
          <a:p>
            <a:r>
              <a:rPr lang="en-US" dirty="0"/>
              <a:t>Click to edit Master title style</a:t>
            </a:r>
          </a:p>
        </p:txBody>
      </p:sp>
      <p:sp>
        <p:nvSpPr>
          <p:cNvPr id="3" name="Text Placeholder 2">
            <a:extLst>
              <a:ext uri="{FF2B5EF4-FFF2-40B4-BE49-F238E27FC236}">
                <a16:creationId xmlns:a16="http://schemas.microsoft.com/office/drawing/2014/main" id="{B911AB53-BAF9-439D-9451-47193CF2FF8E}"/>
              </a:ext>
            </a:extLst>
          </p:cNvPr>
          <p:cNvSpPr>
            <a:spLocks noGrp="1"/>
          </p:cNvSpPr>
          <p:nvPr>
            <p:ph type="body" idx="1"/>
          </p:nvPr>
        </p:nvSpPr>
        <p:spPr>
          <a:xfrm>
            <a:off x="1429566" y="2285999"/>
            <a:ext cx="9238434" cy="3810001"/>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1FB96D9F-562A-496F-A530-A561994DC5EF}"/>
              </a:ext>
            </a:extLst>
          </p:cNvPr>
          <p:cNvSpPr>
            <a:spLocks noGrp="1"/>
          </p:cNvSpPr>
          <p:nvPr>
            <p:ph type="dt" sz="half" idx="2"/>
          </p:nvPr>
        </p:nvSpPr>
        <p:spPr>
          <a:xfrm rot="5400000">
            <a:off x="10471087" y="4891318"/>
            <a:ext cx="2673295" cy="365125"/>
          </a:xfrm>
          <a:prstGeom prst="rect">
            <a:avLst/>
          </a:prstGeom>
        </p:spPr>
        <p:txBody>
          <a:bodyPr vert="horz" lIns="91440" tIns="45720" rIns="91440" bIns="45720" rtlCol="0" anchor="ctr"/>
          <a:lstStyle>
            <a:lvl1pPr algn="l">
              <a:defRPr sz="700" b="1" cap="all" spc="300" baseline="0">
                <a:solidFill>
                  <a:schemeClr val="tx1"/>
                </a:solidFill>
              </a:defRPr>
            </a:lvl1pPr>
          </a:lstStyle>
          <a:p>
            <a:fld id="{3C2B07E4-CDF9-4C88-A2F3-04620E58224D}" type="datetimeFigureOut">
              <a:rPr lang="en-US" smtClean="0"/>
              <a:pPr/>
              <a:t>10/7/2024</a:t>
            </a:fld>
            <a:endParaRPr lang="en-US" dirty="0"/>
          </a:p>
        </p:txBody>
      </p:sp>
      <p:sp>
        <p:nvSpPr>
          <p:cNvPr id="5" name="Footer Placeholder 4">
            <a:extLst>
              <a:ext uri="{FF2B5EF4-FFF2-40B4-BE49-F238E27FC236}">
                <a16:creationId xmlns:a16="http://schemas.microsoft.com/office/drawing/2014/main" id="{CC3060FE-AAC3-4FAE-9EB4-BCAE72D95670}"/>
              </a:ext>
            </a:extLst>
          </p:cNvPr>
          <p:cNvSpPr>
            <a:spLocks noGrp="1"/>
          </p:cNvSpPr>
          <p:nvPr>
            <p:ph type="ftr" sz="quarter" idx="3"/>
          </p:nvPr>
        </p:nvSpPr>
        <p:spPr>
          <a:xfrm rot="5400000">
            <a:off x="10473021" y="1609893"/>
            <a:ext cx="2669427" cy="365125"/>
          </a:xfrm>
          <a:prstGeom prst="rect">
            <a:avLst/>
          </a:prstGeom>
        </p:spPr>
        <p:txBody>
          <a:bodyPr vert="horz" lIns="91440" tIns="45720" rIns="91440" bIns="45720" rtlCol="0" anchor="ctr"/>
          <a:lstStyle>
            <a:lvl1pPr algn="r">
              <a:defRPr sz="700" b="1" cap="all" spc="300" baseline="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4777EDB2-8F31-42FA-B253-62D241466385}"/>
              </a:ext>
            </a:extLst>
          </p:cNvPr>
          <p:cNvSpPr>
            <a:spLocks noGrp="1"/>
          </p:cNvSpPr>
          <p:nvPr>
            <p:ph type="sldNum" sz="quarter" idx="4"/>
          </p:nvPr>
        </p:nvSpPr>
        <p:spPr>
          <a:xfrm>
            <a:off x="11492908" y="3219853"/>
            <a:ext cx="629653" cy="429830"/>
          </a:xfrm>
          <a:prstGeom prst="rect">
            <a:avLst/>
          </a:prstGeom>
        </p:spPr>
        <p:txBody>
          <a:bodyPr vert="horz" lIns="91440" tIns="45720" rIns="91440" bIns="45720" rtlCol="0" anchor="ctr"/>
          <a:lstStyle>
            <a:lvl1pPr algn="ctr">
              <a:defRPr sz="1600" b="1">
                <a:solidFill>
                  <a:schemeClr val="tx1">
                    <a:tint val="75000"/>
                  </a:schemeClr>
                </a:solidFill>
                <a:latin typeface="+mj-lt"/>
              </a:defRPr>
            </a:lvl1pPr>
          </a:lstStyle>
          <a:p>
            <a:fld id="{EFE71E98-A417-4ECC-ACEB-C0490C20DB04}" type="slidenum">
              <a:rPr lang="en-US" smtClean="0"/>
              <a:pPr/>
              <a:t>‹#›</a:t>
            </a:fld>
            <a:endParaRPr lang="en-US"/>
          </a:p>
        </p:txBody>
      </p:sp>
    </p:spTree>
    <p:extLst>
      <p:ext uri="{BB962C8B-B14F-4D97-AF65-F5344CB8AC3E}">
        <p14:creationId xmlns:p14="http://schemas.microsoft.com/office/powerpoint/2010/main" val="816264292"/>
      </p:ext>
    </p:extLst>
  </p:cSld>
  <p:clrMap bg1="dk1" tx1="lt1" bg2="dk2" tx2="lt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2" r:id="rId6"/>
    <p:sldLayoutId id="2147483688" r:id="rId7"/>
    <p:sldLayoutId id="2147483689" r:id="rId8"/>
    <p:sldLayoutId id="2147483690" r:id="rId9"/>
    <p:sldLayoutId id="2147483691" r:id="rId10"/>
    <p:sldLayoutId id="2147483693" r:id="rId11"/>
  </p:sldLayoutIdLst>
  <p:txStyles>
    <p:titleStyle>
      <a:lvl1pPr algn="l" defTabSz="914400" rtl="0" eaLnBrk="1" latinLnBrk="0" hangingPunct="1">
        <a:lnSpc>
          <a:spcPct val="120000"/>
        </a:lnSpc>
        <a:spcBef>
          <a:spcPct val="0"/>
        </a:spcBef>
        <a:buNone/>
        <a:defRPr sz="2800" b="1" kern="1200" cap="all" spc="600" baseline="0">
          <a:solidFill>
            <a:schemeClr val="tx1"/>
          </a:solidFill>
          <a:latin typeface="+mj-lt"/>
          <a:ea typeface="+mj-ea"/>
          <a:cs typeface="+mj-cs"/>
        </a:defRPr>
      </a:lvl1pPr>
    </p:titleStyle>
    <p:bodyStyle>
      <a:lvl1pPr marL="274320" indent="-274320" algn="l" defTabSz="914400" rtl="0" eaLnBrk="1" latinLnBrk="0" hangingPunct="1">
        <a:lnSpc>
          <a:spcPct val="130000"/>
        </a:lnSpc>
        <a:spcBef>
          <a:spcPts val="1000"/>
        </a:spcBef>
        <a:buSzPct val="85000"/>
        <a:buFont typeface="Arial" panose="020B0604020202020204" pitchFamily="34" charset="0"/>
        <a:buChar char="•"/>
        <a:defRPr sz="1800" kern="1200">
          <a:solidFill>
            <a:schemeClr val="tx1"/>
          </a:solidFill>
          <a:latin typeface="+mn-lt"/>
          <a:ea typeface="+mn-ea"/>
          <a:cs typeface="+mn-cs"/>
        </a:defRPr>
      </a:lvl1pPr>
      <a:lvl2pPr marL="274320" indent="0" algn="l" defTabSz="914400" rtl="0" eaLnBrk="1" latinLnBrk="0" hangingPunct="1">
        <a:lnSpc>
          <a:spcPct val="130000"/>
        </a:lnSpc>
        <a:spcBef>
          <a:spcPts val="500"/>
        </a:spcBef>
        <a:buSzPct val="85000"/>
        <a:buFontTx/>
        <a:buNone/>
        <a:defRPr sz="1600" b="1" kern="1200">
          <a:solidFill>
            <a:schemeClr val="tx1"/>
          </a:solidFill>
          <a:latin typeface="+mn-lt"/>
          <a:ea typeface="+mn-ea"/>
          <a:cs typeface="+mn-cs"/>
        </a:defRPr>
      </a:lvl2pPr>
      <a:lvl3pPr marL="457200" indent="-182880" algn="l" defTabSz="914400" rtl="0" eaLnBrk="1" latinLnBrk="0" hangingPunct="1">
        <a:lnSpc>
          <a:spcPct val="130000"/>
        </a:lnSpc>
        <a:spcBef>
          <a:spcPts val="500"/>
        </a:spcBef>
        <a:buSzPct val="85000"/>
        <a:buFont typeface="Arial" panose="020B0604020202020204" pitchFamily="34" charset="0"/>
        <a:buChar char="•"/>
        <a:defRPr sz="1400" kern="1200">
          <a:solidFill>
            <a:schemeClr val="tx1"/>
          </a:solidFill>
          <a:latin typeface="+mn-lt"/>
          <a:ea typeface="+mn-ea"/>
          <a:cs typeface="+mn-cs"/>
        </a:defRPr>
      </a:lvl3pPr>
      <a:lvl4pPr marL="466344" indent="0" algn="l" defTabSz="914400" rtl="0" eaLnBrk="1" latinLnBrk="0" hangingPunct="1">
        <a:lnSpc>
          <a:spcPct val="130000"/>
        </a:lnSpc>
        <a:spcBef>
          <a:spcPts val="500"/>
        </a:spcBef>
        <a:buSzPct val="85000"/>
        <a:buFontTx/>
        <a:buNone/>
        <a:defRPr sz="1200" b="1" kern="1200">
          <a:solidFill>
            <a:schemeClr val="tx1"/>
          </a:solidFill>
          <a:latin typeface="+mn-lt"/>
          <a:ea typeface="+mn-ea"/>
          <a:cs typeface="+mn-cs"/>
        </a:defRPr>
      </a:lvl4pPr>
      <a:lvl5pPr marL="640080" indent="-182880" algn="l" defTabSz="914400" rtl="0" eaLnBrk="1" latinLnBrk="0" hangingPunct="1">
        <a:lnSpc>
          <a:spcPct val="130000"/>
        </a:lnSpc>
        <a:spcBef>
          <a:spcPts val="500"/>
        </a:spcBef>
        <a:buSzPct val="85000"/>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diagramLayout" Target="../diagrams/layout3.xml"/><Relationship Id="rId7" Type="http://schemas.openxmlformats.org/officeDocument/2006/relationships/image" Target="../media/image16.png"/><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10" Type="http://schemas.openxmlformats.org/officeDocument/2006/relationships/image" Target="../media/image19.svg"/><Relationship Id="rId4" Type="http://schemas.openxmlformats.org/officeDocument/2006/relationships/diagramQuickStyle" Target="../diagrams/quickStyle3.xml"/><Relationship Id="rId9" Type="http://schemas.openxmlformats.org/officeDocument/2006/relationships/image" Target="../media/image18.png"/></Relationships>
</file>

<file path=ppt/slides/_rels/slide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7.xml"/><Relationship Id="rId4" Type="http://schemas.openxmlformats.org/officeDocument/2006/relationships/image" Target="../media/image4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1C3281D-A46F-4842-9340-4CBC29E1B2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Top view of wood desk with the plant, white keyboard, coffee in a white mug, notebook, and pen">
            <a:extLst>
              <a:ext uri="{FF2B5EF4-FFF2-40B4-BE49-F238E27FC236}">
                <a16:creationId xmlns:a16="http://schemas.microsoft.com/office/drawing/2014/main" id="{39898828-EF3F-3B60-C3EB-390896A62A08}"/>
              </a:ext>
            </a:extLst>
          </p:cNvPr>
          <p:cNvPicPr>
            <a:picLocks noChangeAspect="1"/>
          </p:cNvPicPr>
          <p:nvPr/>
        </p:nvPicPr>
        <p:blipFill>
          <a:blip r:embed="rId2">
            <a:alphaModFix amt="50000"/>
          </a:blip>
          <a:srcRect t="1799" b="15175"/>
          <a:stretch/>
        </p:blipFill>
        <p:spPr>
          <a:xfrm>
            <a:off x="20" y="10"/>
            <a:ext cx="12191980" cy="6857990"/>
          </a:xfrm>
          <a:prstGeom prst="rect">
            <a:avLst/>
          </a:prstGeom>
        </p:spPr>
      </p:pic>
      <p:sp>
        <p:nvSpPr>
          <p:cNvPr id="2" name="Title 1">
            <a:extLst>
              <a:ext uri="{FF2B5EF4-FFF2-40B4-BE49-F238E27FC236}">
                <a16:creationId xmlns:a16="http://schemas.microsoft.com/office/drawing/2014/main" id="{45B64999-D66E-2D72-E194-50562A8FAE21}"/>
              </a:ext>
            </a:extLst>
          </p:cNvPr>
          <p:cNvSpPr>
            <a:spLocks noGrp="1"/>
          </p:cNvSpPr>
          <p:nvPr>
            <p:ph type="ctrTitle"/>
          </p:nvPr>
        </p:nvSpPr>
        <p:spPr>
          <a:xfrm>
            <a:off x="1283697" y="2442071"/>
            <a:ext cx="6952388" cy="2001590"/>
          </a:xfrm>
        </p:spPr>
        <p:txBody>
          <a:bodyPr>
            <a:normAutofit fontScale="90000"/>
          </a:bodyPr>
          <a:lstStyle/>
          <a:p>
            <a:r>
              <a:rPr lang="en" sz="3600" dirty="0">
                <a:latin typeface="Times New Roman"/>
                <a:ea typeface="Times New Roman"/>
                <a:cs typeface="Times New Roman"/>
                <a:sym typeface="Times New Roman"/>
              </a:rPr>
              <a:t>Bank loan </a:t>
            </a:r>
            <a:br>
              <a:rPr lang="en" sz="3600" dirty="0">
                <a:latin typeface="Times New Roman"/>
                <a:ea typeface="Times New Roman"/>
                <a:cs typeface="Times New Roman"/>
                <a:sym typeface="Times New Roman"/>
              </a:rPr>
            </a:br>
            <a:r>
              <a:rPr lang="en" sz="3600" dirty="0">
                <a:latin typeface="Times New Roman"/>
                <a:ea typeface="Times New Roman"/>
                <a:cs typeface="Times New Roman"/>
                <a:sym typeface="Times New Roman"/>
              </a:rPr>
              <a:t>Database Analytics</a:t>
            </a:r>
            <a:br>
              <a:rPr kumimoji="0" lang="en-US" sz="2800" b="1" i="0" u="none" strike="noStrike" kern="1200" cap="all" spc="0" normalizeH="0" baseline="0" noProof="0" dirty="0">
                <a:ln>
                  <a:noFill/>
                </a:ln>
                <a:solidFill>
                  <a:prstClr val="white"/>
                </a:solidFill>
                <a:effectLst/>
                <a:uLnTx/>
                <a:uFillTx/>
                <a:latin typeface="Tenorite"/>
                <a:ea typeface="+mj-ea"/>
                <a:cs typeface="+mj-cs"/>
              </a:rPr>
            </a:br>
            <a:br>
              <a:rPr lang="en-SG" sz="1050" b="1" dirty="0"/>
            </a:br>
            <a:endParaRPr lang="en-SG" dirty="0">
              <a:solidFill>
                <a:srgbClr val="FFFFFF"/>
              </a:solidFill>
            </a:endParaRPr>
          </a:p>
        </p:txBody>
      </p:sp>
      <p:sp>
        <p:nvSpPr>
          <p:cNvPr id="3" name="Subtitle 2">
            <a:extLst>
              <a:ext uri="{FF2B5EF4-FFF2-40B4-BE49-F238E27FC236}">
                <a16:creationId xmlns:a16="http://schemas.microsoft.com/office/drawing/2014/main" id="{6E456CBC-B179-3240-EBD2-DC96607C4A22}"/>
              </a:ext>
            </a:extLst>
          </p:cNvPr>
          <p:cNvSpPr>
            <a:spLocks noGrp="1"/>
          </p:cNvSpPr>
          <p:nvPr>
            <p:ph type="subTitle" idx="1"/>
          </p:nvPr>
        </p:nvSpPr>
        <p:spPr>
          <a:xfrm>
            <a:off x="1429612" y="4848464"/>
            <a:ext cx="7714388" cy="1085849"/>
          </a:xfrm>
        </p:spPr>
        <p:txBody>
          <a:bodyPr>
            <a:normAutofit/>
          </a:bodyPr>
          <a:lstStyle/>
          <a:p>
            <a:r>
              <a:rPr kumimoji="0" lang="en-US" sz="2400" b="1" i="0" u="none" strike="noStrike" kern="1200" cap="all" spc="0" normalizeH="0" baseline="0" noProof="0" dirty="0">
                <a:ln>
                  <a:noFill/>
                </a:ln>
                <a:solidFill>
                  <a:prstClr val="white"/>
                </a:solidFill>
                <a:effectLst/>
                <a:uLnTx/>
                <a:uFillTx/>
                <a:latin typeface="Tenorite"/>
                <a:ea typeface="+mj-ea"/>
                <a:cs typeface="+mj-cs"/>
              </a:rPr>
              <a:t>by Saifuddin sanusi</a:t>
            </a:r>
            <a:endParaRPr lang="en-SG" sz="2400" b="1" dirty="0">
              <a:solidFill>
                <a:srgbClr val="FFFFFF"/>
              </a:solidFill>
            </a:endParaRPr>
          </a:p>
        </p:txBody>
      </p:sp>
      <p:cxnSp>
        <p:nvCxnSpPr>
          <p:cNvPr id="11" name="Straight Connector 10">
            <a:extLst>
              <a:ext uri="{FF2B5EF4-FFF2-40B4-BE49-F238E27FC236}">
                <a16:creationId xmlns:a16="http://schemas.microsoft.com/office/drawing/2014/main" id="{313FECB8-44EE-4A45-9F7B-66ECF1C3C88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24000" y="4578595"/>
            <a:ext cx="971155" cy="0"/>
          </a:xfrm>
          <a:prstGeom prst="line">
            <a:avLst/>
          </a:prstGeom>
          <a:ln w="31750">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874666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79FE1F-D1F0-B7D9-AF22-F8D778AB7A5F}"/>
              </a:ext>
            </a:extLst>
          </p:cNvPr>
          <p:cNvSpPr>
            <a:spLocks noGrp="1"/>
          </p:cNvSpPr>
          <p:nvPr>
            <p:ph type="title"/>
          </p:nvPr>
        </p:nvSpPr>
        <p:spPr/>
        <p:txBody>
          <a:bodyPr/>
          <a:lstStyle/>
          <a:p>
            <a:r>
              <a:rPr lang="en-US" dirty="0"/>
              <a:t>Agenda</a:t>
            </a:r>
            <a:endParaRPr lang="en-SG" dirty="0"/>
          </a:p>
        </p:txBody>
      </p:sp>
      <p:graphicFrame>
        <p:nvGraphicFramePr>
          <p:cNvPr id="5" name="Content Placeholder 2">
            <a:extLst>
              <a:ext uri="{FF2B5EF4-FFF2-40B4-BE49-F238E27FC236}">
                <a16:creationId xmlns:a16="http://schemas.microsoft.com/office/drawing/2014/main" id="{BB97E9DC-1E7E-B66D-1D09-406E87999E42}"/>
              </a:ext>
            </a:extLst>
          </p:cNvPr>
          <p:cNvGraphicFramePr>
            <a:graphicFrameLocks noGrp="1"/>
          </p:cNvGraphicFramePr>
          <p:nvPr>
            <p:ph idx="1"/>
          </p:nvPr>
        </p:nvGraphicFramePr>
        <p:xfrm>
          <a:off x="1429566" y="2286000"/>
          <a:ext cx="9238434" cy="3810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392725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6E7D56-4FDA-E237-4908-1D79241EAA86}"/>
              </a:ext>
            </a:extLst>
          </p:cNvPr>
          <p:cNvSpPr>
            <a:spLocks noGrp="1"/>
          </p:cNvSpPr>
          <p:nvPr>
            <p:ph type="title"/>
          </p:nvPr>
        </p:nvSpPr>
        <p:spPr>
          <a:xfrm>
            <a:off x="612441" y="680936"/>
            <a:ext cx="2967337" cy="541131"/>
          </a:xfrm>
          <a:ln>
            <a:solidFill>
              <a:schemeClr val="accent1"/>
            </a:solidFill>
          </a:ln>
        </p:spPr>
        <p:txBody>
          <a:bodyPr/>
          <a:lstStyle/>
          <a:p>
            <a:pPr algn="ctr"/>
            <a:r>
              <a:rPr lang="en-US" dirty="0"/>
              <a:t>OBJECTIVES</a:t>
            </a:r>
            <a:endParaRPr lang="en-SG" dirty="0"/>
          </a:p>
        </p:txBody>
      </p:sp>
      <p:graphicFrame>
        <p:nvGraphicFramePr>
          <p:cNvPr id="5" name="Content Placeholder 2">
            <a:extLst>
              <a:ext uri="{FF2B5EF4-FFF2-40B4-BE49-F238E27FC236}">
                <a16:creationId xmlns:a16="http://schemas.microsoft.com/office/drawing/2014/main" id="{5D6773E5-A501-7D53-B5A3-CCBD588EC8D4}"/>
              </a:ext>
            </a:extLst>
          </p:cNvPr>
          <p:cNvGraphicFramePr>
            <a:graphicFrameLocks noGrp="1"/>
          </p:cNvGraphicFramePr>
          <p:nvPr>
            <p:ph idx="1"/>
            <p:extLst>
              <p:ext uri="{D42A27DB-BD31-4B8C-83A1-F6EECF244321}">
                <p14:modId xmlns:p14="http://schemas.microsoft.com/office/powerpoint/2010/main" val="255307275"/>
              </p:ext>
            </p:extLst>
          </p:nvPr>
        </p:nvGraphicFramePr>
        <p:xfrm>
          <a:off x="505839" y="1352146"/>
          <a:ext cx="11245174" cy="49416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713013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2">
            <a:extLst>
              <a:ext uri="{FF2B5EF4-FFF2-40B4-BE49-F238E27FC236}">
                <a16:creationId xmlns:a16="http://schemas.microsoft.com/office/drawing/2014/main" id="{5D6773E5-A501-7D53-B5A3-CCBD588EC8D4}"/>
              </a:ext>
            </a:extLst>
          </p:cNvPr>
          <p:cNvGraphicFramePr>
            <a:graphicFrameLocks noGrp="1"/>
          </p:cNvGraphicFramePr>
          <p:nvPr>
            <p:ph idx="1"/>
            <p:extLst>
              <p:ext uri="{D42A27DB-BD31-4B8C-83A1-F6EECF244321}">
                <p14:modId xmlns:p14="http://schemas.microsoft.com/office/powerpoint/2010/main" val="2001574668"/>
              </p:ext>
            </p:extLst>
          </p:nvPr>
        </p:nvGraphicFramePr>
        <p:xfrm>
          <a:off x="505839" y="1352146"/>
          <a:ext cx="11245174" cy="49416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Rectangle 2" descr="Head with Gears">
            <a:extLst>
              <a:ext uri="{FF2B5EF4-FFF2-40B4-BE49-F238E27FC236}">
                <a16:creationId xmlns:a16="http://schemas.microsoft.com/office/drawing/2014/main" id="{6E1F6CCF-7FA5-DA44-D6F3-96BE45F718D4}"/>
              </a:ext>
            </a:extLst>
          </p:cNvPr>
          <p:cNvSpPr/>
          <p:nvPr/>
        </p:nvSpPr>
        <p:spPr>
          <a:xfrm>
            <a:off x="910434" y="5227893"/>
            <a:ext cx="760205" cy="760205"/>
          </a:xfrm>
          <a:prstGeom prst="rect">
            <a:avLst/>
          </a:prstGeom>
          <a: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en-SG"/>
          </a:p>
        </p:txBody>
      </p:sp>
      <p:sp>
        <p:nvSpPr>
          <p:cNvPr id="4" name="Rectangle 3" descr="Statistics">
            <a:extLst>
              <a:ext uri="{FF2B5EF4-FFF2-40B4-BE49-F238E27FC236}">
                <a16:creationId xmlns:a16="http://schemas.microsoft.com/office/drawing/2014/main" id="{4C172BB1-C8ED-22FC-D4A2-71CB7EF86A60}"/>
              </a:ext>
            </a:extLst>
          </p:cNvPr>
          <p:cNvSpPr/>
          <p:nvPr/>
        </p:nvSpPr>
        <p:spPr>
          <a:xfrm>
            <a:off x="910434" y="3520689"/>
            <a:ext cx="760205" cy="760205"/>
          </a:xfrm>
          <a:prstGeom prst="rect">
            <a:avLst/>
          </a:prstGeom>
          <a: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en-SG"/>
          </a:p>
        </p:txBody>
      </p:sp>
      <p:sp>
        <p:nvSpPr>
          <p:cNvPr id="6" name="Title 1">
            <a:extLst>
              <a:ext uri="{FF2B5EF4-FFF2-40B4-BE49-F238E27FC236}">
                <a16:creationId xmlns:a16="http://schemas.microsoft.com/office/drawing/2014/main" id="{918505CF-E098-629E-7F93-CBA9B4E83C51}"/>
              </a:ext>
            </a:extLst>
          </p:cNvPr>
          <p:cNvSpPr txBox="1">
            <a:spLocks/>
          </p:cNvSpPr>
          <p:nvPr/>
        </p:nvSpPr>
        <p:spPr>
          <a:xfrm>
            <a:off x="612441" y="680936"/>
            <a:ext cx="2967337" cy="541131"/>
          </a:xfrm>
          <a:prstGeom prst="rect">
            <a:avLst/>
          </a:prstGeom>
          <a:ln>
            <a:solidFill>
              <a:schemeClr val="accent1"/>
            </a:solidFill>
          </a:ln>
        </p:spPr>
        <p:txBody>
          <a:bodyPr vert="horz" lIns="91440" tIns="45720" rIns="91440" bIns="45720" rtlCol="0" anchor="b">
            <a:noAutofit/>
          </a:bodyPr>
          <a:lstStyle>
            <a:lvl1pPr algn="l" defTabSz="914400" rtl="0" eaLnBrk="1" latinLnBrk="0" hangingPunct="1">
              <a:lnSpc>
                <a:spcPct val="120000"/>
              </a:lnSpc>
              <a:spcBef>
                <a:spcPct val="0"/>
              </a:spcBef>
              <a:buNone/>
              <a:defRPr sz="2800" b="1" kern="1200" cap="all" spc="600" baseline="0">
                <a:solidFill>
                  <a:schemeClr val="tx1"/>
                </a:solidFill>
                <a:latin typeface="+mj-lt"/>
                <a:ea typeface="+mj-ea"/>
                <a:cs typeface="+mj-cs"/>
              </a:defRPr>
            </a:lvl1pPr>
          </a:lstStyle>
          <a:p>
            <a:pPr algn="ctr"/>
            <a:r>
              <a:rPr lang="en-US"/>
              <a:t>OBJECTIVES</a:t>
            </a:r>
            <a:endParaRPr lang="en-SG" dirty="0"/>
          </a:p>
        </p:txBody>
      </p:sp>
    </p:spTree>
    <p:extLst>
      <p:ext uri="{BB962C8B-B14F-4D97-AF65-F5344CB8AC3E}">
        <p14:creationId xmlns:p14="http://schemas.microsoft.com/office/powerpoint/2010/main" val="32064463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2AB454-A1C9-CCF6-3F9F-A7245B6F927B}"/>
              </a:ext>
            </a:extLst>
          </p:cNvPr>
          <p:cNvSpPr>
            <a:spLocks noGrp="1"/>
          </p:cNvSpPr>
          <p:nvPr>
            <p:ph type="title"/>
          </p:nvPr>
        </p:nvSpPr>
        <p:spPr>
          <a:xfrm>
            <a:off x="648507" y="306144"/>
            <a:ext cx="5343731" cy="601772"/>
          </a:xfrm>
          <a:ln>
            <a:solidFill>
              <a:srgbClr val="0070C0"/>
            </a:solidFill>
          </a:ln>
        </p:spPr>
        <p:txBody>
          <a:bodyPr/>
          <a:lstStyle/>
          <a:p>
            <a:r>
              <a:rPr lang="en-US" dirty="0"/>
              <a:t>GOOD LOAN VS BAD LOAN</a:t>
            </a:r>
            <a:endParaRPr lang="en-SG" dirty="0"/>
          </a:p>
        </p:txBody>
      </p:sp>
      <p:sp>
        <p:nvSpPr>
          <p:cNvPr id="3" name="Content Placeholder 2">
            <a:extLst>
              <a:ext uri="{FF2B5EF4-FFF2-40B4-BE49-F238E27FC236}">
                <a16:creationId xmlns:a16="http://schemas.microsoft.com/office/drawing/2014/main" id="{F8BF7796-DEC8-17B3-EE77-56D74A71CCA7}"/>
              </a:ext>
            </a:extLst>
          </p:cNvPr>
          <p:cNvSpPr>
            <a:spLocks noGrp="1"/>
          </p:cNvSpPr>
          <p:nvPr>
            <p:ph idx="1"/>
          </p:nvPr>
        </p:nvSpPr>
        <p:spPr>
          <a:xfrm>
            <a:off x="648508" y="4688732"/>
            <a:ext cx="10894979" cy="2368962"/>
          </a:xfrm>
        </p:spPr>
        <p:txBody>
          <a:bodyPr>
            <a:normAutofit/>
          </a:bodyPr>
          <a:lstStyle/>
          <a:p>
            <a:pPr>
              <a:buFont typeface="Wingdings" panose="05000000000000000000" pitchFamily="2" charset="2"/>
              <a:buChar char="q"/>
            </a:pPr>
            <a:r>
              <a:rPr lang="en-US" b="1" dirty="0"/>
              <a:t>Loan Distribution</a:t>
            </a:r>
            <a:r>
              <a:rPr lang="en-US" dirty="0"/>
              <a:t>:</a:t>
            </a:r>
          </a:p>
          <a:p>
            <a:pPr marL="742950" lvl="1" indent="-285750">
              <a:buFont typeface="Arial" panose="020B0604020202020204" pitchFamily="34" charset="0"/>
              <a:buChar char="•"/>
            </a:pPr>
            <a:r>
              <a:rPr lang="en-US" b="1" dirty="0"/>
              <a:t>Good Loans</a:t>
            </a:r>
            <a:r>
              <a:rPr lang="en-US" dirty="0"/>
              <a:t> account for </a:t>
            </a:r>
            <a:r>
              <a:rPr lang="en-US" b="1" dirty="0"/>
              <a:t>86.18%</a:t>
            </a:r>
            <a:r>
              <a:rPr lang="en-US" dirty="0"/>
              <a:t> of the total loans, with </a:t>
            </a:r>
            <a:r>
              <a:rPr lang="en-US" b="1" dirty="0"/>
              <a:t>33,243</a:t>
            </a:r>
            <a:r>
              <a:rPr lang="en-US" dirty="0"/>
              <a:t> applications.</a:t>
            </a:r>
          </a:p>
          <a:p>
            <a:pPr marL="742950" lvl="1" indent="-285750">
              <a:buFont typeface="Arial" panose="020B0604020202020204" pitchFamily="34" charset="0"/>
              <a:buChar char="•"/>
            </a:pPr>
            <a:r>
              <a:rPr lang="en-US" b="1" dirty="0"/>
              <a:t>Bad Loans</a:t>
            </a:r>
            <a:r>
              <a:rPr lang="en-US" dirty="0"/>
              <a:t> make up </a:t>
            </a:r>
            <a:r>
              <a:rPr lang="en-US" b="1" dirty="0"/>
              <a:t>13.82%</a:t>
            </a:r>
            <a:r>
              <a:rPr lang="en-US" dirty="0"/>
              <a:t>, with </a:t>
            </a:r>
            <a:r>
              <a:rPr lang="en-US" b="1" dirty="0"/>
              <a:t>5,333</a:t>
            </a:r>
            <a:r>
              <a:rPr lang="en-US" dirty="0"/>
              <a:t> applications.</a:t>
            </a:r>
          </a:p>
          <a:p>
            <a:pPr>
              <a:buFont typeface="Wingdings" panose="05000000000000000000" pitchFamily="2" charset="2"/>
              <a:buChar char="q"/>
            </a:pPr>
            <a:r>
              <a:rPr lang="en-US" dirty="0"/>
              <a:t>This indicates that a significant majority of the bank's loan portfolio consists of good loans, showing a healthy lending performance.</a:t>
            </a:r>
          </a:p>
          <a:p>
            <a:endParaRPr lang="en-SG" dirty="0"/>
          </a:p>
        </p:txBody>
      </p:sp>
      <p:pic>
        <p:nvPicPr>
          <p:cNvPr id="7" name="Picture 6">
            <a:extLst>
              <a:ext uri="{FF2B5EF4-FFF2-40B4-BE49-F238E27FC236}">
                <a16:creationId xmlns:a16="http://schemas.microsoft.com/office/drawing/2014/main" id="{072BE516-8A47-A6C4-631E-699B859BA153}"/>
              </a:ext>
            </a:extLst>
          </p:cNvPr>
          <p:cNvPicPr>
            <a:picLocks noChangeAspect="1"/>
          </p:cNvPicPr>
          <p:nvPr/>
        </p:nvPicPr>
        <p:blipFill>
          <a:blip r:embed="rId2"/>
          <a:stretch>
            <a:fillRect/>
          </a:stretch>
        </p:blipFill>
        <p:spPr>
          <a:xfrm>
            <a:off x="648508" y="1081179"/>
            <a:ext cx="11112629" cy="3607553"/>
          </a:xfrm>
          <a:prstGeom prst="rect">
            <a:avLst/>
          </a:prstGeom>
        </p:spPr>
      </p:pic>
    </p:spTree>
    <p:extLst>
      <p:ext uri="{BB962C8B-B14F-4D97-AF65-F5344CB8AC3E}">
        <p14:creationId xmlns:p14="http://schemas.microsoft.com/office/powerpoint/2010/main" val="22518132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2AB454-A1C9-CCF6-3F9F-A7245B6F927B}"/>
              </a:ext>
            </a:extLst>
          </p:cNvPr>
          <p:cNvSpPr>
            <a:spLocks noGrp="1"/>
          </p:cNvSpPr>
          <p:nvPr>
            <p:ph type="title"/>
          </p:nvPr>
        </p:nvSpPr>
        <p:spPr>
          <a:xfrm>
            <a:off x="359923" y="101863"/>
            <a:ext cx="7801583" cy="601772"/>
          </a:xfrm>
          <a:solidFill>
            <a:schemeClr val="accent2">
              <a:lumMod val="20000"/>
              <a:lumOff val="80000"/>
            </a:schemeClr>
          </a:solidFill>
          <a:ln>
            <a:solidFill>
              <a:schemeClr val="accent2"/>
            </a:solidFill>
          </a:ln>
        </p:spPr>
        <p:txBody>
          <a:bodyPr/>
          <a:lstStyle/>
          <a:p>
            <a:r>
              <a:rPr lang="en-US" dirty="0">
                <a:solidFill>
                  <a:schemeClr val="bg1"/>
                </a:solidFill>
              </a:rPr>
              <a:t>Overview (GOOD LOAN VS BAD LOAN)</a:t>
            </a:r>
            <a:endParaRPr lang="en-SG" dirty="0">
              <a:solidFill>
                <a:schemeClr val="bg1"/>
              </a:solidFill>
            </a:endParaRPr>
          </a:p>
        </p:txBody>
      </p:sp>
      <p:sp>
        <p:nvSpPr>
          <p:cNvPr id="3" name="Content Placeholder 2">
            <a:extLst>
              <a:ext uri="{FF2B5EF4-FFF2-40B4-BE49-F238E27FC236}">
                <a16:creationId xmlns:a16="http://schemas.microsoft.com/office/drawing/2014/main" id="{F8BF7796-DEC8-17B3-EE77-56D74A71CCA7}"/>
              </a:ext>
            </a:extLst>
          </p:cNvPr>
          <p:cNvSpPr>
            <a:spLocks noGrp="1"/>
          </p:cNvSpPr>
          <p:nvPr>
            <p:ph idx="1"/>
          </p:nvPr>
        </p:nvSpPr>
        <p:spPr>
          <a:xfrm>
            <a:off x="359923" y="3774332"/>
            <a:ext cx="11673192" cy="2981805"/>
          </a:xfrm>
        </p:spPr>
        <p:txBody>
          <a:bodyPr>
            <a:normAutofit fontScale="92500"/>
          </a:bodyPr>
          <a:lstStyle/>
          <a:p>
            <a:pPr>
              <a:buFont typeface="Wingdings" panose="05000000000000000000" pitchFamily="2" charset="2"/>
              <a:buChar char="q"/>
            </a:pPr>
            <a:r>
              <a:rPr lang="en-US" sz="1600" b="1" dirty="0"/>
              <a:t>Funded Amount</a:t>
            </a:r>
            <a:r>
              <a:rPr lang="en-US" sz="1600" dirty="0"/>
              <a:t>:</a:t>
            </a:r>
          </a:p>
          <a:p>
            <a:pPr marL="742950" lvl="1" indent="-285750">
              <a:buFont typeface="Arial" panose="020B0604020202020204" pitchFamily="34" charset="0"/>
              <a:buChar char="•"/>
            </a:pPr>
            <a:r>
              <a:rPr lang="en-US" sz="1400" dirty="0"/>
              <a:t>The total funded amount for </a:t>
            </a:r>
            <a:r>
              <a:rPr lang="en-US" sz="1400" b="1" dirty="0"/>
              <a:t>Good Loans</a:t>
            </a:r>
            <a:r>
              <a:rPr lang="en-US" sz="1400" dirty="0"/>
              <a:t> is approximately </a:t>
            </a:r>
            <a:r>
              <a:rPr lang="en-US" sz="1400" b="1" dirty="0"/>
              <a:t>370.22 million</a:t>
            </a:r>
            <a:r>
              <a:rPr lang="en-US" sz="1400" dirty="0"/>
              <a:t>, while for </a:t>
            </a:r>
            <a:r>
              <a:rPr lang="en-US" sz="1400" b="1" dirty="0"/>
              <a:t>Bad Loans</a:t>
            </a:r>
            <a:r>
              <a:rPr lang="en-US" sz="1400" dirty="0"/>
              <a:t> it is </a:t>
            </a:r>
            <a:r>
              <a:rPr lang="en-US" sz="1400" b="1" dirty="0"/>
              <a:t>65.53 million</a:t>
            </a:r>
            <a:r>
              <a:rPr lang="en-US" sz="1400" dirty="0"/>
              <a:t>.</a:t>
            </a:r>
          </a:p>
          <a:p>
            <a:pPr marL="742950" lvl="1" indent="-285750">
              <a:buFont typeface="Arial" panose="020B0604020202020204" pitchFamily="34" charset="0"/>
              <a:buChar char="•"/>
            </a:pPr>
            <a:r>
              <a:rPr lang="en-US" sz="1400" dirty="0"/>
              <a:t>Good Loans dominate in terms of loan funding, as nearly </a:t>
            </a:r>
            <a:r>
              <a:rPr lang="en-US" sz="1400" b="1" dirty="0"/>
              <a:t>85%</a:t>
            </a:r>
            <a:r>
              <a:rPr lang="en-US" sz="1400" dirty="0"/>
              <a:t> of the total loan funds are allocated to good loans.</a:t>
            </a:r>
          </a:p>
          <a:p>
            <a:pPr>
              <a:buFont typeface="Wingdings" panose="05000000000000000000" pitchFamily="2" charset="2"/>
              <a:buChar char="q"/>
            </a:pPr>
            <a:r>
              <a:rPr lang="en-US" sz="1600" b="1" dirty="0"/>
              <a:t>Recommendation</a:t>
            </a:r>
            <a:r>
              <a:rPr lang="en-US" sz="1600" dirty="0"/>
              <a:t>:</a:t>
            </a:r>
          </a:p>
          <a:p>
            <a:pPr marL="742950" lvl="1" indent="-285750">
              <a:buFont typeface="Arial" panose="020B0604020202020204" pitchFamily="34" charset="0"/>
              <a:buChar char="•"/>
            </a:pPr>
            <a:r>
              <a:rPr lang="en-US" sz="1400" dirty="0"/>
              <a:t>Improve Risk Assessment for Bad Loans: Investigate the characteristics of the 5,333 bad loan applications and develop more stringent risk assessment criteria. By understanding the common traits or risk factors, the bank can fine-tune its screening process to reduce the number of bad loans.</a:t>
            </a:r>
          </a:p>
          <a:p>
            <a:pPr marL="742950" lvl="1" indent="-285750">
              <a:buFont typeface="Arial" panose="020B0604020202020204" pitchFamily="34" charset="0"/>
              <a:buChar char="•"/>
            </a:pPr>
            <a:r>
              <a:rPr lang="en-US" sz="1400" dirty="0"/>
              <a:t>Focus on Loan Recovery for Bad Loans: While bad loans account for 13.82% of total loans, their impact on funds received is significant, with only 37.28 million recovered compared to 65.53 million funded. Strengthening loan recovery efforts (e.g., restructuring, legal action, or incentives for repayment) could improve the recovery rate.</a:t>
            </a:r>
            <a:endParaRPr lang="en-SG" dirty="0"/>
          </a:p>
        </p:txBody>
      </p:sp>
      <p:pic>
        <p:nvPicPr>
          <p:cNvPr id="7" name="Picture 6">
            <a:extLst>
              <a:ext uri="{FF2B5EF4-FFF2-40B4-BE49-F238E27FC236}">
                <a16:creationId xmlns:a16="http://schemas.microsoft.com/office/drawing/2014/main" id="{B57FC0BC-4D9E-DE2C-E8BF-817DD7DB6630}"/>
              </a:ext>
            </a:extLst>
          </p:cNvPr>
          <p:cNvPicPr>
            <a:picLocks noChangeAspect="1"/>
          </p:cNvPicPr>
          <p:nvPr/>
        </p:nvPicPr>
        <p:blipFill>
          <a:blip r:embed="rId2"/>
          <a:stretch>
            <a:fillRect/>
          </a:stretch>
        </p:blipFill>
        <p:spPr>
          <a:xfrm>
            <a:off x="1534544" y="841545"/>
            <a:ext cx="9122912" cy="2961620"/>
          </a:xfrm>
          <a:prstGeom prst="rect">
            <a:avLst/>
          </a:prstGeom>
        </p:spPr>
      </p:pic>
    </p:spTree>
    <p:extLst>
      <p:ext uri="{BB962C8B-B14F-4D97-AF65-F5344CB8AC3E}">
        <p14:creationId xmlns:p14="http://schemas.microsoft.com/office/powerpoint/2010/main" val="36624961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D94F9C-9E84-0AAF-4C5E-0069B76CF2D0}"/>
              </a:ext>
            </a:extLst>
          </p:cNvPr>
          <p:cNvSpPr>
            <a:spLocks noGrp="1"/>
          </p:cNvSpPr>
          <p:nvPr>
            <p:ph type="title"/>
          </p:nvPr>
        </p:nvSpPr>
        <p:spPr>
          <a:xfrm>
            <a:off x="174698" y="118682"/>
            <a:ext cx="5379796" cy="533679"/>
          </a:xfrm>
          <a:solidFill>
            <a:schemeClr val="accent2">
              <a:lumMod val="20000"/>
              <a:lumOff val="80000"/>
            </a:schemeClr>
          </a:solidFill>
          <a:ln>
            <a:solidFill>
              <a:schemeClr val="accent2"/>
            </a:solidFill>
          </a:ln>
        </p:spPr>
        <p:txBody>
          <a:bodyPr/>
          <a:lstStyle/>
          <a:p>
            <a:r>
              <a:rPr lang="en-US" dirty="0">
                <a:solidFill>
                  <a:schemeClr val="bg1"/>
                </a:solidFill>
              </a:rPr>
              <a:t>Overview (Loan Status)</a:t>
            </a:r>
            <a:endParaRPr lang="en-SG" dirty="0">
              <a:solidFill>
                <a:schemeClr val="bg1"/>
              </a:solidFill>
            </a:endParaRPr>
          </a:p>
        </p:txBody>
      </p:sp>
      <p:sp>
        <p:nvSpPr>
          <p:cNvPr id="3" name="Content Placeholder 2">
            <a:extLst>
              <a:ext uri="{FF2B5EF4-FFF2-40B4-BE49-F238E27FC236}">
                <a16:creationId xmlns:a16="http://schemas.microsoft.com/office/drawing/2014/main" id="{0525128E-9697-049D-BD76-11F2396DD08C}"/>
              </a:ext>
            </a:extLst>
          </p:cNvPr>
          <p:cNvSpPr>
            <a:spLocks noGrp="1"/>
          </p:cNvSpPr>
          <p:nvPr>
            <p:ph idx="1"/>
          </p:nvPr>
        </p:nvSpPr>
        <p:spPr>
          <a:xfrm>
            <a:off x="282102" y="3421629"/>
            <a:ext cx="11585643" cy="2784010"/>
          </a:xfrm>
        </p:spPr>
        <p:txBody>
          <a:bodyPr>
            <a:normAutofit fontScale="92500" lnSpcReduction="20000"/>
          </a:bodyPr>
          <a:lstStyle/>
          <a:p>
            <a:r>
              <a:rPr lang="en-US" dirty="0">
                <a:solidFill>
                  <a:srgbClr val="92D050"/>
                </a:solidFill>
              </a:rPr>
              <a:t>Fully Paid Loans </a:t>
            </a:r>
            <a:r>
              <a:rPr lang="en-US" dirty="0"/>
              <a:t>account for 32,145 out of the total loans, contributing a total funded amount of 351.36 million and generating 411.59 million in repayments. These loans have an average interest rate of 11.64% and an average Debt-to-Income (DTI) ratio of 13.17%.</a:t>
            </a:r>
          </a:p>
          <a:p>
            <a:r>
              <a:rPr lang="en-US" dirty="0">
                <a:solidFill>
                  <a:srgbClr val="FFC000"/>
                </a:solidFill>
              </a:rPr>
              <a:t>Current Loans</a:t>
            </a:r>
            <a:r>
              <a:rPr lang="en-US" dirty="0"/>
              <a:t> represent 1,098 loans, with 24.20 million received and 18.87 million funded. These loans have a relatively higher average interest rate of 15.10% and a DTI of 14.72%, indicating that these are still in repayment and might present a higher risk due to the higher DTI and interest rate.</a:t>
            </a:r>
          </a:p>
          <a:p>
            <a:r>
              <a:rPr lang="en-US" dirty="0">
                <a:solidFill>
                  <a:schemeClr val="accent6">
                    <a:lumMod val="60000"/>
                    <a:lumOff val="40000"/>
                  </a:schemeClr>
                </a:solidFill>
              </a:rPr>
              <a:t>Charged-Off Loans </a:t>
            </a:r>
            <a:r>
              <a:rPr lang="en-US" dirty="0"/>
              <a:t>consist of 5,333 loans that have been written off as defaults, with 37.28 million received versus 65.53 million funded. The average interest rate is 13.88%, and the DTI ratio is 14.00%, reflecting riskier borrowers.</a:t>
            </a:r>
            <a:endParaRPr lang="en-SG" dirty="0"/>
          </a:p>
        </p:txBody>
      </p:sp>
      <p:pic>
        <p:nvPicPr>
          <p:cNvPr id="11" name="Picture 10">
            <a:extLst>
              <a:ext uri="{FF2B5EF4-FFF2-40B4-BE49-F238E27FC236}">
                <a16:creationId xmlns:a16="http://schemas.microsoft.com/office/drawing/2014/main" id="{2ADB3240-5BD1-D660-782B-36B1B12A1ECC}"/>
              </a:ext>
            </a:extLst>
          </p:cNvPr>
          <p:cNvPicPr>
            <a:picLocks noChangeAspect="1"/>
          </p:cNvPicPr>
          <p:nvPr/>
        </p:nvPicPr>
        <p:blipFill>
          <a:blip r:embed="rId2"/>
          <a:stretch>
            <a:fillRect/>
          </a:stretch>
        </p:blipFill>
        <p:spPr>
          <a:xfrm>
            <a:off x="77215" y="764317"/>
            <a:ext cx="6743820" cy="1677326"/>
          </a:xfrm>
          <a:prstGeom prst="rect">
            <a:avLst/>
          </a:prstGeom>
        </p:spPr>
      </p:pic>
      <p:pic>
        <p:nvPicPr>
          <p:cNvPr id="14" name="Picture 13">
            <a:extLst>
              <a:ext uri="{FF2B5EF4-FFF2-40B4-BE49-F238E27FC236}">
                <a16:creationId xmlns:a16="http://schemas.microsoft.com/office/drawing/2014/main" id="{4BF940A2-AEF0-FF52-3E83-6738653FA59E}"/>
              </a:ext>
            </a:extLst>
          </p:cNvPr>
          <p:cNvPicPr>
            <a:picLocks noChangeAspect="1"/>
          </p:cNvPicPr>
          <p:nvPr/>
        </p:nvPicPr>
        <p:blipFill>
          <a:blip r:embed="rId3"/>
          <a:stretch>
            <a:fillRect/>
          </a:stretch>
        </p:blipFill>
        <p:spPr>
          <a:xfrm>
            <a:off x="6850536" y="166450"/>
            <a:ext cx="5264249" cy="2868580"/>
          </a:xfrm>
          <a:prstGeom prst="rect">
            <a:avLst/>
          </a:prstGeom>
        </p:spPr>
      </p:pic>
    </p:spTree>
    <p:extLst>
      <p:ext uri="{BB962C8B-B14F-4D97-AF65-F5344CB8AC3E}">
        <p14:creationId xmlns:p14="http://schemas.microsoft.com/office/powerpoint/2010/main" val="2352051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a:extLst>
              <a:ext uri="{FF2B5EF4-FFF2-40B4-BE49-F238E27FC236}">
                <a16:creationId xmlns:a16="http://schemas.microsoft.com/office/drawing/2014/main" id="{F622A92F-C746-29A4-6026-691993672393}"/>
              </a:ext>
            </a:extLst>
          </p:cNvPr>
          <p:cNvSpPr>
            <a:spLocks noGrp="1" noChangeArrowheads="1"/>
          </p:cNvSpPr>
          <p:nvPr>
            <p:ph idx="1"/>
          </p:nvPr>
        </p:nvSpPr>
        <p:spPr bwMode="auto">
          <a:xfrm>
            <a:off x="617496" y="898536"/>
            <a:ext cx="11133518" cy="54168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sng" strike="noStrike" cap="none" normalizeH="0" baseline="0" dirty="0">
                <a:ln>
                  <a:noFill/>
                </a:ln>
                <a:solidFill>
                  <a:schemeClr val="tx1"/>
                </a:solidFill>
                <a:effectLst/>
              </a:rPr>
              <a:t>Month-to-Date (MTD) Performance: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i="0" u="none" strike="noStrike" cap="none" normalizeH="0" baseline="0" dirty="0">
                <a:ln>
                  <a:noFill/>
                </a:ln>
                <a:solidFill>
                  <a:srgbClr val="92D050"/>
                </a:solidFill>
                <a:effectLst/>
              </a:rPr>
              <a:t>Fully Paid Loans</a:t>
            </a:r>
            <a:r>
              <a:rPr kumimoji="0" lang="en-US" altLang="en-US" sz="1600" i="0" u="none" strike="noStrike" cap="none" normalizeH="0" baseline="0" dirty="0">
                <a:ln>
                  <a:noFill/>
                </a:ln>
                <a:solidFill>
                  <a:schemeClr val="tx1"/>
                </a:solidFill>
                <a:effectLst/>
              </a:rPr>
              <a:t>, the Month-to-Date (MTD) total amount received is 47.82 million, with a corresponding funded amount of 41.30 million, indicating a strong repayment performance.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60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i="0" u="none" strike="noStrike" cap="none" normalizeH="0" baseline="0" dirty="0">
                <a:ln>
                  <a:noFill/>
                </a:ln>
                <a:solidFill>
                  <a:srgbClr val="FFC000"/>
                </a:solidFill>
                <a:effectLst/>
              </a:rPr>
              <a:t>Current Loans </a:t>
            </a:r>
            <a:r>
              <a:rPr kumimoji="0" lang="en-US" altLang="en-US" sz="1600" i="0" u="none" strike="noStrike" cap="none" normalizeH="0" baseline="0" dirty="0">
                <a:ln>
                  <a:noFill/>
                </a:ln>
                <a:solidFill>
                  <a:schemeClr val="tx1"/>
                </a:solidFill>
                <a:effectLst/>
              </a:rPr>
              <a:t>show an MTD total amount received of 4.93 million and an MTD funded amount of 3.95 million. The relatively high receipts compared to funded amounts indicate borrowers are actively paying off their balances.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60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i="0" u="none" strike="noStrike" cap="none" normalizeH="0" baseline="0" dirty="0">
                <a:ln>
                  <a:noFill/>
                </a:ln>
                <a:solidFill>
                  <a:schemeClr val="accent6">
                    <a:lumMod val="60000"/>
                    <a:lumOff val="40000"/>
                  </a:schemeClr>
                </a:solidFill>
                <a:effectLst/>
              </a:rPr>
              <a:t>Charged-Off Loans </a:t>
            </a:r>
            <a:r>
              <a:rPr kumimoji="0" lang="en-US" altLang="en-US" sz="1600" i="0" u="none" strike="noStrike" cap="none" normalizeH="0" baseline="0" dirty="0">
                <a:ln>
                  <a:noFill/>
                </a:ln>
                <a:solidFill>
                  <a:schemeClr val="tx1"/>
                </a:solidFill>
                <a:effectLst/>
              </a:rPr>
              <a:t>have an MTD total received of 5.32 million against an MTD funded amount of 8.73 million, indicating some level of recovery despite their default status.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sng" strike="noStrike" cap="none" normalizeH="0" baseline="0" dirty="0">
                <a:ln>
                  <a:noFill/>
                </a:ln>
                <a:solidFill>
                  <a:schemeClr val="tx1"/>
                </a:solidFill>
                <a:effectLst/>
              </a:rPr>
              <a:t>Interest Rate and DTI Insights:</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1600" dirty="0">
                <a:solidFill>
                  <a:srgbClr val="92D050"/>
                </a:solidFill>
              </a:rPr>
              <a:t>F</a:t>
            </a:r>
            <a:r>
              <a:rPr kumimoji="0" lang="en-US" altLang="en-US" sz="1600" i="0" u="none" strike="noStrike" cap="none" normalizeH="0" baseline="0" dirty="0">
                <a:ln>
                  <a:noFill/>
                </a:ln>
                <a:solidFill>
                  <a:srgbClr val="92D050"/>
                </a:solidFill>
                <a:effectLst/>
              </a:rPr>
              <a:t>ully paid loans </a:t>
            </a:r>
            <a:r>
              <a:rPr kumimoji="0" lang="en-US" altLang="en-US" sz="1600" i="0" u="none" strike="noStrike" cap="none" normalizeH="0" baseline="0" dirty="0">
                <a:ln>
                  <a:noFill/>
                </a:ln>
                <a:solidFill>
                  <a:schemeClr val="tx1"/>
                </a:solidFill>
                <a:effectLst/>
              </a:rPr>
              <a:t>have the lowest average interest rate at 11.64% and DTI at 13.17%, indicating that borrowers with lower interest rates and DTI ratios are more likely to successfully repay loans.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60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i="0" u="none" strike="noStrike" cap="none" normalizeH="0" baseline="0" dirty="0">
                <a:ln>
                  <a:noFill/>
                </a:ln>
                <a:solidFill>
                  <a:srgbClr val="FFC000"/>
                </a:solidFill>
                <a:effectLst/>
              </a:rPr>
              <a:t>Current loans </a:t>
            </a:r>
            <a:r>
              <a:rPr kumimoji="0" lang="en-US" altLang="en-US" sz="1600" i="0" u="none" strike="noStrike" cap="none" normalizeH="0" baseline="0" dirty="0">
                <a:ln>
                  <a:noFill/>
                </a:ln>
                <a:solidFill>
                  <a:schemeClr val="tx1"/>
                </a:solidFill>
                <a:effectLst/>
              </a:rPr>
              <a:t>have the highest interest rate at 15.10% and a DTI of 14.72%, suggesting these are higher-risk loans that may still perform well.</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60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i="0" u="none" strike="noStrike" cap="none" normalizeH="0" baseline="0" dirty="0">
                <a:ln>
                  <a:noFill/>
                </a:ln>
                <a:solidFill>
                  <a:schemeClr val="accent6">
                    <a:lumMod val="60000"/>
                    <a:lumOff val="40000"/>
                  </a:schemeClr>
                </a:solidFill>
                <a:effectLst/>
              </a:rPr>
              <a:t>Charged-Off loans </a:t>
            </a:r>
            <a:r>
              <a:rPr kumimoji="0" lang="en-US" altLang="en-US" sz="1600" i="0" u="none" strike="noStrike" cap="none" normalizeH="0" baseline="0" dirty="0">
                <a:ln>
                  <a:noFill/>
                </a:ln>
                <a:solidFill>
                  <a:schemeClr val="tx1"/>
                </a:solidFill>
                <a:effectLst/>
              </a:rPr>
              <a:t>feature a higher average interest rate of 13.88% and a DTI ratio of 14.00%, confirming that loans with higher interest rates and DTI ratios are more likely to default.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Title 1">
            <a:extLst>
              <a:ext uri="{FF2B5EF4-FFF2-40B4-BE49-F238E27FC236}">
                <a16:creationId xmlns:a16="http://schemas.microsoft.com/office/drawing/2014/main" id="{3D7B7A11-6938-D4F1-7D73-531D721A15B6}"/>
              </a:ext>
            </a:extLst>
          </p:cNvPr>
          <p:cNvSpPr txBox="1">
            <a:spLocks/>
          </p:cNvSpPr>
          <p:nvPr/>
        </p:nvSpPr>
        <p:spPr>
          <a:xfrm>
            <a:off x="174698" y="118682"/>
            <a:ext cx="5379796" cy="533679"/>
          </a:xfrm>
          <a:prstGeom prst="rect">
            <a:avLst/>
          </a:prstGeom>
          <a:solidFill>
            <a:schemeClr val="accent2">
              <a:lumMod val="20000"/>
              <a:lumOff val="80000"/>
            </a:schemeClr>
          </a:solidFill>
          <a:ln>
            <a:solidFill>
              <a:schemeClr val="accent2"/>
            </a:solidFill>
          </a:ln>
        </p:spPr>
        <p:txBody>
          <a:bodyPr vert="horz" lIns="91440" tIns="45720" rIns="91440" bIns="45720" rtlCol="0" anchor="b">
            <a:noAutofit/>
          </a:bodyPr>
          <a:lstStyle>
            <a:lvl1pPr algn="l" defTabSz="914400" rtl="0" eaLnBrk="1" latinLnBrk="0" hangingPunct="1">
              <a:lnSpc>
                <a:spcPct val="120000"/>
              </a:lnSpc>
              <a:spcBef>
                <a:spcPct val="0"/>
              </a:spcBef>
              <a:buNone/>
              <a:defRPr sz="2800" b="1" kern="1200" cap="all" spc="600" baseline="0">
                <a:solidFill>
                  <a:schemeClr val="tx1"/>
                </a:solidFill>
                <a:latin typeface="+mj-lt"/>
                <a:ea typeface="+mj-ea"/>
                <a:cs typeface="+mj-cs"/>
              </a:defRPr>
            </a:lvl1pPr>
          </a:lstStyle>
          <a:p>
            <a:r>
              <a:rPr lang="en-US">
                <a:solidFill>
                  <a:schemeClr val="bg1"/>
                </a:solidFill>
              </a:rPr>
              <a:t>Overview (Loan Status)</a:t>
            </a:r>
            <a:endParaRPr lang="en-SG" dirty="0">
              <a:solidFill>
                <a:schemeClr val="bg1"/>
              </a:solidFill>
            </a:endParaRPr>
          </a:p>
        </p:txBody>
      </p:sp>
    </p:spTree>
    <p:extLst>
      <p:ext uri="{BB962C8B-B14F-4D97-AF65-F5344CB8AC3E}">
        <p14:creationId xmlns:p14="http://schemas.microsoft.com/office/powerpoint/2010/main" val="24392641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a:extLst>
              <a:ext uri="{FF2B5EF4-FFF2-40B4-BE49-F238E27FC236}">
                <a16:creationId xmlns:a16="http://schemas.microsoft.com/office/drawing/2014/main" id="{F622A92F-C746-29A4-6026-691993672393}"/>
              </a:ext>
            </a:extLst>
          </p:cNvPr>
          <p:cNvSpPr>
            <a:spLocks noGrp="1" noChangeArrowheads="1"/>
          </p:cNvSpPr>
          <p:nvPr>
            <p:ph idx="1"/>
          </p:nvPr>
        </p:nvSpPr>
        <p:spPr bwMode="auto">
          <a:xfrm>
            <a:off x="500763" y="1165051"/>
            <a:ext cx="11415619" cy="51172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buNone/>
            </a:pPr>
            <a:r>
              <a:rPr lang="en-US" b="1" u="sng" dirty="0"/>
              <a:t>Conclusion</a:t>
            </a:r>
          </a:p>
          <a:p>
            <a:pPr>
              <a:lnSpc>
                <a:spcPct val="100000"/>
              </a:lnSpc>
            </a:pPr>
            <a:r>
              <a:rPr lang="en-US" dirty="0"/>
              <a:t>The bank’s loan portfolio is performing well overall, with </a:t>
            </a:r>
            <a:r>
              <a:rPr lang="en-US" b="1" dirty="0"/>
              <a:t>fully paid loans</a:t>
            </a:r>
            <a:r>
              <a:rPr lang="en-US" dirty="0"/>
              <a:t> showing strong repayment trends and relatively low-risk metrics (low interest rate and DTI). However, </a:t>
            </a:r>
            <a:r>
              <a:rPr lang="en-US" b="1" dirty="0"/>
              <a:t>charged-off loans</a:t>
            </a:r>
            <a:r>
              <a:rPr lang="en-US" dirty="0"/>
              <a:t> represent a significant portion of defaults, and borrowers with higher interest rates and DTI ratios are more prone to default</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i="0" u="none" strike="noStrike" cap="none" normalizeH="0" baseline="0" dirty="0">
              <a:ln>
                <a:noFill/>
              </a:ln>
              <a:solidFill>
                <a:schemeClr val="tx1"/>
              </a:solidFill>
              <a:effectLst/>
            </a:endParaRPr>
          </a:p>
          <a:p>
            <a:pPr marL="0" indent="0">
              <a:buNone/>
            </a:pPr>
            <a:r>
              <a:rPr lang="en-US" b="1" u="sng" dirty="0"/>
              <a:t>Future Recommendations</a:t>
            </a:r>
          </a:p>
          <a:p>
            <a:pPr>
              <a:lnSpc>
                <a:spcPct val="100000"/>
              </a:lnSpc>
              <a:buFont typeface="Wingdings" panose="05000000000000000000" pitchFamily="2" charset="2"/>
              <a:buChar char="Ø"/>
            </a:pPr>
            <a:r>
              <a:rPr lang="en-US" b="1" dirty="0"/>
              <a:t>Introduce Tiered Interest Rate Loan Products</a:t>
            </a:r>
            <a:r>
              <a:rPr lang="en-US" dirty="0"/>
              <a:t>:</a:t>
            </a:r>
          </a:p>
          <a:p>
            <a:pPr>
              <a:lnSpc>
                <a:spcPct val="100000"/>
              </a:lnSpc>
            </a:pPr>
            <a:r>
              <a:rPr lang="en-US" dirty="0"/>
              <a:t>To encourage successful repayments, the bank could offer lower interest rates to borrowers who maintain good repayment behavior - a "reward" system for consistent payers.</a:t>
            </a:r>
          </a:p>
          <a:p>
            <a:pPr>
              <a:lnSpc>
                <a:spcPct val="100000"/>
              </a:lnSpc>
            </a:pPr>
            <a:endParaRPr lang="en-US" dirty="0"/>
          </a:p>
          <a:p>
            <a:pPr>
              <a:buFont typeface="Wingdings" panose="05000000000000000000" pitchFamily="2" charset="2"/>
              <a:buChar char="Ø"/>
            </a:pPr>
            <a:r>
              <a:rPr lang="en-US" b="1" dirty="0"/>
              <a:t>Predictive Analytics for Early Warning Systems</a:t>
            </a:r>
            <a:r>
              <a:rPr lang="en-US" dirty="0"/>
              <a:t>:</a:t>
            </a:r>
          </a:p>
          <a:p>
            <a:pPr>
              <a:lnSpc>
                <a:spcPct val="100000"/>
              </a:lnSpc>
            </a:pPr>
            <a:r>
              <a:rPr lang="en-US" dirty="0"/>
              <a:t>Implement predictive analytics to identify loans at risk of becoming </a:t>
            </a:r>
            <a:r>
              <a:rPr lang="en-US" b="1" dirty="0"/>
              <a:t>charged-off</a:t>
            </a:r>
            <a:r>
              <a:rPr lang="en-US" dirty="0"/>
              <a:t>. By analyzing patterns in borrower behavior (e.g., late payments, high DTI, or increasing loan balances), the bank can intervene earlier with payment plans</a:t>
            </a:r>
          </a:p>
        </p:txBody>
      </p:sp>
      <p:sp>
        <p:nvSpPr>
          <p:cNvPr id="8" name="Title 1">
            <a:extLst>
              <a:ext uri="{FF2B5EF4-FFF2-40B4-BE49-F238E27FC236}">
                <a16:creationId xmlns:a16="http://schemas.microsoft.com/office/drawing/2014/main" id="{82DC5683-CC71-9DA9-A735-C0D30531CB70}"/>
              </a:ext>
            </a:extLst>
          </p:cNvPr>
          <p:cNvSpPr>
            <a:spLocks noGrp="1"/>
          </p:cNvSpPr>
          <p:nvPr>
            <p:ph type="title"/>
          </p:nvPr>
        </p:nvSpPr>
        <p:spPr>
          <a:xfrm>
            <a:off x="388707" y="488333"/>
            <a:ext cx="5379796" cy="533679"/>
          </a:xfrm>
          <a:solidFill>
            <a:schemeClr val="accent2">
              <a:lumMod val="20000"/>
              <a:lumOff val="80000"/>
            </a:schemeClr>
          </a:solidFill>
          <a:ln>
            <a:solidFill>
              <a:schemeClr val="accent2"/>
            </a:solidFill>
          </a:ln>
        </p:spPr>
        <p:txBody>
          <a:bodyPr/>
          <a:lstStyle/>
          <a:p>
            <a:r>
              <a:rPr lang="en-US" dirty="0">
                <a:solidFill>
                  <a:schemeClr val="bg1"/>
                </a:solidFill>
              </a:rPr>
              <a:t>Overview (Loan Status)</a:t>
            </a:r>
            <a:endParaRPr lang="en-SG" dirty="0">
              <a:solidFill>
                <a:schemeClr val="bg1"/>
              </a:solidFill>
            </a:endParaRPr>
          </a:p>
        </p:txBody>
      </p:sp>
    </p:spTree>
    <p:extLst>
      <p:ext uri="{BB962C8B-B14F-4D97-AF65-F5344CB8AC3E}">
        <p14:creationId xmlns:p14="http://schemas.microsoft.com/office/powerpoint/2010/main" val="40956259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B76C0E-7587-E2FA-15CF-A6525748FB63}"/>
              </a:ext>
            </a:extLst>
          </p:cNvPr>
          <p:cNvSpPr>
            <a:spLocks noGrp="1"/>
          </p:cNvSpPr>
          <p:nvPr>
            <p:ph type="title"/>
          </p:nvPr>
        </p:nvSpPr>
        <p:spPr>
          <a:xfrm>
            <a:off x="544349" y="291829"/>
            <a:ext cx="4387574" cy="424400"/>
          </a:xfrm>
          <a:solidFill>
            <a:schemeClr val="accent2">
              <a:lumMod val="20000"/>
              <a:lumOff val="80000"/>
            </a:schemeClr>
          </a:solidFill>
          <a:ln>
            <a:solidFill>
              <a:schemeClr val="accent2"/>
            </a:solidFill>
          </a:ln>
        </p:spPr>
        <p:txBody>
          <a:bodyPr/>
          <a:lstStyle/>
          <a:p>
            <a:r>
              <a:rPr lang="en-US" dirty="0">
                <a:solidFill>
                  <a:schemeClr val="bg1"/>
                </a:solidFill>
              </a:rPr>
              <a:t>OVERVIEW(Monthly)</a:t>
            </a:r>
            <a:endParaRPr lang="en-SG" dirty="0">
              <a:solidFill>
                <a:schemeClr val="bg1"/>
              </a:solidFill>
            </a:endParaRPr>
          </a:p>
        </p:txBody>
      </p:sp>
      <p:pic>
        <p:nvPicPr>
          <p:cNvPr id="5" name="Content Placeholder 4">
            <a:extLst>
              <a:ext uri="{FF2B5EF4-FFF2-40B4-BE49-F238E27FC236}">
                <a16:creationId xmlns:a16="http://schemas.microsoft.com/office/drawing/2014/main" id="{B9C9A7D4-5D47-C2C3-8046-DB59883D5BEA}"/>
              </a:ext>
            </a:extLst>
          </p:cNvPr>
          <p:cNvPicPr>
            <a:picLocks noGrp="1" noChangeAspect="1"/>
          </p:cNvPicPr>
          <p:nvPr>
            <p:ph idx="1"/>
          </p:nvPr>
        </p:nvPicPr>
        <p:blipFill>
          <a:blip r:embed="rId2"/>
          <a:stretch>
            <a:fillRect/>
          </a:stretch>
        </p:blipFill>
        <p:spPr>
          <a:xfrm>
            <a:off x="544349" y="764867"/>
            <a:ext cx="4802815" cy="2240838"/>
          </a:xfrm>
        </p:spPr>
      </p:pic>
      <p:pic>
        <p:nvPicPr>
          <p:cNvPr id="7" name="Picture 6">
            <a:extLst>
              <a:ext uri="{FF2B5EF4-FFF2-40B4-BE49-F238E27FC236}">
                <a16:creationId xmlns:a16="http://schemas.microsoft.com/office/drawing/2014/main" id="{689D3708-EB49-147B-B296-F615DEF6FE4C}"/>
              </a:ext>
            </a:extLst>
          </p:cNvPr>
          <p:cNvPicPr>
            <a:picLocks noChangeAspect="1"/>
          </p:cNvPicPr>
          <p:nvPr/>
        </p:nvPicPr>
        <p:blipFill>
          <a:blip r:embed="rId3"/>
          <a:stretch>
            <a:fillRect/>
          </a:stretch>
        </p:blipFill>
        <p:spPr>
          <a:xfrm>
            <a:off x="6986297" y="106861"/>
            <a:ext cx="4968709" cy="3227410"/>
          </a:xfrm>
          <a:prstGeom prst="rect">
            <a:avLst/>
          </a:prstGeom>
        </p:spPr>
      </p:pic>
      <p:sp>
        <p:nvSpPr>
          <p:cNvPr id="8" name="TextBox 7">
            <a:extLst>
              <a:ext uri="{FF2B5EF4-FFF2-40B4-BE49-F238E27FC236}">
                <a16:creationId xmlns:a16="http://schemas.microsoft.com/office/drawing/2014/main" id="{6E998BA3-913B-F861-08BF-498495F95609}"/>
              </a:ext>
            </a:extLst>
          </p:cNvPr>
          <p:cNvSpPr txBox="1"/>
          <p:nvPr/>
        </p:nvSpPr>
        <p:spPr>
          <a:xfrm>
            <a:off x="236994" y="3054343"/>
            <a:ext cx="6484819" cy="3262432"/>
          </a:xfrm>
          <a:prstGeom prst="rect">
            <a:avLst/>
          </a:prstGeom>
          <a:noFill/>
        </p:spPr>
        <p:txBody>
          <a:bodyPr wrap="square" rtlCol="0">
            <a:spAutoFit/>
          </a:bodyPr>
          <a:lstStyle/>
          <a:p>
            <a:r>
              <a:rPr lang="en-US" b="1" u="sng" dirty="0"/>
              <a:t>Loan Applications: </a:t>
            </a:r>
          </a:p>
          <a:p>
            <a:r>
              <a:rPr lang="en-US" sz="1600" dirty="0"/>
              <a:t>The number of loan applications increases steadily throughout the year, starting from 2,332 applications in January and peaking at 4,314 applications in December. </a:t>
            </a:r>
          </a:p>
          <a:p>
            <a:endParaRPr lang="en-US" dirty="0"/>
          </a:p>
          <a:p>
            <a:r>
              <a:rPr lang="en-US" b="1" u="sng" dirty="0"/>
              <a:t>Total Funded Amount: </a:t>
            </a:r>
          </a:p>
          <a:p>
            <a:r>
              <a:rPr lang="en-US" sz="1600" dirty="0"/>
              <a:t>The total funded amount follows a similar upward trend, beginning at $25.03 million in January and reaching $53.98 million in December. </a:t>
            </a:r>
            <a:endParaRPr lang="en-US" dirty="0"/>
          </a:p>
          <a:p>
            <a:endParaRPr lang="en-US" dirty="0"/>
          </a:p>
          <a:p>
            <a:r>
              <a:rPr lang="en-US" b="1" u="sng" dirty="0"/>
              <a:t>Total Amount Received: </a:t>
            </a:r>
          </a:p>
          <a:p>
            <a:r>
              <a:rPr lang="en-US" sz="1600" dirty="0"/>
              <a:t>The total amount received by the bank shows consistent growth, with $27.58 million in January and $58.07 million in December. </a:t>
            </a:r>
            <a:endParaRPr lang="en-SG" dirty="0"/>
          </a:p>
        </p:txBody>
      </p:sp>
      <p:pic>
        <p:nvPicPr>
          <p:cNvPr id="15" name="Picture 14">
            <a:extLst>
              <a:ext uri="{FF2B5EF4-FFF2-40B4-BE49-F238E27FC236}">
                <a16:creationId xmlns:a16="http://schemas.microsoft.com/office/drawing/2014/main" id="{F7969B27-D870-AA79-5254-FF12BEB84F3F}"/>
              </a:ext>
            </a:extLst>
          </p:cNvPr>
          <p:cNvPicPr>
            <a:picLocks noChangeAspect="1"/>
          </p:cNvPicPr>
          <p:nvPr/>
        </p:nvPicPr>
        <p:blipFill>
          <a:blip r:embed="rId4"/>
          <a:stretch>
            <a:fillRect/>
          </a:stretch>
        </p:blipFill>
        <p:spPr>
          <a:xfrm>
            <a:off x="6986297" y="3531141"/>
            <a:ext cx="4968709" cy="3139321"/>
          </a:xfrm>
          <a:prstGeom prst="rect">
            <a:avLst/>
          </a:prstGeom>
        </p:spPr>
      </p:pic>
    </p:spTree>
    <p:extLst>
      <p:ext uri="{BB962C8B-B14F-4D97-AF65-F5344CB8AC3E}">
        <p14:creationId xmlns:p14="http://schemas.microsoft.com/office/powerpoint/2010/main" val="39663487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50395A13-E229-3EFA-F7DE-A7DE871916B4}"/>
              </a:ext>
            </a:extLst>
          </p:cNvPr>
          <p:cNvSpPr>
            <a:spLocks noGrp="1"/>
          </p:cNvSpPr>
          <p:nvPr>
            <p:ph idx="1"/>
          </p:nvPr>
        </p:nvSpPr>
        <p:spPr>
          <a:xfrm>
            <a:off x="632297" y="807396"/>
            <a:ext cx="10428051" cy="2247089"/>
          </a:xfrm>
          <a:solidFill>
            <a:schemeClr val="accent2">
              <a:lumMod val="20000"/>
              <a:lumOff val="80000"/>
            </a:schemeClr>
          </a:solidFill>
        </p:spPr>
        <p:txBody>
          <a:bodyPr>
            <a:normAutofit fontScale="85000" lnSpcReduction="20000"/>
          </a:bodyPr>
          <a:lstStyle/>
          <a:p>
            <a:pPr marL="0" indent="0">
              <a:buNone/>
            </a:pPr>
            <a:r>
              <a:rPr lang="en-US" b="1" dirty="0">
                <a:solidFill>
                  <a:schemeClr val="bg1"/>
                </a:solidFill>
              </a:rPr>
              <a:t>Conclusion</a:t>
            </a:r>
          </a:p>
          <a:p>
            <a:r>
              <a:rPr lang="en-US" dirty="0">
                <a:solidFill>
                  <a:schemeClr val="bg1"/>
                </a:solidFill>
              </a:rPr>
              <a:t>The bank has experienced strong loan growth throughout the year, with significant increases in both the number of applications and the total amount of </a:t>
            </a:r>
            <a:r>
              <a:rPr lang="en-US" sz="1900" dirty="0">
                <a:solidFill>
                  <a:schemeClr val="bg1"/>
                </a:solidFill>
              </a:rPr>
              <a:t>loans</a:t>
            </a:r>
            <a:r>
              <a:rPr lang="en-US" dirty="0">
                <a:solidFill>
                  <a:schemeClr val="bg1"/>
                </a:solidFill>
              </a:rPr>
              <a:t> funded. The second half of the year shows particularly robust growth in loan demand and repayment performance, as demonstrated by the sharp increase in both </a:t>
            </a:r>
            <a:r>
              <a:rPr lang="en-US" b="1" dirty="0">
                <a:solidFill>
                  <a:schemeClr val="bg1"/>
                </a:solidFill>
              </a:rPr>
              <a:t>total funded amounts</a:t>
            </a:r>
            <a:r>
              <a:rPr lang="en-US" dirty="0">
                <a:solidFill>
                  <a:schemeClr val="bg1"/>
                </a:solidFill>
              </a:rPr>
              <a:t> and </a:t>
            </a:r>
            <a:r>
              <a:rPr lang="en-US" b="1" dirty="0">
                <a:solidFill>
                  <a:schemeClr val="bg1"/>
                </a:solidFill>
              </a:rPr>
              <a:t>total amount received</a:t>
            </a:r>
            <a:r>
              <a:rPr lang="en-US" dirty="0">
                <a:solidFill>
                  <a:schemeClr val="bg1"/>
                </a:solidFill>
              </a:rPr>
              <a:t>.</a:t>
            </a:r>
          </a:p>
          <a:p>
            <a:r>
              <a:rPr lang="en-US" dirty="0">
                <a:solidFill>
                  <a:schemeClr val="bg1"/>
                </a:solidFill>
              </a:rPr>
              <a:t>The steady rise in </a:t>
            </a:r>
            <a:r>
              <a:rPr lang="en-US" b="1" dirty="0">
                <a:solidFill>
                  <a:schemeClr val="bg1"/>
                </a:solidFill>
              </a:rPr>
              <a:t>loan applications</a:t>
            </a:r>
            <a:r>
              <a:rPr lang="en-US" dirty="0">
                <a:solidFill>
                  <a:schemeClr val="bg1"/>
                </a:solidFill>
              </a:rPr>
              <a:t> and the corresponding increase in </a:t>
            </a:r>
            <a:r>
              <a:rPr lang="en-US" b="1" dirty="0">
                <a:solidFill>
                  <a:schemeClr val="bg1"/>
                </a:solidFill>
              </a:rPr>
              <a:t>funded amounts</a:t>
            </a:r>
            <a:r>
              <a:rPr lang="en-US" dirty="0">
                <a:solidFill>
                  <a:schemeClr val="bg1"/>
                </a:solidFill>
              </a:rPr>
              <a:t> indicate that the bank has been able to successfully meet borrower demand.</a:t>
            </a:r>
          </a:p>
          <a:p>
            <a:endParaRPr lang="en-SG" dirty="0"/>
          </a:p>
        </p:txBody>
      </p:sp>
      <p:sp>
        <p:nvSpPr>
          <p:cNvPr id="9" name="TextBox 8">
            <a:extLst>
              <a:ext uri="{FF2B5EF4-FFF2-40B4-BE49-F238E27FC236}">
                <a16:creationId xmlns:a16="http://schemas.microsoft.com/office/drawing/2014/main" id="{BBDB59E6-3654-FD98-FA56-467BA7A7B393}"/>
              </a:ext>
            </a:extLst>
          </p:cNvPr>
          <p:cNvSpPr txBox="1"/>
          <p:nvPr/>
        </p:nvSpPr>
        <p:spPr>
          <a:xfrm>
            <a:off x="544349" y="3429000"/>
            <a:ext cx="10982527" cy="3077766"/>
          </a:xfrm>
          <a:prstGeom prst="rect">
            <a:avLst/>
          </a:prstGeom>
          <a:noFill/>
        </p:spPr>
        <p:txBody>
          <a:bodyPr wrap="square" rtlCol="0">
            <a:spAutoFit/>
          </a:bodyPr>
          <a:lstStyle/>
          <a:p>
            <a:r>
              <a:rPr lang="en-US" sz="1600" b="1" dirty="0"/>
              <a:t>Future Recommendations:</a:t>
            </a:r>
          </a:p>
          <a:p>
            <a:endParaRPr lang="en-US" sz="1600" b="1" dirty="0"/>
          </a:p>
          <a:p>
            <a:pPr>
              <a:buFont typeface="+mj-lt"/>
              <a:buAutoNum type="arabicPeriod"/>
            </a:pPr>
            <a:r>
              <a:rPr lang="en-US" sz="1600" b="1" dirty="0"/>
              <a:t>Expand Loan Offerings in High-Demand Months</a:t>
            </a:r>
            <a:r>
              <a:rPr lang="en-US" sz="1600" dirty="0"/>
              <a:t>:</a:t>
            </a:r>
          </a:p>
          <a:p>
            <a:pPr lvl="1"/>
            <a:r>
              <a:rPr lang="en-US" sz="1600" dirty="0"/>
              <a:t>The data indicates that demand for loans is highest in the second half of the year, particularly from </a:t>
            </a:r>
            <a:r>
              <a:rPr lang="en-US" sz="1600" b="1" dirty="0"/>
              <a:t>July to December</a:t>
            </a:r>
            <a:r>
              <a:rPr lang="en-US" sz="1600" dirty="0"/>
              <a:t>. The bank should prepare for this by ensuring ample liquidity and potentially rolling out new or promotional loan products during these months to capture even more demand.</a:t>
            </a:r>
          </a:p>
          <a:p>
            <a:pPr lvl="1"/>
            <a:endParaRPr lang="en-US" sz="1600" dirty="0"/>
          </a:p>
          <a:p>
            <a:pPr>
              <a:buFont typeface="+mj-lt"/>
              <a:buAutoNum type="arabicPeriod"/>
            </a:pPr>
            <a:r>
              <a:rPr lang="en-US" sz="1600" b="1" dirty="0"/>
              <a:t>Utilize Predictive Analytics for Demand Forecasting</a:t>
            </a:r>
            <a:r>
              <a:rPr lang="en-US" sz="1600" dirty="0"/>
              <a:t>:</a:t>
            </a:r>
          </a:p>
          <a:p>
            <a:pPr lvl="1"/>
            <a:r>
              <a:rPr lang="en-US" sz="1600" dirty="0"/>
              <a:t>The clear seasonality in loan applications and funding suggests that the bank could benefit from more precise demand forecasting. By using predictive analytics, the bank can anticipate the number of loan applications it will receive and prepare accordingly (e.g., staffing, liquidity management).</a:t>
            </a:r>
          </a:p>
          <a:p>
            <a:endParaRPr lang="en-SG" dirty="0"/>
          </a:p>
        </p:txBody>
      </p:sp>
      <p:sp>
        <p:nvSpPr>
          <p:cNvPr id="12" name="Title 1">
            <a:extLst>
              <a:ext uri="{FF2B5EF4-FFF2-40B4-BE49-F238E27FC236}">
                <a16:creationId xmlns:a16="http://schemas.microsoft.com/office/drawing/2014/main" id="{3E987757-5941-376C-E2DC-72BDF080AD09}"/>
              </a:ext>
            </a:extLst>
          </p:cNvPr>
          <p:cNvSpPr>
            <a:spLocks noGrp="1"/>
          </p:cNvSpPr>
          <p:nvPr>
            <p:ph type="title"/>
          </p:nvPr>
        </p:nvSpPr>
        <p:spPr>
          <a:xfrm>
            <a:off x="632297" y="322050"/>
            <a:ext cx="4387574" cy="424400"/>
          </a:xfrm>
          <a:solidFill>
            <a:schemeClr val="accent2">
              <a:lumMod val="20000"/>
              <a:lumOff val="80000"/>
            </a:schemeClr>
          </a:solidFill>
          <a:ln>
            <a:solidFill>
              <a:schemeClr val="accent2"/>
            </a:solidFill>
          </a:ln>
        </p:spPr>
        <p:txBody>
          <a:bodyPr/>
          <a:lstStyle/>
          <a:p>
            <a:r>
              <a:rPr lang="en-US" dirty="0">
                <a:solidFill>
                  <a:schemeClr val="bg1"/>
                </a:solidFill>
              </a:rPr>
              <a:t>OVERVIEW(Monthly)</a:t>
            </a:r>
            <a:endParaRPr lang="en-SG" dirty="0">
              <a:solidFill>
                <a:schemeClr val="bg1"/>
              </a:solidFill>
            </a:endParaRPr>
          </a:p>
        </p:txBody>
      </p:sp>
    </p:spTree>
    <p:extLst>
      <p:ext uri="{BB962C8B-B14F-4D97-AF65-F5344CB8AC3E}">
        <p14:creationId xmlns:p14="http://schemas.microsoft.com/office/powerpoint/2010/main" val="33360902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C2E8DA-2155-231B-3174-BD293ADD2715}"/>
              </a:ext>
            </a:extLst>
          </p:cNvPr>
          <p:cNvSpPr>
            <a:spLocks noGrp="1"/>
          </p:cNvSpPr>
          <p:nvPr>
            <p:ph type="title"/>
          </p:nvPr>
        </p:nvSpPr>
        <p:spPr>
          <a:xfrm>
            <a:off x="651353" y="145884"/>
            <a:ext cx="4183294" cy="482766"/>
          </a:xfrm>
          <a:solidFill>
            <a:schemeClr val="accent2">
              <a:lumMod val="20000"/>
              <a:lumOff val="80000"/>
            </a:schemeClr>
          </a:solidFill>
          <a:ln>
            <a:solidFill>
              <a:schemeClr val="accent2"/>
            </a:solidFill>
          </a:ln>
        </p:spPr>
        <p:txBody>
          <a:bodyPr/>
          <a:lstStyle/>
          <a:p>
            <a:r>
              <a:rPr lang="en-US" dirty="0">
                <a:solidFill>
                  <a:schemeClr val="bg1"/>
                </a:solidFill>
              </a:rPr>
              <a:t>Overview (states)</a:t>
            </a:r>
            <a:endParaRPr lang="en-SG" dirty="0">
              <a:solidFill>
                <a:schemeClr val="bg1"/>
              </a:solidFill>
            </a:endParaRPr>
          </a:p>
        </p:txBody>
      </p:sp>
      <p:pic>
        <p:nvPicPr>
          <p:cNvPr id="5" name="Picture 4">
            <a:extLst>
              <a:ext uri="{FF2B5EF4-FFF2-40B4-BE49-F238E27FC236}">
                <a16:creationId xmlns:a16="http://schemas.microsoft.com/office/drawing/2014/main" id="{19677A22-34D4-8933-0CC3-25313BF40F05}"/>
              </a:ext>
            </a:extLst>
          </p:cNvPr>
          <p:cNvPicPr>
            <a:picLocks noChangeAspect="1"/>
          </p:cNvPicPr>
          <p:nvPr/>
        </p:nvPicPr>
        <p:blipFill>
          <a:blip r:embed="rId2"/>
          <a:stretch>
            <a:fillRect/>
          </a:stretch>
        </p:blipFill>
        <p:spPr>
          <a:xfrm>
            <a:off x="796506" y="750245"/>
            <a:ext cx="10504553" cy="3379146"/>
          </a:xfrm>
          <a:prstGeom prst="rect">
            <a:avLst/>
          </a:prstGeom>
        </p:spPr>
      </p:pic>
      <p:sp>
        <p:nvSpPr>
          <p:cNvPr id="9" name="Content Placeholder 8">
            <a:extLst>
              <a:ext uri="{FF2B5EF4-FFF2-40B4-BE49-F238E27FC236}">
                <a16:creationId xmlns:a16="http://schemas.microsoft.com/office/drawing/2014/main" id="{05B3C936-F433-9814-96B3-1C82108C02C4}"/>
              </a:ext>
            </a:extLst>
          </p:cNvPr>
          <p:cNvSpPr>
            <a:spLocks noGrp="1"/>
          </p:cNvSpPr>
          <p:nvPr>
            <p:ph idx="1"/>
          </p:nvPr>
        </p:nvSpPr>
        <p:spPr>
          <a:xfrm>
            <a:off x="796506" y="4250986"/>
            <a:ext cx="11003145" cy="2461129"/>
          </a:xfrm>
        </p:spPr>
        <p:txBody>
          <a:bodyPr/>
          <a:lstStyle/>
          <a:p>
            <a:pPr marL="0" indent="0">
              <a:buNone/>
            </a:pPr>
            <a:r>
              <a:rPr lang="en-US" b="1" dirty="0"/>
              <a:t>State-wise Loan Applications</a:t>
            </a:r>
            <a:r>
              <a:rPr lang="en-US" dirty="0"/>
              <a:t>:</a:t>
            </a:r>
          </a:p>
          <a:p>
            <a:pPr>
              <a:buFont typeface="Arial" panose="020B0604020202020204" pitchFamily="34" charset="0"/>
              <a:buChar char="•"/>
            </a:pPr>
            <a:r>
              <a:rPr lang="en-US" sz="1600" b="1" dirty="0"/>
              <a:t>California (CA)</a:t>
            </a:r>
            <a:r>
              <a:rPr lang="en-US" sz="1600" dirty="0"/>
              <a:t> leads with </a:t>
            </a:r>
            <a:r>
              <a:rPr lang="en-US" sz="1600" b="1" dirty="0"/>
              <a:t>6,894 total loan applications</a:t>
            </a:r>
            <a:r>
              <a:rPr lang="en-US" sz="1600" dirty="0"/>
              <a:t>, followed by </a:t>
            </a:r>
            <a:r>
              <a:rPr lang="en-US" sz="1600" b="1" dirty="0"/>
              <a:t>New York (NY)</a:t>
            </a:r>
            <a:r>
              <a:rPr lang="en-US" sz="1600" dirty="0"/>
              <a:t> with </a:t>
            </a:r>
            <a:r>
              <a:rPr lang="en-US" sz="1600" b="1" dirty="0"/>
              <a:t>3,701 applications</a:t>
            </a:r>
            <a:r>
              <a:rPr lang="en-US" sz="1600" dirty="0"/>
              <a:t> and </a:t>
            </a:r>
            <a:r>
              <a:rPr lang="en-US" sz="1600" b="1" dirty="0"/>
              <a:t>Florida (FL)</a:t>
            </a:r>
            <a:r>
              <a:rPr lang="en-US" sz="1600" dirty="0"/>
              <a:t> with </a:t>
            </a:r>
            <a:r>
              <a:rPr lang="en-US" sz="1600" b="1" dirty="0"/>
              <a:t>2,773 applications</a:t>
            </a:r>
            <a:r>
              <a:rPr lang="en-US" sz="1600" dirty="0"/>
              <a:t>.</a:t>
            </a:r>
          </a:p>
          <a:p>
            <a:pPr>
              <a:buFont typeface="Arial" panose="020B0604020202020204" pitchFamily="34" charset="0"/>
              <a:buChar char="•"/>
            </a:pPr>
            <a:r>
              <a:rPr lang="en-US" sz="1600" dirty="0"/>
              <a:t>States with very low loan application counts include </a:t>
            </a:r>
            <a:r>
              <a:rPr lang="en-US" sz="1600" b="1" dirty="0"/>
              <a:t>Iowa (IA)</a:t>
            </a:r>
            <a:r>
              <a:rPr lang="en-US" sz="1600" dirty="0"/>
              <a:t> and </a:t>
            </a:r>
            <a:r>
              <a:rPr lang="en-US" sz="1600" b="1" dirty="0"/>
              <a:t>Nebraska (NE)</a:t>
            </a:r>
            <a:r>
              <a:rPr lang="en-US" sz="1600" dirty="0"/>
              <a:t>, each having fewer than 10 applications.</a:t>
            </a:r>
          </a:p>
          <a:p>
            <a:endParaRPr lang="en-SG" dirty="0"/>
          </a:p>
        </p:txBody>
      </p:sp>
    </p:spTree>
    <p:extLst>
      <p:ext uri="{BB962C8B-B14F-4D97-AF65-F5344CB8AC3E}">
        <p14:creationId xmlns:p14="http://schemas.microsoft.com/office/powerpoint/2010/main" val="9131935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DC305BD-2C62-F96A-2DFD-B33D9CD29A8E}"/>
              </a:ext>
            </a:extLst>
          </p:cNvPr>
          <p:cNvPicPr>
            <a:picLocks noChangeAspect="1"/>
          </p:cNvPicPr>
          <p:nvPr/>
        </p:nvPicPr>
        <p:blipFill>
          <a:blip r:embed="rId2"/>
          <a:stretch>
            <a:fillRect/>
          </a:stretch>
        </p:blipFill>
        <p:spPr>
          <a:xfrm>
            <a:off x="297257" y="975753"/>
            <a:ext cx="5604189" cy="4462595"/>
          </a:xfrm>
          <a:prstGeom prst="rect">
            <a:avLst/>
          </a:prstGeom>
        </p:spPr>
      </p:pic>
      <p:pic>
        <p:nvPicPr>
          <p:cNvPr id="6" name="Picture 5">
            <a:extLst>
              <a:ext uri="{FF2B5EF4-FFF2-40B4-BE49-F238E27FC236}">
                <a16:creationId xmlns:a16="http://schemas.microsoft.com/office/drawing/2014/main" id="{E21A1243-091F-20D6-4687-263CACB28039}"/>
              </a:ext>
            </a:extLst>
          </p:cNvPr>
          <p:cNvPicPr>
            <a:picLocks noChangeAspect="1"/>
          </p:cNvPicPr>
          <p:nvPr/>
        </p:nvPicPr>
        <p:blipFill>
          <a:blip r:embed="rId3"/>
          <a:stretch>
            <a:fillRect/>
          </a:stretch>
        </p:blipFill>
        <p:spPr>
          <a:xfrm>
            <a:off x="6290553" y="965439"/>
            <a:ext cx="5604190" cy="4472909"/>
          </a:xfrm>
          <a:prstGeom prst="rect">
            <a:avLst/>
          </a:prstGeom>
        </p:spPr>
      </p:pic>
      <p:sp>
        <p:nvSpPr>
          <p:cNvPr id="7" name="Title 1">
            <a:extLst>
              <a:ext uri="{FF2B5EF4-FFF2-40B4-BE49-F238E27FC236}">
                <a16:creationId xmlns:a16="http://schemas.microsoft.com/office/drawing/2014/main" id="{B31A1A56-7F39-57F7-5622-6339DB5DCD03}"/>
              </a:ext>
            </a:extLst>
          </p:cNvPr>
          <p:cNvSpPr txBox="1">
            <a:spLocks/>
          </p:cNvSpPr>
          <p:nvPr/>
        </p:nvSpPr>
        <p:spPr>
          <a:xfrm>
            <a:off x="366009" y="308012"/>
            <a:ext cx="4183294" cy="482766"/>
          </a:xfrm>
          <a:prstGeom prst="rect">
            <a:avLst/>
          </a:prstGeom>
          <a:solidFill>
            <a:schemeClr val="accent2">
              <a:lumMod val="20000"/>
              <a:lumOff val="80000"/>
            </a:schemeClr>
          </a:solidFill>
          <a:ln>
            <a:solidFill>
              <a:schemeClr val="accent2"/>
            </a:solidFill>
          </a:ln>
        </p:spPr>
        <p:txBody>
          <a:bodyPr/>
          <a:lstStyle>
            <a:lvl1pPr algn="l" defTabSz="914400" rtl="0" eaLnBrk="1" latinLnBrk="0" hangingPunct="1">
              <a:lnSpc>
                <a:spcPct val="120000"/>
              </a:lnSpc>
              <a:spcBef>
                <a:spcPct val="0"/>
              </a:spcBef>
              <a:buNone/>
              <a:defRPr sz="2800" b="1" kern="1200" cap="all" spc="600" baseline="0">
                <a:solidFill>
                  <a:schemeClr val="tx1"/>
                </a:solidFill>
                <a:latin typeface="+mj-lt"/>
                <a:ea typeface="+mj-ea"/>
                <a:cs typeface="+mj-cs"/>
              </a:defRPr>
            </a:lvl1pPr>
          </a:lstStyle>
          <a:p>
            <a:r>
              <a:rPr lang="en-US" dirty="0">
                <a:solidFill>
                  <a:schemeClr val="bg1"/>
                </a:solidFill>
              </a:rPr>
              <a:t>Overview (states)</a:t>
            </a:r>
            <a:endParaRPr lang="en-SG" dirty="0">
              <a:solidFill>
                <a:schemeClr val="bg1"/>
              </a:solidFill>
            </a:endParaRPr>
          </a:p>
        </p:txBody>
      </p:sp>
    </p:spTree>
    <p:extLst>
      <p:ext uri="{BB962C8B-B14F-4D97-AF65-F5344CB8AC3E}">
        <p14:creationId xmlns:p14="http://schemas.microsoft.com/office/powerpoint/2010/main" val="23249946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05B3C936-F433-9814-96B3-1C82108C02C4}"/>
              </a:ext>
            </a:extLst>
          </p:cNvPr>
          <p:cNvSpPr>
            <a:spLocks noGrp="1"/>
          </p:cNvSpPr>
          <p:nvPr>
            <p:ph idx="1"/>
          </p:nvPr>
        </p:nvSpPr>
        <p:spPr/>
        <p:txBody>
          <a:bodyPr/>
          <a:lstStyle/>
          <a:p>
            <a:endParaRPr lang="en-SG" dirty="0"/>
          </a:p>
        </p:txBody>
      </p:sp>
      <p:pic>
        <p:nvPicPr>
          <p:cNvPr id="10" name="Picture 9">
            <a:extLst>
              <a:ext uri="{FF2B5EF4-FFF2-40B4-BE49-F238E27FC236}">
                <a16:creationId xmlns:a16="http://schemas.microsoft.com/office/drawing/2014/main" id="{4F507F55-A5AF-1303-7DF4-7DB728FE47D4}"/>
              </a:ext>
            </a:extLst>
          </p:cNvPr>
          <p:cNvPicPr>
            <a:picLocks noChangeAspect="1"/>
          </p:cNvPicPr>
          <p:nvPr/>
        </p:nvPicPr>
        <p:blipFill>
          <a:blip r:embed="rId2"/>
          <a:stretch>
            <a:fillRect/>
          </a:stretch>
        </p:blipFill>
        <p:spPr>
          <a:xfrm>
            <a:off x="0" y="773752"/>
            <a:ext cx="6090996" cy="5792418"/>
          </a:xfrm>
          <a:prstGeom prst="rect">
            <a:avLst/>
          </a:prstGeom>
        </p:spPr>
      </p:pic>
      <p:pic>
        <p:nvPicPr>
          <p:cNvPr id="12" name="Picture 11">
            <a:extLst>
              <a:ext uri="{FF2B5EF4-FFF2-40B4-BE49-F238E27FC236}">
                <a16:creationId xmlns:a16="http://schemas.microsoft.com/office/drawing/2014/main" id="{ACD72A54-6E16-029F-68D1-E270B745CD47}"/>
              </a:ext>
            </a:extLst>
          </p:cNvPr>
          <p:cNvPicPr>
            <a:picLocks noChangeAspect="1"/>
          </p:cNvPicPr>
          <p:nvPr/>
        </p:nvPicPr>
        <p:blipFill>
          <a:blip r:embed="rId3"/>
          <a:stretch>
            <a:fillRect/>
          </a:stretch>
        </p:blipFill>
        <p:spPr>
          <a:xfrm>
            <a:off x="6075868" y="773752"/>
            <a:ext cx="6113803" cy="5792418"/>
          </a:xfrm>
          <a:prstGeom prst="rect">
            <a:avLst/>
          </a:prstGeom>
        </p:spPr>
      </p:pic>
      <p:sp>
        <p:nvSpPr>
          <p:cNvPr id="15" name="Title 1">
            <a:extLst>
              <a:ext uri="{FF2B5EF4-FFF2-40B4-BE49-F238E27FC236}">
                <a16:creationId xmlns:a16="http://schemas.microsoft.com/office/drawing/2014/main" id="{2F419861-32E3-3E34-21A0-2795D321BCB0}"/>
              </a:ext>
            </a:extLst>
          </p:cNvPr>
          <p:cNvSpPr txBox="1">
            <a:spLocks/>
          </p:cNvSpPr>
          <p:nvPr/>
        </p:nvSpPr>
        <p:spPr>
          <a:xfrm>
            <a:off x="262246" y="111590"/>
            <a:ext cx="4183294" cy="482766"/>
          </a:xfrm>
          <a:prstGeom prst="rect">
            <a:avLst/>
          </a:prstGeom>
          <a:solidFill>
            <a:schemeClr val="accent2">
              <a:lumMod val="20000"/>
              <a:lumOff val="80000"/>
            </a:schemeClr>
          </a:solidFill>
          <a:ln>
            <a:solidFill>
              <a:schemeClr val="accent2"/>
            </a:solidFill>
          </a:ln>
        </p:spPr>
        <p:txBody>
          <a:bodyPr vert="horz" lIns="91440" tIns="45720" rIns="91440" bIns="45720" rtlCol="0" anchor="b">
            <a:noAutofit/>
          </a:bodyPr>
          <a:lstStyle>
            <a:lvl1pPr algn="l" defTabSz="914400" rtl="0" eaLnBrk="1" latinLnBrk="0" hangingPunct="1">
              <a:lnSpc>
                <a:spcPct val="120000"/>
              </a:lnSpc>
              <a:spcBef>
                <a:spcPct val="0"/>
              </a:spcBef>
              <a:buNone/>
              <a:defRPr sz="2800" b="1" kern="1200" cap="all" spc="600" baseline="0">
                <a:solidFill>
                  <a:schemeClr val="tx1"/>
                </a:solidFill>
                <a:latin typeface="+mj-lt"/>
                <a:ea typeface="+mj-ea"/>
                <a:cs typeface="+mj-cs"/>
              </a:defRPr>
            </a:lvl1pPr>
          </a:lstStyle>
          <a:p>
            <a:r>
              <a:rPr lang="en-US">
                <a:solidFill>
                  <a:schemeClr val="bg1"/>
                </a:solidFill>
              </a:rPr>
              <a:t>Overview (states)</a:t>
            </a:r>
            <a:endParaRPr lang="en-SG" dirty="0">
              <a:solidFill>
                <a:schemeClr val="bg1"/>
              </a:solidFill>
            </a:endParaRPr>
          </a:p>
        </p:txBody>
      </p:sp>
    </p:spTree>
    <p:extLst>
      <p:ext uri="{BB962C8B-B14F-4D97-AF65-F5344CB8AC3E}">
        <p14:creationId xmlns:p14="http://schemas.microsoft.com/office/powerpoint/2010/main" val="26573598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11467ED-A027-477B-9B19-33000E4EBE95}"/>
              </a:ext>
            </a:extLst>
          </p:cNvPr>
          <p:cNvSpPr>
            <a:spLocks noGrp="1"/>
          </p:cNvSpPr>
          <p:nvPr>
            <p:ph idx="1"/>
          </p:nvPr>
        </p:nvSpPr>
        <p:spPr>
          <a:xfrm>
            <a:off x="137809" y="762000"/>
            <a:ext cx="11916382" cy="3356043"/>
          </a:xfrm>
        </p:spPr>
        <p:txBody>
          <a:bodyPr>
            <a:normAutofit/>
          </a:bodyPr>
          <a:lstStyle/>
          <a:p>
            <a:pPr marL="0" indent="0">
              <a:buNone/>
            </a:pPr>
            <a:r>
              <a:rPr lang="en-US" b="1" u="sng" dirty="0"/>
              <a:t>Total Funded Amount</a:t>
            </a:r>
          </a:p>
          <a:p>
            <a:r>
              <a:rPr lang="en-US" sz="1600" dirty="0"/>
              <a:t>The largest amount of loans funded also corresponds to California, which has $78.48 million in loans disbursed. Other high-funded states include New York ($42.08 million), Texas ($31.23 million), and Florida ($30.04 million).</a:t>
            </a:r>
          </a:p>
          <a:p>
            <a:r>
              <a:rPr lang="en-US" sz="1600" dirty="0"/>
              <a:t>The smallest funded amounts appear in states like Idaho (ID) with $59,750 and Iowa (IA) with $56,450.</a:t>
            </a:r>
          </a:p>
          <a:p>
            <a:pPr marL="0" indent="0">
              <a:buNone/>
            </a:pPr>
            <a:r>
              <a:rPr lang="en-US" b="1" u="sng" dirty="0"/>
              <a:t>Total Amount Received</a:t>
            </a:r>
          </a:p>
          <a:p>
            <a:r>
              <a:rPr lang="en-US" sz="1600" dirty="0"/>
              <a:t>The states that received the most funds back from borrowers are California ($83.90 million), New York ($46.1 million), Florida ($31.60 million), and Texas ($34.39 million).</a:t>
            </a:r>
          </a:p>
          <a:p>
            <a:r>
              <a:rPr lang="en-US" sz="1600" dirty="0"/>
              <a:t>The smallest amounts received come from states such as Idaho ($65,329) and Iowa ($64,482).</a:t>
            </a:r>
            <a:endParaRPr lang="en-SG" sz="1600" dirty="0"/>
          </a:p>
        </p:txBody>
      </p:sp>
      <p:sp>
        <p:nvSpPr>
          <p:cNvPr id="4" name="Title 1">
            <a:extLst>
              <a:ext uri="{FF2B5EF4-FFF2-40B4-BE49-F238E27FC236}">
                <a16:creationId xmlns:a16="http://schemas.microsoft.com/office/drawing/2014/main" id="{C0DC857F-D812-7D43-B4C8-D767C4720BE4}"/>
              </a:ext>
            </a:extLst>
          </p:cNvPr>
          <p:cNvSpPr>
            <a:spLocks noGrp="1"/>
          </p:cNvSpPr>
          <p:nvPr>
            <p:ph type="title"/>
          </p:nvPr>
        </p:nvSpPr>
        <p:spPr>
          <a:xfrm>
            <a:off x="157265" y="239915"/>
            <a:ext cx="4201977" cy="522085"/>
          </a:xfrm>
          <a:solidFill>
            <a:schemeClr val="accent2">
              <a:lumMod val="20000"/>
              <a:lumOff val="80000"/>
            </a:schemeClr>
          </a:solidFill>
          <a:ln>
            <a:solidFill>
              <a:schemeClr val="accent1"/>
            </a:solidFill>
          </a:ln>
        </p:spPr>
        <p:txBody>
          <a:bodyPr/>
          <a:lstStyle/>
          <a:p>
            <a:r>
              <a:rPr lang="en-US" dirty="0">
                <a:solidFill>
                  <a:schemeClr val="bg1"/>
                </a:solidFill>
              </a:rPr>
              <a:t>Overview (states)</a:t>
            </a:r>
            <a:endParaRPr lang="en-SG" dirty="0">
              <a:solidFill>
                <a:schemeClr val="bg1"/>
              </a:solidFill>
            </a:endParaRPr>
          </a:p>
        </p:txBody>
      </p:sp>
      <p:sp>
        <p:nvSpPr>
          <p:cNvPr id="7" name="TextBox 6">
            <a:extLst>
              <a:ext uri="{FF2B5EF4-FFF2-40B4-BE49-F238E27FC236}">
                <a16:creationId xmlns:a16="http://schemas.microsoft.com/office/drawing/2014/main" id="{EA62AF86-FC62-9BCB-D45E-31F098749733}"/>
              </a:ext>
            </a:extLst>
          </p:cNvPr>
          <p:cNvSpPr txBox="1"/>
          <p:nvPr/>
        </p:nvSpPr>
        <p:spPr>
          <a:xfrm>
            <a:off x="381000" y="4347308"/>
            <a:ext cx="11430000" cy="2092881"/>
          </a:xfrm>
          <a:prstGeom prst="rect">
            <a:avLst/>
          </a:prstGeom>
          <a:solidFill>
            <a:schemeClr val="accent2">
              <a:lumMod val="20000"/>
              <a:lumOff val="80000"/>
            </a:schemeClr>
          </a:solidFill>
        </p:spPr>
        <p:txBody>
          <a:bodyPr wrap="square">
            <a:spAutoFit/>
          </a:bodyPr>
          <a:lstStyle/>
          <a:p>
            <a:r>
              <a:rPr lang="en-US" b="1" u="sng" dirty="0">
                <a:solidFill>
                  <a:schemeClr val="bg1"/>
                </a:solidFill>
              </a:rPr>
              <a:t>Conclusion &amp; Recommendations</a:t>
            </a:r>
          </a:p>
          <a:p>
            <a:pPr marL="285750" indent="-285750">
              <a:buFont typeface="Arial" panose="020B0604020202020204" pitchFamily="34" charset="0"/>
              <a:buChar char="•"/>
            </a:pPr>
            <a:r>
              <a:rPr lang="en-US" sz="1600" b="1" dirty="0">
                <a:solidFill>
                  <a:schemeClr val="bg1"/>
                </a:solidFill>
              </a:rPr>
              <a:t>Geographic Concentration</a:t>
            </a:r>
            <a:r>
              <a:rPr lang="en-US" sz="1600" dirty="0">
                <a:solidFill>
                  <a:schemeClr val="bg1"/>
                </a:solidFill>
              </a:rPr>
              <a:t>: The highest loan activity is concentrated in states with large populations and economic centers, such as California, New York, Texas, and Florida. These states lead in terms of both loan applications and the amounts funded and received. This suggests that the bank's lending operations are most active in the most populous states.</a:t>
            </a:r>
          </a:p>
          <a:p>
            <a:pPr marL="285750" indent="-285750">
              <a:buFont typeface="Arial" panose="020B0604020202020204" pitchFamily="34" charset="0"/>
              <a:buChar char="•"/>
            </a:pPr>
            <a:endParaRPr lang="en-US" sz="1600" dirty="0">
              <a:solidFill>
                <a:schemeClr val="bg1"/>
              </a:solidFill>
            </a:endParaRPr>
          </a:p>
          <a:p>
            <a:pPr marL="285750" indent="-285750">
              <a:buFont typeface="Arial" panose="020B0604020202020204" pitchFamily="34" charset="0"/>
              <a:buChar char="•"/>
            </a:pPr>
            <a:r>
              <a:rPr lang="en-US" sz="1600" b="1" dirty="0">
                <a:solidFill>
                  <a:schemeClr val="bg1"/>
                </a:solidFill>
              </a:rPr>
              <a:t>Low-Volume States</a:t>
            </a:r>
            <a:r>
              <a:rPr lang="en-US" sz="1600" dirty="0">
                <a:solidFill>
                  <a:schemeClr val="bg1"/>
                </a:solidFill>
              </a:rPr>
              <a:t>: States like Iowa, Idaho, and Vermont show very limited loan activity, with both small numbers of applications and low funded amounts. These states may be areas where the bank could explore market expansion or decide to minimize its efforts depending on the economic potential.</a:t>
            </a:r>
            <a:endParaRPr lang="en-SG" sz="1600" dirty="0">
              <a:solidFill>
                <a:schemeClr val="bg1"/>
              </a:solidFill>
            </a:endParaRPr>
          </a:p>
        </p:txBody>
      </p:sp>
    </p:spTree>
    <p:extLst>
      <p:ext uri="{BB962C8B-B14F-4D97-AF65-F5344CB8AC3E}">
        <p14:creationId xmlns:p14="http://schemas.microsoft.com/office/powerpoint/2010/main" val="42562518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CA0DCE3-1D2D-AC15-E61E-21D0049992D6}"/>
              </a:ext>
            </a:extLst>
          </p:cNvPr>
          <p:cNvSpPr>
            <a:spLocks noGrp="1"/>
          </p:cNvSpPr>
          <p:nvPr>
            <p:ph idx="1"/>
          </p:nvPr>
        </p:nvSpPr>
        <p:spPr>
          <a:xfrm>
            <a:off x="388706" y="1031133"/>
            <a:ext cx="5905090" cy="3268494"/>
          </a:xfrm>
        </p:spPr>
        <p:txBody>
          <a:bodyPr>
            <a:normAutofit/>
          </a:bodyPr>
          <a:lstStyle/>
          <a:p>
            <a:pPr marL="0" indent="0">
              <a:lnSpc>
                <a:spcPct val="100000"/>
              </a:lnSpc>
              <a:buNone/>
            </a:pPr>
            <a:r>
              <a:rPr lang="en-US" b="1" u="sng" dirty="0"/>
              <a:t>Total Funded Amount</a:t>
            </a:r>
          </a:p>
          <a:p>
            <a:pPr>
              <a:lnSpc>
                <a:spcPct val="100000"/>
              </a:lnSpc>
            </a:pPr>
            <a:r>
              <a:rPr lang="en-US" sz="1600" dirty="0"/>
              <a:t>The total funded amount for 36-month loans is significantly higher than the funded for 60-month loans. </a:t>
            </a:r>
          </a:p>
          <a:p>
            <a:pPr marL="0" indent="0">
              <a:lnSpc>
                <a:spcPct val="100000"/>
              </a:lnSpc>
              <a:buNone/>
            </a:pPr>
            <a:r>
              <a:rPr lang="en-US" b="1" u="sng" dirty="0"/>
              <a:t>Total Amount Received</a:t>
            </a:r>
          </a:p>
          <a:p>
            <a:pPr>
              <a:lnSpc>
                <a:spcPct val="100000"/>
              </a:lnSpc>
            </a:pPr>
            <a:r>
              <a:rPr lang="en-US" sz="1600" dirty="0"/>
              <a:t>The 36-month loans, the bank has received is higher than the for 60-month loans. </a:t>
            </a:r>
          </a:p>
          <a:p>
            <a:pPr marL="0" indent="0">
              <a:lnSpc>
                <a:spcPct val="100000"/>
              </a:lnSpc>
              <a:buNone/>
            </a:pPr>
            <a:r>
              <a:rPr lang="en-US" b="1" u="sng" dirty="0"/>
              <a:t>Performance by Loan Term</a:t>
            </a:r>
          </a:p>
          <a:p>
            <a:pPr>
              <a:lnSpc>
                <a:spcPct val="100000"/>
              </a:lnSpc>
            </a:pPr>
            <a:r>
              <a:rPr lang="en-US" sz="1600" dirty="0"/>
              <a:t>The total amount received for 36-month loans is about 108% of the total amount funded while 60-month loans received is 109% of the total funded.</a:t>
            </a:r>
            <a:endParaRPr lang="en-SG" sz="1600" dirty="0"/>
          </a:p>
        </p:txBody>
      </p:sp>
      <p:pic>
        <p:nvPicPr>
          <p:cNvPr id="5" name="Picture 4">
            <a:extLst>
              <a:ext uri="{FF2B5EF4-FFF2-40B4-BE49-F238E27FC236}">
                <a16:creationId xmlns:a16="http://schemas.microsoft.com/office/drawing/2014/main" id="{E7D4DAAE-0B59-14D7-2ECE-243CE34BFBCF}"/>
              </a:ext>
            </a:extLst>
          </p:cNvPr>
          <p:cNvPicPr>
            <a:picLocks noChangeAspect="1"/>
          </p:cNvPicPr>
          <p:nvPr/>
        </p:nvPicPr>
        <p:blipFill>
          <a:blip r:embed="rId2"/>
          <a:stretch>
            <a:fillRect/>
          </a:stretch>
        </p:blipFill>
        <p:spPr>
          <a:xfrm>
            <a:off x="6484700" y="2919959"/>
            <a:ext cx="5512588" cy="3122579"/>
          </a:xfrm>
          <a:prstGeom prst="rect">
            <a:avLst/>
          </a:prstGeom>
        </p:spPr>
      </p:pic>
      <p:sp>
        <p:nvSpPr>
          <p:cNvPr id="6" name="Title 1">
            <a:extLst>
              <a:ext uri="{FF2B5EF4-FFF2-40B4-BE49-F238E27FC236}">
                <a16:creationId xmlns:a16="http://schemas.microsoft.com/office/drawing/2014/main" id="{2480176A-9F07-D809-CF13-0AFE8E10C987}"/>
              </a:ext>
            </a:extLst>
          </p:cNvPr>
          <p:cNvSpPr>
            <a:spLocks noGrp="1"/>
          </p:cNvSpPr>
          <p:nvPr>
            <p:ph type="title"/>
          </p:nvPr>
        </p:nvSpPr>
        <p:spPr>
          <a:xfrm>
            <a:off x="388706" y="239915"/>
            <a:ext cx="4201977" cy="522085"/>
          </a:xfrm>
          <a:solidFill>
            <a:schemeClr val="accent2">
              <a:lumMod val="20000"/>
              <a:lumOff val="80000"/>
            </a:schemeClr>
          </a:solidFill>
          <a:ln>
            <a:solidFill>
              <a:schemeClr val="accent1"/>
            </a:solidFill>
          </a:ln>
        </p:spPr>
        <p:txBody>
          <a:bodyPr/>
          <a:lstStyle/>
          <a:p>
            <a:r>
              <a:rPr lang="en-US" dirty="0">
                <a:solidFill>
                  <a:schemeClr val="bg1"/>
                </a:solidFill>
              </a:rPr>
              <a:t>Overview (terms)</a:t>
            </a:r>
            <a:endParaRPr lang="en-SG" dirty="0">
              <a:solidFill>
                <a:schemeClr val="bg1"/>
              </a:solidFill>
            </a:endParaRPr>
          </a:p>
        </p:txBody>
      </p:sp>
      <p:pic>
        <p:nvPicPr>
          <p:cNvPr id="8" name="Picture 7">
            <a:extLst>
              <a:ext uri="{FF2B5EF4-FFF2-40B4-BE49-F238E27FC236}">
                <a16:creationId xmlns:a16="http://schemas.microsoft.com/office/drawing/2014/main" id="{F8C062E4-7A79-FB16-0E46-4BBB17BEDAB8}"/>
              </a:ext>
            </a:extLst>
          </p:cNvPr>
          <p:cNvPicPr>
            <a:picLocks noChangeAspect="1"/>
          </p:cNvPicPr>
          <p:nvPr/>
        </p:nvPicPr>
        <p:blipFill>
          <a:blip r:embed="rId3"/>
          <a:stretch>
            <a:fillRect/>
          </a:stretch>
        </p:blipFill>
        <p:spPr>
          <a:xfrm>
            <a:off x="6484700" y="815462"/>
            <a:ext cx="5467350" cy="1724025"/>
          </a:xfrm>
          <a:prstGeom prst="rect">
            <a:avLst/>
          </a:prstGeom>
        </p:spPr>
      </p:pic>
      <p:sp>
        <p:nvSpPr>
          <p:cNvPr id="10" name="TextBox 9">
            <a:extLst>
              <a:ext uri="{FF2B5EF4-FFF2-40B4-BE49-F238E27FC236}">
                <a16:creationId xmlns:a16="http://schemas.microsoft.com/office/drawing/2014/main" id="{01A1CEA4-E9AF-A8B2-D14B-CA679E3DD464}"/>
              </a:ext>
            </a:extLst>
          </p:cNvPr>
          <p:cNvSpPr txBox="1"/>
          <p:nvPr/>
        </p:nvSpPr>
        <p:spPr>
          <a:xfrm>
            <a:off x="483388" y="4568760"/>
            <a:ext cx="5603132" cy="1600438"/>
          </a:xfrm>
          <a:prstGeom prst="rect">
            <a:avLst/>
          </a:prstGeom>
          <a:solidFill>
            <a:schemeClr val="accent2">
              <a:lumMod val="20000"/>
              <a:lumOff val="80000"/>
            </a:schemeClr>
          </a:solidFill>
        </p:spPr>
        <p:txBody>
          <a:bodyPr wrap="square" rtlCol="0">
            <a:spAutoFit/>
          </a:bodyPr>
          <a:lstStyle/>
          <a:p>
            <a:r>
              <a:rPr lang="en-US" b="1" u="sng" dirty="0">
                <a:solidFill>
                  <a:schemeClr val="bg1"/>
                </a:solidFill>
              </a:rPr>
              <a:t>Conclusion</a:t>
            </a:r>
          </a:p>
          <a:p>
            <a:r>
              <a:rPr lang="en-US" sz="1600" b="1" dirty="0">
                <a:solidFill>
                  <a:schemeClr val="bg1"/>
                </a:solidFill>
              </a:rPr>
              <a:t>Shorter-Term Loans Dominate</a:t>
            </a:r>
            <a:r>
              <a:rPr lang="en-US" sz="1600" dirty="0">
                <a:solidFill>
                  <a:schemeClr val="bg1"/>
                </a:solidFill>
              </a:rPr>
              <a:t>: The 36-month loan term is more popular, accounting for almost three times as many applications as the 60-month term. These shorter loans are also associated with higher total amounts funded and received, making them a key part of the bank’s loan portfolio.</a:t>
            </a:r>
            <a:endParaRPr lang="en-SG" sz="1600" dirty="0">
              <a:solidFill>
                <a:schemeClr val="bg1"/>
              </a:solidFill>
            </a:endParaRPr>
          </a:p>
        </p:txBody>
      </p:sp>
    </p:spTree>
    <p:extLst>
      <p:ext uri="{BB962C8B-B14F-4D97-AF65-F5344CB8AC3E}">
        <p14:creationId xmlns:p14="http://schemas.microsoft.com/office/powerpoint/2010/main" val="35671999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3635E47-839D-5DB6-6EE5-C3176290DF27}"/>
              </a:ext>
            </a:extLst>
          </p:cNvPr>
          <p:cNvPicPr>
            <a:picLocks noChangeAspect="1"/>
          </p:cNvPicPr>
          <p:nvPr/>
        </p:nvPicPr>
        <p:blipFill>
          <a:blip r:embed="rId2"/>
          <a:stretch>
            <a:fillRect/>
          </a:stretch>
        </p:blipFill>
        <p:spPr>
          <a:xfrm>
            <a:off x="15104" y="865760"/>
            <a:ext cx="4868181" cy="3281464"/>
          </a:xfrm>
          <a:prstGeom prst="rect">
            <a:avLst/>
          </a:prstGeom>
        </p:spPr>
      </p:pic>
      <p:sp>
        <p:nvSpPr>
          <p:cNvPr id="4" name="Title 1">
            <a:extLst>
              <a:ext uri="{FF2B5EF4-FFF2-40B4-BE49-F238E27FC236}">
                <a16:creationId xmlns:a16="http://schemas.microsoft.com/office/drawing/2014/main" id="{21CDF004-0271-ECEC-3F1D-8DC3E1CB08EC}"/>
              </a:ext>
            </a:extLst>
          </p:cNvPr>
          <p:cNvSpPr txBox="1">
            <a:spLocks/>
          </p:cNvSpPr>
          <p:nvPr/>
        </p:nvSpPr>
        <p:spPr>
          <a:xfrm>
            <a:off x="388706" y="239915"/>
            <a:ext cx="6595754" cy="522085"/>
          </a:xfrm>
          <a:prstGeom prst="rect">
            <a:avLst/>
          </a:prstGeom>
          <a:solidFill>
            <a:schemeClr val="accent2">
              <a:lumMod val="20000"/>
              <a:lumOff val="80000"/>
            </a:schemeClr>
          </a:solidFill>
          <a:ln>
            <a:solidFill>
              <a:schemeClr val="accent1"/>
            </a:solidFill>
          </a:ln>
        </p:spPr>
        <p:txBody>
          <a:bodyPr/>
          <a:lstStyle>
            <a:lvl1pPr algn="l" defTabSz="914400" rtl="0" eaLnBrk="1" latinLnBrk="0" hangingPunct="1">
              <a:lnSpc>
                <a:spcPct val="120000"/>
              </a:lnSpc>
              <a:spcBef>
                <a:spcPct val="0"/>
              </a:spcBef>
              <a:buNone/>
              <a:defRPr sz="2800" b="1" kern="1200" cap="all" spc="600" baseline="0">
                <a:solidFill>
                  <a:schemeClr val="tx1"/>
                </a:solidFill>
                <a:latin typeface="+mj-lt"/>
                <a:ea typeface="+mj-ea"/>
                <a:cs typeface="+mj-cs"/>
              </a:defRPr>
            </a:lvl1pPr>
          </a:lstStyle>
          <a:p>
            <a:r>
              <a:rPr lang="en-US" dirty="0">
                <a:solidFill>
                  <a:schemeClr val="bg1"/>
                </a:solidFill>
              </a:rPr>
              <a:t>Overview (EMPLOYEE LENGTH )</a:t>
            </a:r>
            <a:endParaRPr lang="en-SG" dirty="0">
              <a:solidFill>
                <a:schemeClr val="bg1"/>
              </a:solidFill>
            </a:endParaRPr>
          </a:p>
        </p:txBody>
      </p:sp>
      <p:pic>
        <p:nvPicPr>
          <p:cNvPr id="8" name="Picture 7">
            <a:extLst>
              <a:ext uri="{FF2B5EF4-FFF2-40B4-BE49-F238E27FC236}">
                <a16:creationId xmlns:a16="http://schemas.microsoft.com/office/drawing/2014/main" id="{D4BD8CCC-16E5-A103-6C9D-8E040284AD02}"/>
              </a:ext>
            </a:extLst>
          </p:cNvPr>
          <p:cNvPicPr>
            <a:picLocks noChangeAspect="1"/>
          </p:cNvPicPr>
          <p:nvPr/>
        </p:nvPicPr>
        <p:blipFill>
          <a:blip r:embed="rId3"/>
          <a:stretch>
            <a:fillRect/>
          </a:stretch>
        </p:blipFill>
        <p:spPr>
          <a:xfrm>
            <a:off x="5005998" y="865760"/>
            <a:ext cx="7170898" cy="3281465"/>
          </a:xfrm>
          <a:prstGeom prst="rect">
            <a:avLst/>
          </a:prstGeom>
        </p:spPr>
      </p:pic>
      <p:sp>
        <p:nvSpPr>
          <p:cNvPr id="11" name="TextBox 10">
            <a:extLst>
              <a:ext uri="{FF2B5EF4-FFF2-40B4-BE49-F238E27FC236}">
                <a16:creationId xmlns:a16="http://schemas.microsoft.com/office/drawing/2014/main" id="{7C245C31-3135-380A-080A-25A1C46F866E}"/>
              </a:ext>
            </a:extLst>
          </p:cNvPr>
          <p:cNvSpPr txBox="1"/>
          <p:nvPr/>
        </p:nvSpPr>
        <p:spPr>
          <a:xfrm>
            <a:off x="388706" y="4147224"/>
            <a:ext cx="11803294" cy="2646878"/>
          </a:xfrm>
          <a:prstGeom prst="rect">
            <a:avLst/>
          </a:prstGeom>
          <a:noFill/>
        </p:spPr>
        <p:txBody>
          <a:bodyPr wrap="square">
            <a:spAutoFit/>
          </a:bodyPr>
          <a:lstStyle/>
          <a:p>
            <a:r>
              <a:rPr lang="en-US" b="1" u="sng" dirty="0"/>
              <a:t>Loan Application</a:t>
            </a:r>
          </a:p>
          <a:p>
            <a:pPr marL="285750" indent="-285750">
              <a:buFont typeface="Arial" panose="020B0604020202020204" pitchFamily="34" charset="0"/>
              <a:buChar char="•"/>
            </a:pPr>
            <a:r>
              <a:rPr lang="en-US" sz="1600" dirty="0"/>
              <a:t>Employees with </a:t>
            </a:r>
            <a:r>
              <a:rPr lang="en-US" sz="1600" dirty="0">
                <a:solidFill>
                  <a:schemeClr val="accent2"/>
                </a:solidFill>
              </a:rPr>
              <a:t>10+ years </a:t>
            </a:r>
            <a:r>
              <a:rPr lang="en-US" sz="1600" dirty="0"/>
              <a:t>of experience account for the largest portion of loan applications, with 8,870 applications, representing a significant share of the total loan portfolio.</a:t>
            </a:r>
          </a:p>
          <a:p>
            <a:pPr marL="285750" indent="-285750">
              <a:buFont typeface="Arial" panose="020B0604020202020204" pitchFamily="34" charset="0"/>
              <a:buChar char="•"/>
            </a:pPr>
            <a:r>
              <a:rPr lang="en-US" sz="1600" dirty="0"/>
              <a:t>The next highest group is employees with </a:t>
            </a:r>
            <a:r>
              <a:rPr lang="en-US" sz="1600" dirty="0">
                <a:solidFill>
                  <a:schemeClr val="accent5"/>
                </a:solidFill>
              </a:rPr>
              <a:t>&lt;1 year </a:t>
            </a:r>
            <a:r>
              <a:rPr lang="en-US" sz="1600" dirty="0"/>
              <a:t>of experience, with 4,575 applications, followed by those with 2 years of experience (4,382 applications).</a:t>
            </a:r>
          </a:p>
          <a:p>
            <a:endParaRPr lang="en-US" dirty="0"/>
          </a:p>
          <a:p>
            <a:r>
              <a:rPr lang="en-US" b="1" u="sng" dirty="0"/>
              <a:t>Total Funded Amount</a:t>
            </a:r>
          </a:p>
          <a:p>
            <a:pPr marL="285750" indent="-285750">
              <a:buFont typeface="Arial" panose="020B0604020202020204" pitchFamily="34" charset="0"/>
              <a:buChar char="•"/>
            </a:pPr>
            <a:r>
              <a:rPr lang="en-US" sz="1600" dirty="0"/>
              <a:t>Employees with </a:t>
            </a:r>
            <a:r>
              <a:rPr lang="en-US" sz="1600" dirty="0">
                <a:solidFill>
                  <a:schemeClr val="accent2"/>
                </a:solidFill>
              </a:rPr>
              <a:t>10+ years </a:t>
            </a:r>
            <a:r>
              <a:rPr lang="en-US" sz="1600" dirty="0"/>
              <a:t>of experience received the highest total funded amount of $116,115,950, which is almost three times more than the next largest group (employees with </a:t>
            </a:r>
            <a:r>
              <a:rPr lang="en-US" sz="1600" dirty="0">
                <a:solidFill>
                  <a:schemeClr val="accent5"/>
                </a:solidFill>
              </a:rPr>
              <a:t>&lt;1 year </a:t>
            </a:r>
            <a:r>
              <a:rPr lang="en-US" sz="1600" dirty="0"/>
              <a:t>of experience at $44,210,625).</a:t>
            </a:r>
          </a:p>
          <a:p>
            <a:pPr marL="285750" indent="-285750">
              <a:buFont typeface="Arial" panose="020B0604020202020204" pitchFamily="34" charset="0"/>
              <a:buChar char="•"/>
            </a:pPr>
            <a:r>
              <a:rPr lang="en-US" sz="1600" dirty="0"/>
              <a:t>Funding decreases with fewer years of experience, with employees in the </a:t>
            </a:r>
            <a:r>
              <a:rPr lang="en-US" sz="1600" b="1" dirty="0">
                <a:solidFill>
                  <a:schemeClr val="tx2">
                    <a:lumMod val="75000"/>
                  </a:schemeClr>
                </a:solidFill>
              </a:rPr>
              <a:t>6-9 year</a:t>
            </a:r>
            <a:r>
              <a:rPr lang="en-US" sz="1600" dirty="0">
                <a:solidFill>
                  <a:schemeClr val="tx2">
                    <a:lumMod val="75000"/>
                  </a:schemeClr>
                </a:solidFill>
              </a:rPr>
              <a:t> </a:t>
            </a:r>
            <a:r>
              <a:rPr lang="en-US" sz="1600" dirty="0"/>
              <a:t>range receiving some of the lowest total amounts.</a:t>
            </a:r>
            <a:endParaRPr lang="en-SG" sz="1600" dirty="0"/>
          </a:p>
        </p:txBody>
      </p:sp>
    </p:spTree>
    <p:extLst>
      <p:ext uri="{BB962C8B-B14F-4D97-AF65-F5344CB8AC3E}">
        <p14:creationId xmlns:p14="http://schemas.microsoft.com/office/powerpoint/2010/main" val="9404906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8C31CC-55F1-E42E-0156-BFC3F5EC4E76}"/>
              </a:ext>
            </a:extLst>
          </p:cNvPr>
          <p:cNvSpPr txBox="1">
            <a:spLocks/>
          </p:cNvSpPr>
          <p:nvPr/>
        </p:nvSpPr>
        <p:spPr>
          <a:xfrm>
            <a:off x="388706" y="239915"/>
            <a:ext cx="6595754" cy="522085"/>
          </a:xfrm>
          <a:prstGeom prst="rect">
            <a:avLst/>
          </a:prstGeom>
          <a:solidFill>
            <a:schemeClr val="accent2">
              <a:lumMod val="20000"/>
              <a:lumOff val="80000"/>
            </a:schemeClr>
          </a:solidFill>
          <a:ln>
            <a:solidFill>
              <a:schemeClr val="accent1"/>
            </a:solidFill>
          </a:ln>
        </p:spPr>
        <p:txBody>
          <a:bodyPr/>
          <a:lstStyle>
            <a:lvl1pPr algn="l" defTabSz="914400" rtl="0" eaLnBrk="1" latinLnBrk="0" hangingPunct="1">
              <a:lnSpc>
                <a:spcPct val="120000"/>
              </a:lnSpc>
              <a:spcBef>
                <a:spcPct val="0"/>
              </a:spcBef>
              <a:buNone/>
              <a:defRPr sz="2800" b="1" kern="1200" cap="all" spc="600" baseline="0">
                <a:solidFill>
                  <a:schemeClr val="tx1"/>
                </a:solidFill>
                <a:latin typeface="+mj-lt"/>
                <a:ea typeface="+mj-ea"/>
                <a:cs typeface="+mj-cs"/>
              </a:defRPr>
            </a:lvl1pPr>
          </a:lstStyle>
          <a:p>
            <a:r>
              <a:rPr lang="en-US" dirty="0">
                <a:solidFill>
                  <a:schemeClr val="bg1"/>
                </a:solidFill>
              </a:rPr>
              <a:t>Overview (EMPLOYEE LENGTH )</a:t>
            </a:r>
            <a:endParaRPr lang="en-SG" dirty="0">
              <a:solidFill>
                <a:schemeClr val="bg1"/>
              </a:solidFill>
            </a:endParaRPr>
          </a:p>
        </p:txBody>
      </p:sp>
      <p:sp>
        <p:nvSpPr>
          <p:cNvPr id="4" name="TextBox 3">
            <a:extLst>
              <a:ext uri="{FF2B5EF4-FFF2-40B4-BE49-F238E27FC236}">
                <a16:creationId xmlns:a16="http://schemas.microsoft.com/office/drawing/2014/main" id="{CF08160D-926A-140C-31EE-4EDF956420C6}"/>
              </a:ext>
            </a:extLst>
          </p:cNvPr>
          <p:cNvSpPr txBox="1"/>
          <p:nvPr/>
        </p:nvSpPr>
        <p:spPr>
          <a:xfrm>
            <a:off x="135787" y="1194588"/>
            <a:ext cx="11381762" cy="1477328"/>
          </a:xfrm>
          <a:prstGeom prst="rect">
            <a:avLst/>
          </a:prstGeom>
          <a:noFill/>
        </p:spPr>
        <p:txBody>
          <a:bodyPr wrap="square">
            <a:spAutoFit/>
          </a:bodyPr>
          <a:lstStyle/>
          <a:p>
            <a:r>
              <a:rPr lang="en-US" dirty="0"/>
              <a:t>Total Amount Received </a:t>
            </a:r>
          </a:p>
          <a:p>
            <a:pPr marL="285750" indent="-285750">
              <a:buFont typeface="Arial" panose="020B0604020202020204" pitchFamily="34" charset="0"/>
              <a:buChar char="•"/>
            </a:pPr>
            <a:r>
              <a:rPr lang="en-US" dirty="0"/>
              <a:t>Employees with </a:t>
            </a:r>
            <a:r>
              <a:rPr lang="en-US" dirty="0">
                <a:solidFill>
                  <a:schemeClr val="accent2"/>
                </a:solidFill>
              </a:rPr>
              <a:t>10+ years </a:t>
            </a:r>
            <a:r>
              <a:rPr lang="en-US" dirty="0"/>
              <a:t>of experience have contributed the highest total amount received at $125,871,616, significantly higher than other groups.</a:t>
            </a:r>
          </a:p>
          <a:p>
            <a:pPr marL="285750" indent="-285750">
              <a:buFont typeface="Arial" panose="020B0604020202020204" pitchFamily="34" charset="0"/>
              <a:buChar char="•"/>
            </a:pPr>
            <a:r>
              <a:rPr lang="en-US" dirty="0"/>
              <a:t>All groups show solid repayment relative to the amount funded. However, employees in the </a:t>
            </a:r>
            <a:r>
              <a:rPr lang="en-US" b="1" dirty="0">
                <a:solidFill>
                  <a:schemeClr val="tx2">
                    <a:lumMod val="75000"/>
                  </a:schemeClr>
                </a:solidFill>
              </a:rPr>
              <a:t>6 to 9 years</a:t>
            </a:r>
            <a:r>
              <a:rPr lang="en-US" dirty="0">
                <a:solidFill>
                  <a:schemeClr val="tx2">
                    <a:lumMod val="75000"/>
                  </a:schemeClr>
                </a:solidFill>
              </a:rPr>
              <a:t> </a:t>
            </a:r>
            <a:r>
              <a:rPr lang="en-US" dirty="0"/>
              <a:t>segment have slightly lower total amounts received relative to what was funded.</a:t>
            </a:r>
            <a:endParaRPr lang="en-SG" dirty="0"/>
          </a:p>
        </p:txBody>
      </p:sp>
      <p:sp>
        <p:nvSpPr>
          <p:cNvPr id="6" name="TextBox 5">
            <a:extLst>
              <a:ext uri="{FF2B5EF4-FFF2-40B4-BE49-F238E27FC236}">
                <a16:creationId xmlns:a16="http://schemas.microsoft.com/office/drawing/2014/main" id="{4A182F5C-AB19-4A17-5FC4-A5F3366C0BC7}"/>
              </a:ext>
            </a:extLst>
          </p:cNvPr>
          <p:cNvSpPr txBox="1"/>
          <p:nvPr/>
        </p:nvSpPr>
        <p:spPr>
          <a:xfrm>
            <a:off x="135787" y="3269875"/>
            <a:ext cx="11965021" cy="3139321"/>
          </a:xfrm>
          <a:prstGeom prst="rect">
            <a:avLst/>
          </a:prstGeom>
          <a:solidFill>
            <a:schemeClr val="accent2">
              <a:lumMod val="20000"/>
              <a:lumOff val="80000"/>
            </a:schemeClr>
          </a:solidFill>
        </p:spPr>
        <p:txBody>
          <a:bodyPr wrap="square">
            <a:spAutoFit/>
          </a:bodyPr>
          <a:lstStyle/>
          <a:p>
            <a:r>
              <a:rPr lang="en-US" b="1" u="sng" dirty="0">
                <a:solidFill>
                  <a:schemeClr val="bg1"/>
                </a:solidFill>
              </a:rPr>
              <a:t>Future Recommendations</a:t>
            </a:r>
          </a:p>
          <a:p>
            <a:pPr marL="285750" indent="-285750">
              <a:buFont typeface="Arial" panose="020B0604020202020204" pitchFamily="34" charset="0"/>
              <a:buChar char="•"/>
            </a:pPr>
            <a:r>
              <a:rPr lang="en-US" b="1" dirty="0">
                <a:solidFill>
                  <a:schemeClr val="bg1"/>
                </a:solidFill>
              </a:rPr>
              <a:t>Focus on Retaining Long-Term Clients</a:t>
            </a:r>
            <a:r>
              <a:rPr lang="en-US" dirty="0">
                <a:solidFill>
                  <a:schemeClr val="bg1"/>
                </a:solidFill>
              </a:rPr>
              <a:t>: Offering loyalty incentives, lower interest rates, or additional financial products (e.g., investment opportunities) to the employees with </a:t>
            </a:r>
            <a:r>
              <a:rPr lang="en-US" dirty="0">
                <a:solidFill>
                  <a:schemeClr val="accent2"/>
                </a:solidFill>
              </a:rPr>
              <a:t>10+ years </a:t>
            </a:r>
            <a:r>
              <a:rPr lang="en-US" dirty="0">
                <a:solidFill>
                  <a:schemeClr val="bg1"/>
                </a:solidFill>
              </a:rPr>
              <a:t>of experience.</a:t>
            </a:r>
          </a:p>
          <a:p>
            <a:pPr marL="285750" indent="-285750">
              <a:buFont typeface="Arial" panose="020B0604020202020204" pitchFamily="34" charset="0"/>
              <a:buChar char="•"/>
            </a:pPr>
            <a:endParaRPr lang="en-US" dirty="0">
              <a:solidFill>
                <a:schemeClr val="bg1"/>
              </a:solidFill>
            </a:endParaRPr>
          </a:p>
          <a:p>
            <a:pPr marL="285750" indent="-285750">
              <a:buFont typeface="Arial" panose="020B0604020202020204" pitchFamily="34" charset="0"/>
              <a:buChar char="•"/>
            </a:pPr>
            <a:r>
              <a:rPr lang="en-US" b="1" dirty="0">
                <a:solidFill>
                  <a:schemeClr val="bg1"/>
                </a:solidFill>
              </a:rPr>
              <a:t>Expand Support for Early-Career Borrowers</a:t>
            </a:r>
            <a:r>
              <a:rPr lang="en-US" dirty="0">
                <a:solidFill>
                  <a:schemeClr val="bg1"/>
                </a:solidFill>
              </a:rPr>
              <a:t>: The bank should consider expanding its offerings to newer employees </a:t>
            </a:r>
            <a:r>
              <a:rPr lang="en-US" dirty="0">
                <a:solidFill>
                  <a:schemeClr val="accent5"/>
                </a:solidFill>
              </a:rPr>
              <a:t>(&lt;1 year </a:t>
            </a:r>
            <a:r>
              <a:rPr lang="en-US" dirty="0">
                <a:solidFill>
                  <a:schemeClr val="bg1"/>
                </a:solidFill>
              </a:rPr>
              <a:t>of experience). This could include tailored loan packages that focus on first-time borrowers, lower initial loan amounts, or flexible repayment plans.</a:t>
            </a:r>
          </a:p>
          <a:p>
            <a:pPr marL="285750" indent="-285750">
              <a:buFont typeface="Arial" panose="020B0604020202020204" pitchFamily="34" charset="0"/>
              <a:buChar char="•"/>
            </a:pPr>
            <a:endParaRPr lang="en-US" dirty="0">
              <a:solidFill>
                <a:schemeClr val="bg1"/>
              </a:solidFill>
            </a:endParaRPr>
          </a:p>
          <a:p>
            <a:pPr marL="285750" indent="-285750">
              <a:buFont typeface="Arial" panose="020B0604020202020204" pitchFamily="34" charset="0"/>
              <a:buChar char="•"/>
            </a:pPr>
            <a:r>
              <a:rPr lang="en-US" b="1" dirty="0">
                <a:solidFill>
                  <a:schemeClr val="bg1"/>
                </a:solidFill>
              </a:rPr>
              <a:t>Address the Mid-Career Segment:</a:t>
            </a:r>
            <a:r>
              <a:rPr lang="en-US" dirty="0">
                <a:solidFill>
                  <a:schemeClr val="bg1"/>
                </a:solidFill>
              </a:rPr>
              <a:t> The relatively lower loan demand from employees in the </a:t>
            </a:r>
            <a:r>
              <a:rPr lang="en-US" dirty="0">
                <a:solidFill>
                  <a:schemeClr val="tx2">
                    <a:lumMod val="50000"/>
                  </a:schemeClr>
                </a:solidFill>
              </a:rPr>
              <a:t>6 to 9 years </a:t>
            </a:r>
            <a:r>
              <a:rPr lang="en-US" dirty="0">
                <a:solidFill>
                  <a:schemeClr val="bg1"/>
                </a:solidFill>
              </a:rPr>
              <a:t>segment suggests potential untapped opportunity. The bank could explore why this group applies for fewer loans (e.g., higher perceived risks, different financial priorities) and offer tailored products to meet their needs. </a:t>
            </a:r>
            <a:endParaRPr lang="en-SG" dirty="0">
              <a:solidFill>
                <a:schemeClr val="bg1"/>
              </a:solidFill>
            </a:endParaRPr>
          </a:p>
        </p:txBody>
      </p:sp>
    </p:spTree>
    <p:extLst>
      <p:ext uri="{BB962C8B-B14F-4D97-AF65-F5344CB8AC3E}">
        <p14:creationId xmlns:p14="http://schemas.microsoft.com/office/powerpoint/2010/main" val="9856961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730CA7-018F-805F-63EA-47351B501861}"/>
              </a:ext>
            </a:extLst>
          </p:cNvPr>
          <p:cNvSpPr txBox="1">
            <a:spLocks/>
          </p:cNvSpPr>
          <p:nvPr/>
        </p:nvSpPr>
        <p:spPr>
          <a:xfrm>
            <a:off x="388706" y="239915"/>
            <a:ext cx="4815592" cy="522085"/>
          </a:xfrm>
          <a:prstGeom prst="rect">
            <a:avLst/>
          </a:prstGeom>
          <a:solidFill>
            <a:schemeClr val="accent2">
              <a:lumMod val="20000"/>
              <a:lumOff val="80000"/>
            </a:schemeClr>
          </a:solidFill>
          <a:ln>
            <a:solidFill>
              <a:schemeClr val="accent1"/>
            </a:solidFill>
          </a:ln>
        </p:spPr>
        <p:txBody>
          <a:bodyPr/>
          <a:lstStyle>
            <a:lvl1pPr algn="l" defTabSz="914400" rtl="0" eaLnBrk="1" latinLnBrk="0" hangingPunct="1">
              <a:lnSpc>
                <a:spcPct val="120000"/>
              </a:lnSpc>
              <a:spcBef>
                <a:spcPct val="0"/>
              </a:spcBef>
              <a:buNone/>
              <a:defRPr sz="2800" b="1" kern="1200" cap="all" spc="600" baseline="0">
                <a:solidFill>
                  <a:schemeClr val="tx1"/>
                </a:solidFill>
                <a:latin typeface="+mj-lt"/>
                <a:ea typeface="+mj-ea"/>
                <a:cs typeface="+mj-cs"/>
              </a:defRPr>
            </a:lvl1pPr>
          </a:lstStyle>
          <a:p>
            <a:r>
              <a:rPr lang="en-US" dirty="0">
                <a:solidFill>
                  <a:schemeClr val="bg1"/>
                </a:solidFill>
              </a:rPr>
              <a:t>Overview (purposes)</a:t>
            </a:r>
            <a:endParaRPr lang="en-SG" dirty="0">
              <a:solidFill>
                <a:schemeClr val="bg1"/>
              </a:solidFill>
            </a:endParaRPr>
          </a:p>
        </p:txBody>
      </p:sp>
      <p:pic>
        <p:nvPicPr>
          <p:cNvPr id="4" name="Picture 3">
            <a:extLst>
              <a:ext uri="{FF2B5EF4-FFF2-40B4-BE49-F238E27FC236}">
                <a16:creationId xmlns:a16="http://schemas.microsoft.com/office/drawing/2014/main" id="{A8D97B42-FD85-6426-647E-B877B744548C}"/>
              </a:ext>
            </a:extLst>
          </p:cNvPr>
          <p:cNvPicPr>
            <a:picLocks noChangeAspect="1"/>
          </p:cNvPicPr>
          <p:nvPr/>
        </p:nvPicPr>
        <p:blipFill>
          <a:blip r:embed="rId2"/>
          <a:stretch>
            <a:fillRect/>
          </a:stretch>
        </p:blipFill>
        <p:spPr>
          <a:xfrm>
            <a:off x="5291847" y="217025"/>
            <a:ext cx="6580457" cy="3987679"/>
          </a:xfrm>
          <a:prstGeom prst="rect">
            <a:avLst/>
          </a:prstGeom>
        </p:spPr>
      </p:pic>
      <p:pic>
        <p:nvPicPr>
          <p:cNvPr id="6" name="Picture 5">
            <a:extLst>
              <a:ext uri="{FF2B5EF4-FFF2-40B4-BE49-F238E27FC236}">
                <a16:creationId xmlns:a16="http://schemas.microsoft.com/office/drawing/2014/main" id="{E5036FB6-F945-C0EC-A010-B8F610349BF2}"/>
              </a:ext>
            </a:extLst>
          </p:cNvPr>
          <p:cNvPicPr>
            <a:picLocks noChangeAspect="1"/>
          </p:cNvPicPr>
          <p:nvPr/>
        </p:nvPicPr>
        <p:blipFill>
          <a:blip r:embed="rId3"/>
          <a:stretch>
            <a:fillRect/>
          </a:stretch>
        </p:blipFill>
        <p:spPr>
          <a:xfrm>
            <a:off x="388706" y="854484"/>
            <a:ext cx="4262032" cy="3350220"/>
          </a:xfrm>
          <a:prstGeom prst="rect">
            <a:avLst/>
          </a:prstGeom>
        </p:spPr>
      </p:pic>
      <p:sp>
        <p:nvSpPr>
          <p:cNvPr id="8" name="TextBox 7">
            <a:extLst>
              <a:ext uri="{FF2B5EF4-FFF2-40B4-BE49-F238E27FC236}">
                <a16:creationId xmlns:a16="http://schemas.microsoft.com/office/drawing/2014/main" id="{9B370C4D-0AC1-5FB3-7253-C826EDF46808}"/>
              </a:ext>
            </a:extLst>
          </p:cNvPr>
          <p:cNvSpPr txBox="1"/>
          <p:nvPr/>
        </p:nvSpPr>
        <p:spPr>
          <a:xfrm>
            <a:off x="354201" y="4456625"/>
            <a:ext cx="11483598" cy="1877437"/>
          </a:xfrm>
          <a:prstGeom prst="rect">
            <a:avLst/>
          </a:prstGeom>
          <a:noFill/>
        </p:spPr>
        <p:txBody>
          <a:bodyPr wrap="square">
            <a:spAutoFit/>
          </a:bodyPr>
          <a:lstStyle/>
          <a:p>
            <a:r>
              <a:rPr lang="en-US" b="1" u="sng" dirty="0"/>
              <a:t>Loan Applications </a:t>
            </a:r>
          </a:p>
          <a:p>
            <a:pPr marL="285750" indent="-285750">
              <a:buFont typeface="Arial" panose="020B0604020202020204" pitchFamily="34" charset="0"/>
              <a:buChar char="•"/>
            </a:pPr>
            <a:r>
              <a:rPr lang="en-US" sz="1600" dirty="0">
                <a:solidFill>
                  <a:schemeClr val="accent2"/>
                </a:solidFill>
              </a:rPr>
              <a:t>Debt consolidation</a:t>
            </a:r>
            <a:r>
              <a:rPr lang="en-US" sz="1600" dirty="0"/>
              <a:t> dominates the loan applications with 18,214 applications, more than three times the next highest category, </a:t>
            </a:r>
            <a:r>
              <a:rPr lang="en-US" sz="1600" dirty="0">
                <a:solidFill>
                  <a:schemeClr val="accent6">
                    <a:lumMod val="40000"/>
                    <a:lumOff val="60000"/>
                  </a:schemeClr>
                </a:solidFill>
              </a:rPr>
              <a:t>credit card </a:t>
            </a:r>
            <a:r>
              <a:rPr lang="en-US" sz="1600" dirty="0"/>
              <a:t>loans (4,998 applications).</a:t>
            </a:r>
          </a:p>
          <a:p>
            <a:pPr marL="285750" indent="-285750">
              <a:buFont typeface="Arial" panose="020B0604020202020204" pitchFamily="34" charset="0"/>
              <a:buChar char="•"/>
            </a:pPr>
            <a:endParaRPr lang="en-US" sz="1600" dirty="0"/>
          </a:p>
          <a:p>
            <a:r>
              <a:rPr lang="en-US" b="1" u="sng" dirty="0"/>
              <a:t>Total Funded Amount</a:t>
            </a:r>
          </a:p>
          <a:p>
            <a:pPr marL="285750" indent="-285750">
              <a:buFont typeface="Arial" panose="020B0604020202020204" pitchFamily="34" charset="0"/>
              <a:buChar char="•"/>
            </a:pPr>
            <a:r>
              <a:rPr lang="en-US" sz="1600" dirty="0">
                <a:solidFill>
                  <a:schemeClr val="accent2"/>
                </a:solidFill>
              </a:rPr>
              <a:t>Debt consolidation</a:t>
            </a:r>
            <a:r>
              <a:rPr lang="en-US" sz="1600" dirty="0"/>
              <a:t> has the largest funded amount at $232,459,675, which aligns with its high number of applications. </a:t>
            </a:r>
            <a:r>
              <a:rPr lang="en-US" sz="1600" dirty="0">
                <a:solidFill>
                  <a:schemeClr val="accent6">
                    <a:lumMod val="40000"/>
                    <a:lumOff val="60000"/>
                  </a:schemeClr>
                </a:solidFill>
              </a:rPr>
              <a:t>Credit card loans </a:t>
            </a:r>
            <a:r>
              <a:rPr lang="en-US" sz="1600" dirty="0"/>
              <a:t>have the second-highest funded amount at $58,885,175, followed by </a:t>
            </a:r>
            <a:r>
              <a:rPr lang="en-US" sz="1600" dirty="0">
                <a:solidFill>
                  <a:srgbClr val="FFC000"/>
                </a:solidFill>
              </a:rPr>
              <a:t>home improvement </a:t>
            </a:r>
            <a:r>
              <a:rPr lang="en-US" sz="1600" dirty="0"/>
              <a:t>loans at $33,350,775.</a:t>
            </a:r>
            <a:endParaRPr lang="en-SG" sz="1600" dirty="0"/>
          </a:p>
        </p:txBody>
      </p:sp>
    </p:spTree>
    <p:extLst>
      <p:ext uri="{BB962C8B-B14F-4D97-AF65-F5344CB8AC3E}">
        <p14:creationId xmlns:p14="http://schemas.microsoft.com/office/powerpoint/2010/main" val="30206024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F07A92-B848-621B-A041-1F192253D9B9}"/>
              </a:ext>
            </a:extLst>
          </p:cNvPr>
          <p:cNvSpPr txBox="1">
            <a:spLocks/>
          </p:cNvSpPr>
          <p:nvPr/>
        </p:nvSpPr>
        <p:spPr>
          <a:xfrm>
            <a:off x="388706" y="239915"/>
            <a:ext cx="4815592" cy="522085"/>
          </a:xfrm>
          <a:prstGeom prst="rect">
            <a:avLst/>
          </a:prstGeom>
          <a:solidFill>
            <a:schemeClr val="accent2">
              <a:lumMod val="20000"/>
              <a:lumOff val="80000"/>
            </a:schemeClr>
          </a:solidFill>
          <a:ln>
            <a:solidFill>
              <a:schemeClr val="accent1"/>
            </a:solidFill>
          </a:ln>
        </p:spPr>
        <p:txBody>
          <a:bodyPr/>
          <a:lstStyle>
            <a:lvl1pPr algn="l" defTabSz="914400" rtl="0" eaLnBrk="1" latinLnBrk="0" hangingPunct="1">
              <a:lnSpc>
                <a:spcPct val="120000"/>
              </a:lnSpc>
              <a:spcBef>
                <a:spcPct val="0"/>
              </a:spcBef>
              <a:buNone/>
              <a:defRPr sz="2800" b="1" kern="1200" cap="all" spc="600" baseline="0">
                <a:solidFill>
                  <a:schemeClr val="tx1"/>
                </a:solidFill>
                <a:latin typeface="+mj-lt"/>
                <a:ea typeface="+mj-ea"/>
                <a:cs typeface="+mj-cs"/>
              </a:defRPr>
            </a:lvl1pPr>
          </a:lstStyle>
          <a:p>
            <a:r>
              <a:rPr lang="en-US" dirty="0">
                <a:solidFill>
                  <a:schemeClr val="bg1"/>
                </a:solidFill>
              </a:rPr>
              <a:t>Overview (purposes)</a:t>
            </a:r>
            <a:endParaRPr lang="en-SG" dirty="0">
              <a:solidFill>
                <a:schemeClr val="bg1"/>
              </a:solidFill>
            </a:endParaRPr>
          </a:p>
        </p:txBody>
      </p:sp>
      <p:sp>
        <p:nvSpPr>
          <p:cNvPr id="4" name="TextBox 3">
            <a:extLst>
              <a:ext uri="{FF2B5EF4-FFF2-40B4-BE49-F238E27FC236}">
                <a16:creationId xmlns:a16="http://schemas.microsoft.com/office/drawing/2014/main" id="{4765AC18-1D4F-EC8A-2889-B811780F31E4}"/>
              </a:ext>
            </a:extLst>
          </p:cNvPr>
          <p:cNvSpPr txBox="1"/>
          <p:nvPr/>
        </p:nvSpPr>
        <p:spPr>
          <a:xfrm>
            <a:off x="239749" y="1282616"/>
            <a:ext cx="11712502" cy="1661993"/>
          </a:xfrm>
          <a:prstGeom prst="rect">
            <a:avLst/>
          </a:prstGeom>
          <a:noFill/>
        </p:spPr>
        <p:txBody>
          <a:bodyPr wrap="square">
            <a:spAutoFit/>
          </a:bodyPr>
          <a:lstStyle/>
          <a:p>
            <a:r>
              <a:rPr lang="en-SG" b="1" u="sng" dirty="0"/>
              <a:t>Total Amount Received</a:t>
            </a:r>
          </a:p>
          <a:p>
            <a:pPr marL="285750" indent="-285750">
              <a:buFont typeface="Wingdings" panose="05000000000000000000" pitchFamily="2" charset="2"/>
              <a:buChar char="Ø"/>
            </a:pPr>
            <a:r>
              <a:rPr lang="en-US" sz="1600" dirty="0"/>
              <a:t>Many loan categories exhibit strong repayment performance, with several categories receiving more than what was initially funded. For example:</a:t>
            </a:r>
          </a:p>
          <a:p>
            <a:pPr marL="742950" lvl="1" indent="-285750">
              <a:buFont typeface="Arial" panose="020B0604020202020204" pitchFamily="34" charset="0"/>
              <a:buChar char="•"/>
            </a:pPr>
            <a:r>
              <a:rPr lang="en-US" sz="1600" dirty="0">
                <a:solidFill>
                  <a:schemeClr val="accent2"/>
                </a:solidFill>
              </a:rPr>
              <a:t>Debt consolidation</a:t>
            </a:r>
            <a:r>
              <a:rPr lang="en-US" sz="1600" dirty="0"/>
              <a:t>: Repayment rate of around 109% of the funded amount.</a:t>
            </a:r>
          </a:p>
          <a:p>
            <a:pPr marL="742950" lvl="1" indent="-285750">
              <a:buFont typeface="Arial" panose="020B0604020202020204" pitchFamily="34" charset="0"/>
              <a:buChar char="•"/>
            </a:pPr>
            <a:r>
              <a:rPr lang="en-US" sz="1600" dirty="0">
                <a:solidFill>
                  <a:schemeClr val="accent6">
                    <a:lumMod val="40000"/>
                    <a:lumOff val="60000"/>
                  </a:schemeClr>
                </a:solidFill>
              </a:rPr>
              <a:t>Credit card</a:t>
            </a:r>
            <a:r>
              <a:rPr lang="en-US" sz="1600" dirty="0"/>
              <a:t>: Repayment rate of 110.7%.</a:t>
            </a:r>
          </a:p>
          <a:p>
            <a:pPr marL="742950" lvl="1" indent="-285750">
              <a:buFont typeface="Arial" panose="020B0604020202020204" pitchFamily="34" charset="0"/>
              <a:buChar char="•"/>
            </a:pPr>
            <a:r>
              <a:rPr lang="en-US" sz="1600" dirty="0">
                <a:solidFill>
                  <a:srgbClr val="FFC000"/>
                </a:solidFill>
              </a:rPr>
              <a:t>Home improvement</a:t>
            </a:r>
            <a:r>
              <a:rPr lang="en-US" sz="1600" dirty="0"/>
              <a:t>: Repayment rate of 109%.</a:t>
            </a:r>
          </a:p>
        </p:txBody>
      </p:sp>
      <p:sp>
        <p:nvSpPr>
          <p:cNvPr id="6" name="TextBox 5">
            <a:extLst>
              <a:ext uri="{FF2B5EF4-FFF2-40B4-BE49-F238E27FC236}">
                <a16:creationId xmlns:a16="http://schemas.microsoft.com/office/drawing/2014/main" id="{35252D6F-2AD7-0B7C-7497-55627341D3CE}"/>
              </a:ext>
            </a:extLst>
          </p:cNvPr>
          <p:cNvSpPr txBox="1"/>
          <p:nvPr/>
        </p:nvSpPr>
        <p:spPr>
          <a:xfrm>
            <a:off x="576362" y="3663582"/>
            <a:ext cx="10493713" cy="2308324"/>
          </a:xfrm>
          <a:prstGeom prst="rect">
            <a:avLst/>
          </a:prstGeom>
          <a:solidFill>
            <a:schemeClr val="accent2">
              <a:lumMod val="20000"/>
              <a:lumOff val="80000"/>
            </a:schemeClr>
          </a:solidFill>
        </p:spPr>
        <p:txBody>
          <a:bodyPr wrap="square">
            <a:spAutoFit/>
          </a:bodyPr>
          <a:lstStyle/>
          <a:p>
            <a:r>
              <a:rPr lang="en-US" b="1" u="sng" dirty="0">
                <a:solidFill>
                  <a:schemeClr val="bg1"/>
                </a:solidFill>
              </a:rPr>
              <a:t>Recommendations</a:t>
            </a:r>
          </a:p>
          <a:p>
            <a:pPr marL="285750" indent="-285750">
              <a:buFont typeface="Arial" panose="020B0604020202020204" pitchFamily="34" charset="0"/>
              <a:buChar char="•"/>
            </a:pPr>
            <a:r>
              <a:rPr lang="en-US" b="1" dirty="0">
                <a:solidFill>
                  <a:schemeClr val="bg1"/>
                </a:solidFill>
              </a:rPr>
              <a:t>Expand </a:t>
            </a:r>
            <a:r>
              <a:rPr lang="en-US" b="1" dirty="0">
                <a:solidFill>
                  <a:schemeClr val="accent2"/>
                </a:solidFill>
              </a:rPr>
              <a:t>Debt Consolidation </a:t>
            </a:r>
            <a:r>
              <a:rPr lang="en-US" b="1" dirty="0">
                <a:solidFill>
                  <a:schemeClr val="bg1"/>
                </a:solidFill>
              </a:rPr>
              <a:t>and </a:t>
            </a:r>
            <a:r>
              <a:rPr lang="en-US" b="1" dirty="0">
                <a:solidFill>
                  <a:schemeClr val="accent6">
                    <a:lumMod val="60000"/>
                    <a:lumOff val="40000"/>
                  </a:schemeClr>
                </a:solidFill>
              </a:rPr>
              <a:t>Credit Card Loan </a:t>
            </a:r>
            <a:r>
              <a:rPr lang="en-US" b="1" dirty="0">
                <a:solidFill>
                  <a:schemeClr val="bg1"/>
                </a:solidFill>
              </a:rPr>
              <a:t>Offerings</a:t>
            </a:r>
            <a:r>
              <a:rPr lang="en-US" dirty="0">
                <a:solidFill>
                  <a:schemeClr val="bg1"/>
                </a:solidFill>
              </a:rPr>
              <a:t>: These categories make up the largest share of both applications and repayment, the bank should continue to invest in and promote debt consolidation and credit card loan products. Offering competitive rates and flexible repayment terms will help maintain strong demand.</a:t>
            </a:r>
          </a:p>
          <a:p>
            <a:pPr marL="285750" indent="-285750">
              <a:buFont typeface="Arial" panose="020B0604020202020204" pitchFamily="34" charset="0"/>
              <a:buChar char="•"/>
            </a:pPr>
            <a:endParaRPr lang="en-US" dirty="0">
              <a:solidFill>
                <a:schemeClr val="bg1"/>
              </a:solidFill>
            </a:endParaRPr>
          </a:p>
          <a:p>
            <a:pPr marL="285750" indent="-285750">
              <a:buFont typeface="Arial" panose="020B0604020202020204" pitchFamily="34" charset="0"/>
              <a:buChar char="•"/>
            </a:pPr>
            <a:r>
              <a:rPr lang="en-US" b="1" dirty="0">
                <a:solidFill>
                  <a:schemeClr val="bg1"/>
                </a:solidFill>
              </a:rPr>
              <a:t>Target Home Improvement Loans for </a:t>
            </a:r>
            <a:r>
              <a:rPr lang="en-US" b="1" dirty="0" err="1">
                <a:solidFill>
                  <a:schemeClr val="bg1"/>
                </a:solidFill>
              </a:rPr>
              <a:t>Growth</a:t>
            </a:r>
            <a:r>
              <a:rPr lang="en-US" dirty="0" err="1">
                <a:solidFill>
                  <a:schemeClr val="bg1"/>
                </a:solidFill>
              </a:rPr>
              <a:t>:The</a:t>
            </a:r>
            <a:r>
              <a:rPr lang="en-US" dirty="0">
                <a:solidFill>
                  <a:schemeClr val="bg1"/>
                </a:solidFill>
              </a:rPr>
              <a:t> </a:t>
            </a:r>
            <a:r>
              <a:rPr lang="en-US" dirty="0">
                <a:solidFill>
                  <a:schemeClr val="bg2">
                    <a:lumMod val="75000"/>
                    <a:lumOff val="25000"/>
                  </a:schemeClr>
                </a:solidFill>
              </a:rPr>
              <a:t>home improvement </a:t>
            </a:r>
            <a:r>
              <a:rPr lang="en-US" dirty="0">
                <a:solidFill>
                  <a:schemeClr val="bg1"/>
                </a:solidFill>
              </a:rPr>
              <a:t>loan segment demonstrates excellent repayment and has substantial demand. </a:t>
            </a:r>
            <a:endParaRPr lang="en-SG" dirty="0">
              <a:solidFill>
                <a:schemeClr val="bg1"/>
              </a:solidFill>
            </a:endParaRPr>
          </a:p>
        </p:txBody>
      </p:sp>
    </p:spTree>
    <p:extLst>
      <p:ext uri="{BB962C8B-B14F-4D97-AF65-F5344CB8AC3E}">
        <p14:creationId xmlns:p14="http://schemas.microsoft.com/office/powerpoint/2010/main" val="13640198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4FABEAD-B5A1-36E8-044C-8695A235E74B}"/>
              </a:ext>
            </a:extLst>
          </p:cNvPr>
          <p:cNvPicPr>
            <a:picLocks noChangeAspect="1"/>
          </p:cNvPicPr>
          <p:nvPr/>
        </p:nvPicPr>
        <p:blipFill>
          <a:blip r:embed="rId2"/>
          <a:stretch>
            <a:fillRect/>
          </a:stretch>
        </p:blipFill>
        <p:spPr>
          <a:xfrm>
            <a:off x="77821" y="840226"/>
            <a:ext cx="5123519" cy="2214259"/>
          </a:xfrm>
          <a:prstGeom prst="rect">
            <a:avLst/>
          </a:prstGeom>
        </p:spPr>
      </p:pic>
      <p:sp>
        <p:nvSpPr>
          <p:cNvPr id="4" name="Title 1">
            <a:extLst>
              <a:ext uri="{FF2B5EF4-FFF2-40B4-BE49-F238E27FC236}">
                <a16:creationId xmlns:a16="http://schemas.microsoft.com/office/drawing/2014/main" id="{B3636CA4-EFFB-1566-F1FC-781A6342CCB7}"/>
              </a:ext>
            </a:extLst>
          </p:cNvPr>
          <p:cNvSpPr txBox="1">
            <a:spLocks/>
          </p:cNvSpPr>
          <p:nvPr/>
        </p:nvSpPr>
        <p:spPr>
          <a:xfrm>
            <a:off x="77821" y="239915"/>
            <a:ext cx="6381745" cy="522085"/>
          </a:xfrm>
          <a:prstGeom prst="rect">
            <a:avLst/>
          </a:prstGeom>
          <a:solidFill>
            <a:schemeClr val="accent2">
              <a:lumMod val="20000"/>
              <a:lumOff val="80000"/>
            </a:schemeClr>
          </a:solidFill>
          <a:ln>
            <a:solidFill>
              <a:schemeClr val="accent1"/>
            </a:solidFill>
          </a:ln>
        </p:spPr>
        <p:txBody>
          <a:bodyPr/>
          <a:lstStyle>
            <a:lvl1pPr algn="l" defTabSz="914400" rtl="0" eaLnBrk="1" latinLnBrk="0" hangingPunct="1">
              <a:lnSpc>
                <a:spcPct val="120000"/>
              </a:lnSpc>
              <a:spcBef>
                <a:spcPct val="0"/>
              </a:spcBef>
              <a:buNone/>
              <a:defRPr sz="2800" b="1" kern="1200" cap="all" spc="600" baseline="0">
                <a:solidFill>
                  <a:schemeClr val="tx1"/>
                </a:solidFill>
                <a:latin typeface="+mj-lt"/>
                <a:ea typeface="+mj-ea"/>
                <a:cs typeface="+mj-cs"/>
              </a:defRPr>
            </a:lvl1pPr>
          </a:lstStyle>
          <a:p>
            <a:r>
              <a:rPr lang="en-US" dirty="0">
                <a:solidFill>
                  <a:schemeClr val="bg1"/>
                </a:solidFill>
              </a:rPr>
              <a:t>Overview (home ownership)</a:t>
            </a:r>
            <a:endParaRPr lang="en-SG" dirty="0">
              <a:solidFill>
                <a:schemeClr val="bg1"/>
              </a:solidFill>
            </a:endParaRPr>
          </a:p>
        </p:txBody>
      </p:sp>
      <p:pic>
        <p:nvPicPr>
          <p:cNvPr id="6" name="Picture 5">
            <a:extLst>
              <a:ext uri="{FF2B5EF4-FFF2-40B4-BE49-F238E27FC236}">
                <a16:creationId xmlns:a16="http://schemas.microsoft.com/office/drawing/2014/main" id="{EA4CA1ED-6A36-16EF-BF60-2A1857761480}"/>
              </a:ext>
            </a:extLst>
          </p:cNvPr>
          <p:cNvPicPr>
            <a:picLocks noChangeAspect="1"/>
          </p:cNvPicPr>
          <p:nvPr/>
        </p:nvPicPr>
        <p:blipFill>
          <a:blip r:embed="rId3"/>
          <a:stretch>
            <a:fillRect/>
          </a:stretch>
        </p:blipFill>
        <p:spPr>
          <a:xfrm>
            <a:off x="5379395" y="823466"/>
            <a:ext cx="6656962" cy="2231019"/>
          </a:xfrm>
          <a:prstGeom prst="rect">
            <a:avLst/>
          </a:prstGeom>
        </p:spPr>
      </p:pic>
      <p:sp>
        <p:nvSpPr>
          <p:cNvPr id="8" name="TextBox 7">
            <a:extLst>
              <a:ext uri="{FF2B5EF4-FFF2-40B4-BE49-F238E27FC236}">
                <a16:creationId xmlns:a16="http://schemas.microsoft.com/office/drawing/2014/main" id="{ADC07730-DD7F-209B-AE1C-A903395F8D8A}"/>
              </a:ext>
            </a:extLst>
          </p:cNvPr>
          <p:cNvSpPr txBox="1"/>
          <p:nvPr/>
        </p:nvSpPr>
        <p:spPr>
          <a:xfrm>
            <a:off x="204281" y="3429000"/>
            <a:ext cx="11498093" cy="3385542"/>
          </a:xfrm>
          <a:prstGeom prst="rect">
            <a:avLst/>
          </a:prstGeom>
          <a:noFill/>
        </p:spPr>
        <p:txBody>
          <a:bodyPr wrap="square">
            <a:spAutoFit/>
          </a:bodyPr>
          <a:lstStyle/>
          <a:p>
            <a:r>
              <a:rPr lang="en-US" b="1" u="sng" dirty="0"/>
              <a:t>Loan Applications </a:t>
            </a:r>
          </a:p>
          <a:p>
            <a:pPr marL="285750" indent="-285750">
              <a:buFont typeface="Arial" panose="020B0604020202020204" pitchFamily="34" charset="0"/>
              <a:buChar char="•"/>
            </a:pPr>
            <a:r>
              <a:rPr lang="en-US" sz="1600" dirty="0">
                <a:solidFill>
                  <a:schemeClr val="accent6">
                    <a:lumMod val="60000"/>
                    <a:lumOff val="40000"/>
                  </a:schemeClr>
                </a:solidFill>
              </a:rPr>
              <a:t>Renters</a:t>
            </a:r>
            <a:r>
              <a:rPr lang="en-US" sz="1600" dirty="0"/>
              <a:t> have the highest number of loan applications at 18,439, followed closely by </a:t>
            </a:r>
            <a:r>
              <a:rPr lang="en-US" sz="1600" dirty="0">
                <a:solidFill>
                  <a:schemeClr val="accent2"/>
                </a:solidFill>
              </a:rPr>
              <a:t>mortgage</a:t>
            </a:r>
            <a:r>
              <a:rPr lang="en-US" sz="1600" dirty="0"/>
              <a:t> holders with 17,198 applications. </a:t>
            </a:r>
          </a:p>
          <a:p>
            <a:endParaRPr lang="en-US" sz="1600" dirty="0"/>
          </a:p>
          <a:p>
            <a:r>
              <a:rPr lang="en-US" b="1" u="sng" dirty="0"/>
              <a:t>Total Funded Amount</a:t>
            </a:r>
            <a:endParaRPr lang="en-US" u="sng" dirty="0"/>
          </a:p>
          <a:p>
            <a:pPr marL="285750" indent="-285750">
              <a:buFont typeface="Arial" panose="020B0604020202020204" pitchFamily="34" charset="0"/>
              <a:buChar char="•"/>
            </a:pPr>
            <a:r>
              <a:rPr lang="en-US" sz="1600" dirty="0">
                <a:solidFill>
                  <a:schemeClr val="accent2"/>
                </a:solidFill>
              </a:rPr>
              <a:t>Mortgage</a:t>
            </a:r>
            <a:r>
              <a:rPr lang="en-US" sz="1600" dirty="0"/>
              <a:t> holders account for the largest share of the total funded amount, with $219,329,150 funded. </a:t>
            </a:r>
          </a:p>
          <a:p>
            <a:pPr marL="285750" indent="-285750">
              <a:buFont typeface="Arial" panose="020B0604020202020204" pitchFamily="34" charset="0"/>
              <a:buChar char="•"/>
            </a:pPr>
            <a:r>
              <a:rPr lang="en-US" sz="1600" dirty="0">
                <a:solidFill>
                  <a:schemeClr val="accent6">
                    <a:lumMod val="60000"/>
                    <a:lumOff val="40000"/>
                  </a:schemeClr>
                </a:solidFill>
              </a:rPr>
              <a:t>Renters</a:t>
            </a:r>
            <a:r>
              <a:rPr lang="en-US" sz="1600" dirty="0"/>
              <a:t> come second with $185,768,475 funded, which is still substantial but slightly lower than mortgage holders, despite having more applications. </a:t>
            </a:r>
          </a:p>
          <a:p>
            <a:endParaRPr lang="en-US" sz="1600" b="1" dirty="0"/>
          </a:p>
          <a:p>
            <a:r>
              <a:rPr lang="en-US" b="1" u="sng" dirty="0"/>
              <a:t>Total Amount Received</a:t>
            </a:r>
          </a:p>
          <a:p>
            <a:pPr>
              <a:buFont typeface="Arial" panose="020B0604020202020204" pitchFamily="34" charset="0"/>
              <a:buChar char="•"/>
            </a:pPr>
            <a:r>
              <a:rPr lang="en-US" sz="1600" dirty="0">
                <a:solidFill>
                  <a:schemeClr val="accent2"/>
                </a:solidFill>
              </a:rPr>
              <a:t>Mortgage</a:t>
            </a:r>
            <a:r>
              <a:rPr lang="en-US" sz="1600" dirty="0"/>
              <a:t> holders show the highest total repayment, with $238,474,438 received. This indicates that they are not only receiving the largest loans but also repaying a significant portion.</a:t>
            </a:r>
          </a:p>
          <a:p>
            <a:pPr>
              <a:buFont typeface="Arial" panose="020B0604020202020204" pitchFamily="34" charset="0"/>
              <a:buChar char="•"/>
            </a:pPr>
            <a:endParaRPr lang="en-US" sz="1600" dirty="0"/>
          </a:p>
          <a:p>
            <a:endParaRPr lang="en-US" sz="1600" dirty="0"/>
          </a:p>
        </p:txBody>
      </p:sp>
    </p:spTree>
    <p:extLst>
      <p:ext uri="{BB962C8B-B14F-4D97-AF65-F5344CB8AC3E}">
        <p14:creationId xmlns:p14="http://schemas.microsoft.com/office/powerpoint/2010/main" val="9572078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4FABEAD-B5A1-36E8-044C-8695A235E74B}"/>
              </a:ext>
            </a:extLst>
          </p:cNvPr>
          <p:cNvPicPr>
            <a:picLocks noChangeAspect="1"/>
          </p:cNvPicPr>
          <p:nvPr/>
        </p:nvPicPr>
        <p:blipFill>
          <a:blip r:embed="rId2"/>
          <a:stretch>
            <a:fillRect/>
          </a:stretch>
        </p:blipFill>
        <p:spPr>
          <a:xfrm>
            <a:off x="77821" y="840226"/>
            <a:ext cx="5123519" cy="2214259"/>
          </a:xfrm>
          <a:prstGeom prst="rect">
            <a:avLst/>
          </a:prstGeom>
        </p:spPr>
      </p:pic>
      <p:sp>
        <p:nvSpPr>
          <p:cNvPr id="4" name="Title 1">
            <a:extLst>
              <a:ext uri="{FF2B5EF4-FFF2-40B4-BE49-F238E27FC236}">
                <a16:creationId xmlns:a16="http://schemas.microsoft.com/office/drawing/2014/main" id="{B3636CA4-EFFB-1566-F1FC-781A6342CCB7}"/>
              </a:ext>
            </a:extLst>
          </p:cNvPr>
          <p:cNvSpPr txBox="1">
            <a:spLocks/>
          </p:cNvSpPr>
          <p:nvPr/>
        </p:nvSpPr>
        <p:spPr>
          <a:xfrm>
            <a:off x="77821" y="239915"/>
            <a:ext cx="6381745" cy="522085"/>
          </a:xfrm>
          <a:prstGeom prst="rect">
            <a:avLst/>
          </a:prstGeom>
          <a:solidFill>
            <a:schemeClr val="accent2">
              <a:lumMod val="20000"/>
              <a:lumOff val="80000"/>
            </a:schemeClr>
          </a:solidFill>
          <a:ln>
            <a:solidFill>
              <a:schemeClr val="accent1"/>
            </a:solidFill>
          </a:ln>
        </p:spPr>
        <p:txBody>
          <a:bodyPr/>
          <a:lstStyle>
            <a:lvl1pPr algn="l" defTabSz="914400" rtl="0" eaLnBrk="1" latinLnBrk="0" hangingPunct="1">
              <a:lnSpc>
                <a:spcPct val="120000"/>
              </a:lnSpc>
              <a:spcBef>
                <a:spcPct val="0"/>
              </a:spcBef>
              <a:buNone/>
              <a:defRPr sz="2800" b="1" kern="1200" cap="all" spc="600" baseline="0">
                <a:solidFill>
                  <a:schemeClr val="tx1"/>
                </a:solidFill>
                <a:latin typeface="+mj-lt"/>
                <a:ea typeface="+mj-ea"/>
                <a:cs typeface="+mj-cs"/>
              </a:defRPr>
            </a:lvl1pPr>
          </a:lstStyle>
          <a:p>
            <a:r>
              <a:rPr lang="en-US" dirty="0">
                <a:solidFill>
                  <a:schemeClr val="bg1"/>
                </a:solidFill>
              </a:rPr>
              <a:t>Overview (home ownership)</a:t>
            </a:r>
            <a:endParaRPr lang="en-SG" dirty="0">
              <a:solidFill>
                <a:schemeClr val="bg1"/>
              </a:solidFill>
            </a:endParaRPr>
          </a:p>
        </p:txBody>
      </p:sp>
      <p:pic>
        <p:nvPicPr>
          <p:cNvPr id="6" name="Picture 5">
            <a:extLst>
              <a:ext uri="{FF2B5EF4-FFF2-40B4-BE49-F238E27FC236}">
                <a16:creationId xmlns:a16="http://schemas.microsoft.com/office/drawing/2014/main" id="{EA4CA1ED-6A36-16EF-BF60-2A1857761480}"/>
              </a:ext>
            </a:extLst>
          </p:cNvPr>
          <p:cNvPicPr>
            <a:picLocks noChangeAspect="1"/>
          </p:cNvPicPr>
          <p:nvPr/>
        </p:nvPicPr>
        <p:blipFill>
          <a:blip r:embed="rId3"/>
          <a:stretch>
            <a:fillRect/>
          </a:stretch>
        </p:blipFill>
        <p:spPr>
          <a:xfrm>
            <a:off x="5379395" y="823466"/>
            <a:ext cx="6656962" cy="2231019"/>
          </a:xfrm>
          <a:prstGeom prst="rect">
            <a:avLst/>
          </a:prstGeom>
        </p:spPr>
      </p:pic>
      <p:sp>
        <p:nvSpPr>
          <p:cNvPr id="8" name="TextBox 7">
            <a:extLst>
              <a:ext uri="{FF2B5EF4-FFF2-40B4-BE49-F238E27FC236}">
                <a16:creationId xmlns:a16="http://schemas.microsoft.com/office/drawing/2014/main" id="{ADC07730-DD7F-209B-AE1C-A903395F8D8A}"/>
              </a:ext>
            </a:extLst>
          </p:cNvPr>
          <p:cNvSpPr txBox="1"/>
          <p:nvPr/>
        </p:nvSpPr>
        <p:spPr>
          <a:xfrm>
            <a:off x="223737" y="3429000"/>
            <a:ext cx="11498093" cy="2800767"/>
          </a:xfrm>
          <a:prstGeom prst="rect">
            <a:avLst/>
          </a:prstGeom>
          <a:solidFill>
            <a:schemeClr val="accent2">
              <a:lumMod val="20000"/>
              <a:lumOff val="80000"/>
            </a:schemeClr>
          </a:solidFill>
        </p:spPr>
        <p:txBody>
          <a:bodyPr wrap="square">
            <a:spAutoFit/>
          </a:bodyPr>
          <a:lstStyle/>
          <a:p>
            <a:r>
              <a:rPr lang="en-US" b="1" u="sng" dirty="0">
                <a:solidFill>
                  <a:schemeClr val="bg1"/>
                </a:solidFill>
              </a:rPr>
              <a:t>Future Recommendations</a:t>
            </a:r>
            <a:endParaRPr lang="en-US" b="1" dirty="0">
              <a:solidFill>
                <a:schemeClr val="bg1"/>
              </a:solidFill>
            </a:endParaRPr>
          </a:p>
          <a:p>
            <a:pPr>
              <a:buFont typeface="+mj-lt"/>
              <a:buAutoNum type="arabicPeriod"/>
            </a:pPr>
            <a:r>
              <a:rPr lang="en-US" sz="1600" b="1" dirty="0">
                <a:solidFill>
                  <a:schemeClr val="bg1"/>
                </a:solidFill>
              </a:rPr>
              <a:t>Focus on </a:t>
            </a:r>
            <a:r>
              <a:rPr lang="en-US" sz="1600" b="1" dirty="0">
                <a:solidFill>
                  <a:schemeClr val="accent2"/>
                </a:solidFill>
              </a:rPr>
              <a:t>Mortgage </a:t>
            </a:r>
            <a:r>
              <a:rPr lang="en-US" sz="1600" b="1" dirty="0">
                <a:solidFill>
                  <a:schemeClr val="bg1"/>
                </a:solidFill>
              </a:rPr>
              <a:t>Holders and </a:t>
            </a:r>
            <a:r>
              <a:rPr lang="en-US" sz="1600" b="1" dirty="0">
                <a:solidFill>
                  <a:srgbClr val="00B0F0"/>
                </a:solidFill>
              </a:rPr>
              <a:t>Renters</a:t>
            </a:r>
            <a:r>
              <a:rPr lang="en-US" sz="1600" b="1" dirty="0">
                <a:solidFill>
                  <a:schemeClr val="bg1"/>
                </a:solidFill>
              </a:rPr>
              <a:t> for Loan Growth</a:t>
            </a:r>
            <a:endParaRPr lang="en-US" sz="1600" dirty="0">
              <a:solidFill>
                <a:schemeClr val="bg1"/>
              </a:solidFill>
            </a:endParaRPr>
          </a:p>
          <a:p>
            <a:pPr marL="742950" lvl="1" indent="-285750">
              <a:buFont typeface="Arial" panose="020B0604020202020204" pitchFamily="34" charset="0"/>
              <a:buChar char="•"/>
            </a:pPr>
            <a:r>
              <a:rPr lang="en-US" sz="1400" dirty="0">
                <a:solidFill>
                  <a:schemeClr val="bg1"/>
                </a:solidFill>
              </a:rPr>
              <a:t>Given that </a:t>
            </a:r>
            <a:r>
              <a:rPr lang="en-US" sz="1400" dirty="0">
                <a:solidFill>
                  <a:schemeClr val="accent2"/>
                </a:solidFill>
              </a:rPr>
              <a:t>mortgage</a:t>
            </a:r>
            <a:r>
              <a:rPr lang="en-US" sz="1400" dirty="0">
                <a:solidFill>
                  <a:schemeClr val="bg1"/>
                </a:solidFill>
              </a:rPr>
              <a:t> holders and </a:t>
            </a:r>
            <a:r>
              <a:rPr lang="en-US" sz="1400" dirty="0">
                <a:solidFill>
                  <a:srgbClr val="00B0F0"/>
                </a:solidFill>
              </a:rPr>
              <a:t>renters</a:t>
            </a:r>
            <a:r>
              <a:rPr lang="en-US" sz="1400" dirty="0">
                <a:solidFill>
                  <a:schemeClr val="bg1"/>
                </a:solidFill>
              </a:rPr>
              <a:t> dominate both in volume and repayment strength, the bank should focus on enhancing loan offerings tailored to these groups.</a:t>
            </a:r>
          </a:p>
          <a:p>
            <a:pPr marL="742950" lvl="1" indent="-285750">
              <a:buFont typeface="Arial" panose="020B0604020202020204" pitchFamily="34" charset="0"/>
              <a:buChar char="•"/>
            </a:pPr>
            <a:r>
              <a:rPr lang="en-US" sz="1400" dirty="0">
                <a:solidFill>
                  <a:schemeClr val="accent2"/>
                </a:solidFill>
              </a:rPr>
              <a:t>Mortgage</a:t>
            </a:r>
            <a:r>
              <a:rPr lang="en-US" sz="1400" dirty="0">
                <a:solidFill>
                  <a:schemeClr val="bg1"/>
                </a:solidFill>
              </a:rPr>
              <a:t> holders, offering additional loan products like </a:t>
            </a:r>
            <a:r>
              <a:rPr lang="en-US" sz="1400" b="1" dirty="0">
                <a:solidFill>
                  <a:schemeClr val="bg1"/>
                </a:solidFill>
              </a:rPr>
              <a:t>home equity loans or refinancing options </a:t>
            </a:r>
            <a:r>
              <a:rPr lang="en-US" sz="1400" dirty="0">
                <a:solidFill>
                  <a:schemeClr val="bg1"/>
                </a:solidFill>
              </a:rPr>
              <a:t>could boost loan activity further.</a:t>
            </a:r>
          </a:p>
          <a:p>
            <a:pPr marL="742950" lvl="1" indent="-285750">
              <a:buFont typeface="Arial" panose="020B0604020202020204" pitchFamily="34" charset="0"/>
              <a:buChar char="•"/>
            </a:pPr>
            <a:r>
              <a:rPr lang="en-US" sz="1400" dirty="0">
                <a:solidFill>
                  <a:srgbClr val="00B0F0"/>
                </a:solidFill>
              </a:rPr>
              <a:t>Renters</a:t>
            </a:r>
            <a:r>
              <a:rPr lang="en-US" sz="1400" dirty="0">
                <a:solidFill>
                  <a:schemeClr val="bg1"/>
                </a:solidFill>
              </a:rPr>
              <a:t> could be targeted with tailored financial products, such as </a:t>
            </a:r>
            <a:r>
              <a:rPr lang="en-US" sz="1400" b="1" dirty="0">
                <a:solidFill>
                  <a:schemeClr val="bg1"/>
                </a:solidFill>
              </a:rPr>
              <a:t>loans for home purchases, moving expenses, or even lease buyout financing,</a:t>
            </a:r>
            <a:r>
              <a:rPr lang="en-US" sz="1400" dirty="0">
                <a:solidFill>
                  <a:schemeClr val="bg1"/>
                </a:solidFill>
              </a:rPr>
              <a:t> to capture more of this audience.</a:t>
            </a:r>
          </a:p>
          <a:p>
            <a:pPr marL="742950" lvl="1" indent="-285750">
              <a:buFont typeface="Arial" panose="020B0604020202020204" pitchFamily="34" charset="0"/>
              <a:buChar char="•"/>
            </a:pPr>
            <a:endParaRPr lang="en-US" sz="1400" dirty="0">
              <a:solidFill>
                <a:schemeClr val="bg1"/>
              </a:solidFill>
            </a:endParaRPr>
          </a:p>
          <a:p>
            <a:pPr>
              <a:buFont typeface="+mj-lt"/>
              <a:buAutoNum type="arabicPeriod"/>
            </a:pPr>
            <a:r>
              <a:rPr lang="en-US" sz="1600" b="1" dirty="0">
                <a:solidFill>
                  <a:schemeClr val="bg1"/>
                </a:solidFill>
              </a:rPr>
              <a:t>Leverage Strong Repayment Trends Among </a:t>
            </a:r>
            <a:r>
              <a:rPr lang="en-US" sz="1600" b="1" dirty="0">
                <a:solidFill>
                  <a:schemeClr val="accent6">
                    <a:lumMod val="60000"/>
                    <a:lumOff val="40000"/>
                  </a:schemeClr>
                </a:solidFill>
              </a:rPr>
              <a:t>Homeowners</a:t>
            </a:r>
            <a:endParaRPr lang="en-US" sz="1600" dirty="0">
              <a:solidFill>
                <a:schemeClr val="accent6">
                  <a:lumMod val="60000"/>
                  <a:lumOff val="40000"/>
                </a:schemeClr>
              </a:solidFill>
            </a:endParaRPr>
          </a:p>
          <a:p>
            <a:pPr marL="742950" lvl="1" indent="-285750">
              <a:buFont typeface="Arial" panose="020B0604020202020204" pitchFamily="34" charset="0"/>
              <a:buChar char="•"/>
            </a:pPr>
            <a:r>
              <a:rPr lang="en-US" sz="1400" dirty="0">
                <a:solidFill>
                  <a:schemeClr val="bg1"/>
                </a:solidFill>
              </a:rPr>
              <a:t>Although the volume of loans to </a:t>
            </a:r>
            <a:r>
              <a:rPr lang="en-US" sz="1400" dirty="0">
                <a:solidFill>
                  <a:schemeClr val="accent6">
                    <a:lumMod val="60000"/>
                    <a:lumOff val="40000"/>
                  </a:schemeClr>
                </a:solidFill>
              </a:rPr>
              <a:t>homeowners</a:t>
            </a:r>
            <a:r>
              <a:rPr lang="en-US" sz="1400" dirty="0">
                <a:solidFill>
                  <a:schemeClr val="bg1"/>
                </a:solidFill>
              </a:rPr>
              <a:t> (who own outright) is smaller, they demonstrate strong repayment rates. The bank could develop more tailored loan products for this segment, such as </a:t>
            </a:r>
            <a:r>
              <a:rPr lang="en-US" sz="1400" b="1" dirty="0">
                <a:solidFill>
                  <a:schemeClr val="bg1"/>
                </a:solidFill>
              </a:rPr>
              <a:t>retirement loans</a:t>
            </a:r>
            <a:r>
              <a:rPr lang="en-US" sz="1400" dirty="0">
                <a:solidFill>
                  <a:schemeClr val="bg1"/>
                </a:solidFill>
              </a:rPr>
              <a:t>, </a:t>
            </a:r>
            <a:r>
              <a:rPr lang="en-US" sz="1400" b="1" dirty="0">
                <a:solidFill>
                  <a:schemeClr val="bg1"/>
                </a:solidFill>
              </a:rPr>
              <a:t>home renovation loans</a:t>
            </a:r>
            <a:r>
              <a:rPr lang="en-US" sz="1400" dirty="0">
                <a:solidFill>
                  <a:schemeClr val="bg1"/>
                </a:solidFill>
              </a:rPr>
              <a:t>, or </a:t>
            </a:r>
            <a:r>
              <a:rPr lang="en-US" sz="1400" b="1" dirty="0">
                <a:solidFill>
                  <a:schemeClr val="bg1"/>
                </a:solidFill>
              </a:rPr>
              <a:t>reverse mortgages</a:t>
            </a:r>
            <a:r>
              <a:rPr lang="en-US" sz="1400" dirty="0">
                <a:solidFill>
                  <a:schemeClr val="bg1"/>
                </a:solidFill>
              </a:rPr>
              <a:t> for older homeowners, capitalizing on their reliable repayment history.</a:t>
            </a:r>
          </a:p>
        </p:txBody>
      </p:sp>
    </p:spTree>
    <p:extLst>
      <p:ext uri="{BB962C8B-B14F-4D97-AF65-F5344CB8AC3E}">
        <p14:creationId xmlns:p14="http://schemas.microsoft.com/office/powerpoint/2010/main" val="9277818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4B2B88-BA91-987A-AF5C-562CEF4B25EB}"/>
              </a:ext>
            </a:extLst>
          </p:cNvPr>
          <p:cNvSpPr>
            <a:spLocks noGrp="1"/>
          </p:cNvSpPr>
          <p:nvPr>
            <p:ph type="title"/>
          </p:nvPr>
        </p:nvSpPr>
        <p:spPr>
          <a:xfrm>
            <a:off x="1050187" y="515566"/>
            <a:ext cx="4854502" cy="550859"/>
          </a:xfrm>
          <a:ln>
            <a:solidFill>
              <a:schemeClr val="accent2"/>
            </a:solidFill>
          </a:ln>
        </p:spPr>
        <p:txBody>
          <a:bodyPr/>
          <a:lstStyle/>
          <a:p>
            <a:r>
              <a:rPr lang="en-SG" dirty="0"/>
              <a:t>Project Limitations</a:t>
            </a:r>
          </a:p>
        </p:txBody>
      </p:sp>
      <p:graphicFrame>
        <p:nvGraphicFramePr>
          <p:cNvPr id="5" name="Content Placeholder 2">
            <a:extLst>
              <a:ext uri="{FF2B5EF4-FFF2-40B4-BE49-F238E27FC236}">
                <a16:creationId xmlns:a16="http://schemas.microsoft.com/office/drawing/2014/main" id="{C118BE86-A10C-6717-F31B-6B20FC9D4BF2}"/>
              </a:ext>
            </a:extLst>
          </p:cNvPr>
          <p:cNvGraphicFramePr>
            <a:graphicFrameLocks noGrp="1"/>
          </p:cNvGraphicFramePr>
          <p:nvPr>
            <p:ph idx="1"/>
            <p:extLst>
              <p:ext uri="{D42A27DB-BD31-4B8C-83A1-F6EECF244321}">
                <p14:modId xmlns:p14="http://schemas.microsoft.com/office/powerpoint/2010/main" val="4143697099"/>
              </p:ext>
            </p:extLst>
          </p:nvPr>
        </p:nvGraphicFramePr>
        <p:xfrm>
          <a:off x="710119" y="963038"/>
          <a:ext cx="10739336" cy="574904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139454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4E9F8B3-8282-4A93-BBF8-3342538A70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E59708F-51E9-8061-99A3-BEE3C5CD9B6F}"/>
              </a:ext>
            </a:extLst>
          </p:cNvPr>
          <p:cNvSpPr>
            <a:spLocks noGrp="1"/>
          </p:cNvSpPr>
          <p:nvPr>
            <p:ph type="title"/>
          </p:nvPr>
        </p:nvSpPr>
        <p:spPr>
          <a:xfrm>
            <a:off x="622570" y="222209"/>
            <a:ext cx="9238434" cy="575459"/>
          </a:xfrm>
        </p:spPr>
        <p:txBody>
          <a:bodyPr vert="horz" lIns="91440" tIns="45720" rIns="91440" bIns="45720" rtlCol="0" anchor="b">
            <a:normAutofit/>
          </a:bodyPr>
          <a:lstStyle/>
          <a:p>
            <a:r>
              <a:rPr lang="en-US" b="1" dirty="0"/>
              <a:t>Recommendations for Future Projects:</a:t>
            </a:r>
            <a:endParaRPr lang="en-US" dirty="0"/>
          </a:p>
        </p:txBody>
      </p:sp>
      <p:cxnSp>
        <p:nvCxnSpPr>
          <p:cNvPr id="10" name="Straight Connector 9">
            <a:extLst>
              <a:ext uri="{FF2B5EF4-FFF2-40B4-BE49-F238E27FC236}">
                <a16:creationId xmlns:a16="http://schemas.microsoft.com/office/drawing/2014/main" id="{58EFA797-975B-41D8-BC96-56CDC2CFA3E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24000" y="2286000"/>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Vertical Text Placeholder 2">
            <a:extLst>
              <a:ext uri="{FF2B5EF4-FFF2-40B4-BE49-F238E27FC236}">
                <a16:creationId xmlns:a16="http://schemas.microsoft.com/office/drawing/2014/main" id="{D31079D6-815C-F880-DAD1-4595E2A16C6A}"/>
              </a:ext>
            </a:extLst>
          </p:cNvPr>
          <p:cNvSpPr>
            <a:spLocks noGrp="1"/>
          </p:cNvSpPr>
          <p:nvPr>
            <p:ph type="body" orient="vert" idx="1"/>
          </p:nvPr>
        </p:nvSpPr>
        <p:spPr>
          <a:xfrm>
            <a:off x="622570" y="797669"/>
            <a:ext cx="11352179" cy="2120629"/>
          </a:xfrm>
          <a:solidFill>
            <a:schemeClr val="accent2">
              <a:lumMod val="20000"/>
              <a:lumOff val="80000"/>
            </a:schemeClr>
          </a:solidFill>
        </p:spPr>
        <p:txBody>
          <a:bodyPr vert="horz" lIns="91440" tIns="45720" rIns="91440" bIns="45720" rtlCol="0">
            <a:normAutofit fontScale="70000" lnSpcReduction="20000"/>
          </a:bodyPr>
          <a:lstStyle/>
          <a:p>
            <a:pPr marL="0" indent="0">
              <a:buNone/>
            </a:pPr>
            <a:r>
              <a:rPr lang="en-US" sz="2100" b="1" dirty="0"/>
              <a:t>For Bank Employees:</a:t>
            </a:r>
          </a:p>
          <a:p>
            <a:r>
              <a:rPr lang="en-US" b="1" u="sng" dirty="0"/>
              <a:t>Enhance Customer Interaction for Mortgage Holders and Renters: </a:t>
            </a:r>
            <a:r>
              <a:rPr lang="en-US" dirty="0"/>
              <a:t>Focus on offering personalized loan products, such as refinancing options, home equity loans, and tailored personal loans for renters, particularly for home improvement and debt consolidation. </a:t>
            </a:r>
          </a:p>
          <a:p>
            <a:r>
              <a:rPr lang="en-US" b="1" u="sng" dirty="0"/>
              <a:t>Data-Driven Loan Offerings: </a:t>
            </a:r>
            <a:r>
              <a:rPr lang="en-US" dirty="0"/>
              <a:t>Use the data to guide personalized loan offers. For example, customers with strong repayment histories could receive targeted offers for larger loans, lower interest rates, or refinancing options.</a:t>
            </a:r>
          </a:p>
          <a:p>
            <a:r>
              <a:rPr lang="en-US" b="1" u="sng" dirty="0"/>
              <a:t>Gather More Customer Insights: </a:t>
            </a:r>
            <a:r>
              <a:rPr lang="en-US" dirty="0"/>
              <a:t>Employees should engage in data collection and surveys to better understand why certain customer segments, like "none" and "other," have minimal engagement with the bank's loan offerings.</a:t>
            </a:r>
          </a:p>
        </p:txBody>
      </p:sp>
      <p:sp>
        <p:nvSpPr>
          <p:cNvPr id="5" name="TextBox 4">
            <a:extLst>
              <a:ext uri="{FF2B5EF4-FFF2-40B4-BE49-F238E27FC236}">
                <a16:creationId xmlns:a16="http://schemas.microsoft.com/office/drawing/2014/main" id="{A83AE687-FB09-F063-F044-E3A50B396533}"/>
              </a:ext>
            </a:extLst>
          </p:cNvPr>
          <p:cNvSpPr txBox="1"/>
          <p:nvPr/>
        </p:nvSpPr>
        <p:spPr>
          <a:xfrm>
            <a:off x="559339" y="2918461"/>
            <a:ext cx="11478639" cy="3939540"/>
          </a:xfrm>
          <a:prstGeom prst="rect">
            <a:avLst/>
          </a:prstGeom>
          <a:noFill/>
        </p:spPr>
        <p:txBody>
          <a:bodyPr wrap="square" rtlCol="0">
            <a:spAutoFit/>
          </a:bodyPr>
          <a:lstStyle/>
          <a:p>
            <a:pPr marL="0" indent="0">
              <a:buNone/>
            </a:pPr>
            <a:r>
              <a:rPr lang="en-US" sz="1600" b="1" dirty="0"/>
              <a:t>For Bank Management:</a:t>
            </a:r>
          </a:p>
          <a:p>
            <a:pPr marL="0" indent="0">
              <a:buNone/>
            </a:pPr>
            <a:endParaRPr lang="en-US" b="1" dirty="0"/>
          </a:p>
          <a:p>
            <a:pPr marL="285750" indent="-285750">
              <a:buFont typeface="Arial" panose="020B0604020202020204" pitchFamily="34" charset="0"/>
              <a:buChar char="•"/>
            </a:pPr>
            <a:r>
              <a:rPr lang="en-US" sz="1400" b="1" u="sng" dirty="0"/>
              <a:t>Geographical Targeting:</a:t>
            </a:r>
            <a:r>
              <a:rPr lang="en-US" sz="1400" dirty="0"/>
              <a:t> Focus on regions where loan applications are low but repayment rates are high, like certain underutilized states. Marketing campaigns and outreach programs tailored to high-potential regions could increase loan applications. Regions such as California, Texas, New York, and Florida demonstrate high loan activity and repayments. Management should continue to focus on these areas, but also consider expanding to underrepresented states with good repayment rates, such as Washington, Colorado, and Massachusetts.</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r>
              <a:rPr lang="en-US" sz="1400" b="1" u="sng" dirty="0"/>
              <a:t>Product Innovation for Underrepresented Groups: </a:t>
            </a:r>
            <a:r>
              <a:rPr lang="en-US" sz="1400" dirty="0"/>
              <a:t>Investigate opportunities in the "none" and "other" homeownership categories. Even though these segments are small, there may be a niche for unique financial products, such as shared housing loans or alternative housing financing.</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r>
              <a:rPr lang="en-US" sz="1400" b="1" u="sng" dirty="0"/>
              <a:t>Leverage Employee Tenure Data: </a:t>
            </a:r>
            <a:r>
              <a:rPr lang="en-US" sz="1400" dirty="0"/>
              <a:t>Utilize the insights from employee length of employment to develop loan products targeting mid-career professionals. Employees with 2 to 5 years of tenure tend to be high loan applicants with strong repayment, so specialized loan products for this group, like career development loans or advanced education loans, could be attractive.</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r>
              <a:rPr lang="en-US" sz="1400" b="1" u="sng" dirty="0"/>
              <a:t>Monitor External Economic Trends: </a:t>
            </a:r>
            <a:r>
              <a:rPr lang="en-US" sz="1400" dirty="0"/>
              <a:t>Incorporate economic indicators such as changes in interest rates, inflation, and housing market trends into future loan projects. This will help the bank to be more adaptable to market shifts and continue targeting the right customer segments.</a:t>
            </a:r>
          </a:p>
          <a:p>
            <a:endParaRPr lang="en-SG" dirty="0"/>
          </a:p>
        </p:txBody>
      </p:sp>
    </p:spTree>
    <p:extLst>
      <p:ext uri="{BB962C8B-B14F-4D97-AF65-F5344CB8AC3E}">
        <p14:creationId xmlns:p14="http://schemas.microsoft.com/office/powerpoint/2010/main" val="2200371622"/>
      </p:ext>
    </p:extLst>
  </p:cSld>
  <p:clrMapOvr>
    <a:overrideClrMapping bg1="lt1" tx1="dk1" bg2="lt2" tx2="dk2" accent1="accent1" accent2="accent2" accent3="accent3" accent4="accent4" accent5="accent5" accent6="accent6" hlink="hlink" folHlink="folHlink"/>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B86D512-3A52-F25E-BBB5-0445DAFB5357}"/>
              </a:ext>
            </a:extLst>
          </p:cNvPr>
          <p:cNvPicPr>
            <a:picLocks noChangeAspect="1"/>
          </p:cNvPicPr>
          <p:nvPr/>
        </p:nvPicPr>
        <p:blipFill>
          <a:blip r:embed="rId2"/>
          <a:stretch>
            <a:fillRect/>
          </a:stretch>
        </p:blipFill>
        <p:spPr>
          <a:xfrm>
            <a:off x="0" y="0"/>
            <a:ext cx="6477492" cy="6858000"/>
          </a:xfrm>
          <a:prstGeom prst="rect">
            <a:avLst/>
          </a:prstGeom>
        </p:spPr>
      </p:pic>
      <p:pic>
        <p:nvPicPr>
          <p:cNvPr id="5" name="Picture 4">
            <a:extLst>
              <a:ext uri="{FF2B5EF4-FFF2-40B4-BE49-F238E27FC236}">
                <a16:creationId xmlns:a16="http://schemas.microsoft.com/office/drawing/2014/main" id="{3BD0E006-52E0-983B-0A2E-C6A2898C87C2}"/>
              </a:ext>
            </a:extLst>
          </p:cNvPr>
          <p:cNvPicPr>
            <a:picLocks noChangeAspect="1"/>
          </p:cNvPicPr>
          <p:nvPr/>
        </p:nvPicPr>
        <p:blipFill>
          <a:blip r:embed="rId3"/>
          <a:stretch>
            <a:fillRect/>
          </a:stretch>
        </p:blipFill>
        <p:spPr>
          <a:xfrm>
            <a:off x="6345982" y="0"/>
            <a:ext cx="6659592" cy="6858000"/>
          </a:xfrm>
          <a:prstGeom prst="rect">
            <a:avLst/>
          </a:prstGeom>
        </p:spPr>
      </p:pic>
    </p:spTree>
    <p:extLst>
      <p:ext uri="{BB962C8B-B14F-4D97-AF65-F5344CB8AC3E}">
        <p14:creationId xmlns:p14="http://schemas.microsoft.com/office/powerpoint/2010/main" val="31131262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E64A6B9-D1B4-D4A0-FF03-08BF72E31CEE}"/>
              </a:ext>
            </a:extLst>
          </p:cNvPr>
          <p:cNvPicPr>
            <a:picLocks noChangeAspect="1"/>
          </p:cNvPicPr>
          <p:nvPr/>
        </p:nvPicPr>
        <p:blipFill>
          <a:blip r:embed="rId2"/>
          <a:stretch>
            <a:fillRect/>
          </a:stretch>
        </p:blipFill>
        <p:spPr>
          <a:xfrm>
            <a:off x="1" y="2354094"/>
            <a:ext cx="5712746" cy="4503906"/>
          </a:xfrm>
          <a:prstGeom prst="rect">
            <a:avLst/>
          </a:prstGeom>
        </p:spPr>
      </p:pic>
      <p:pic>
        <p:nvPicPr>
          <p:cNvPr id="4" name="Picture 3">
            <a:extLst>
              <a:ext uri="{FF2B5EF4-FFF2-40B4-BE49-F238E27FC236}">
                <a16:creationId xmlns:a16="http://schemas.microsoft.com/office/drawing/2014/main" id="{83A65B2E-5BAC-1167-0222-B071195D2778}"/>
              </a:ext>
            </a:extLst>
          </p:cNvPr>
          <p:cNvPicPr>
            <a:picLocks noChangeAspect="1"/>
          </p:cNvPicPr>
          <p:nvPr/>
        </p:nvPicPr>
        <p:blipFill>
          <a:blip r:embed="rId3"/>
          <a:stretch>
            <a:fillRect/>
          </a:stretch>
        </p:blipFill>
        <p:spPr>
          <a:xfrm>
            <a:off x="5702240" y="2354094"/>
            <a:ext cx="6511083" cy="4503907"/>
          </a:xfrm>
          <a:prstGeom prst="rect">
            <a:avLst/>
          </a:prstGeom>
        </p:spPr>
      </p:pic>
      <p:pic>
        <p:nvPicPr>
          <p:cNvPr id="6" name="Picture 5">
            <a:extLst>
              <a:ext uri="{FF2B5EF4-FFF2-40B4-BE49-F238E27FC236}">
                <a16:creationId xmlns:a16="http://schemas.microsoft.com/office/drawing/2014/main" id="{3F23105A-8F43-0B55-BA3D-D668DB46D5E9}"/>
              </a:ext>
            </a:extLst>
          </p:cNvPr>
          <p:cNvPicPr>
            <a:picLocks noChangeAspect="1"/>
          </p:cNvPicPr>
          <p:nvPr/>
        </p:nvPicPr>
        <p:blipFill>
          <a:blip r:embed="rId4"/>
          <a:stretch>
            <a:fillRect/>
          </a:stretch>
        </p:blipFill>
        <p:spPr>
          <a:xfrm>
            <a:off x="8170568" y="-8117"/>
            <a:ext cx="4042755" cy="2362211"/>
          </a:xfrm>
          <a:prstGeom prst="rect">
            <a:avLst/>
          </a:prstGeom>
        </p:spPr>
      </p:pic>
      <p:sp>
        <p:nvSpPr>
          <p:cNvPr id="7" name="Title 1">
            <a:extLst>
              <a:ext uri="{FF2B5EF4-FFF2-40B4-BE49-F238E27FC236}">
                <a16:creationId xmlns:a16="http://schemas.microsoft.com/office/drawing/2014/main" id="{FFBCF91A-B570-9AAB-79B8-235C0E6E28D7}"/>
              </a:ext>
            </a:extLst>
          </p:cNvPr>
          <p:cNvSpPr txBox="1">
            <a:spLocks/>
          </p:cNvSpPr>
          <p:nvPr/>
        </p:nvSpPr>
        <p:spPr>
          <a:xfrm>
            <a:off x="901430" y="765208"/>
            <a:ext cx="5194570" cy="522085"/>
          </a:xfrm>
          <a:prstGeom prst="rect">
            <a:avLst/>
          </a:prstGeom>
          <a:solidFill>
            <a:schemeClr val="accent2">
              <a:lumMod val="20000"/>
              <a:lumOff val="80000"/>
            </a:schemeClr>
          </a:solidFill>
          <a:ln>
            <a:solidFill>
              <a:schemeClr val="accent1"/>
            </a:solidFill>
          </a:ln>
        </p:spPr>
        <p:txBody>
          <a:bodyPr/>
          <a:lstStyle>
            <a:lvl1pPr algn="l" defTabSz="914400" rtl="0" eaLnBrk="1" latinLnBrk="0" hangingPunct="1">
              <a:lnSpc>
                <a:spcPct val="120000"/>
              </a:lnSpc>
              <a:spcBef>
                <a:spcPct val="0"/>
              </a:spcBef>
              <a:buNone/>
              <a:defRPr sz="2800" b="1" kern="1200" cap="all" spc="600" baseline="0">
                <a:solidFill>
                  <a:schemeClr val="tx1"/>
                </a:solidFill>
                <a:latin typeface="+mj-lt"/>
                <a:ea typeface="+mj-ea"/>
                <a:cs typeface="+mj-cs"/>
              </a:defRPr>
            </a:lvl1pPr>
          </a:lstStyle>
          <a:p>
            <a:r>
              <a:rPr lang="en-US" dirty="0">
                <a:solidFill>
                  <a:schemeClr val="bg1"/>
                </a:solidFill>
              </a:rPr>
              <a:t>Overview (SQL CODING)</a:t>
            </a:r>
            <a:endParaRPr lang="en-SG" dirty="0">
              <a:solidFill>
                <a:schemeClr val="bg1"/>
              </a:solidFill>
            </a:endParaRPr>
          </a:p>
        </p:txBody>
      </p:sp>
    </p:spTree>
    <p:extLst>
      <p:ext uri="{BB962C8B-B14F-4D97-AF65-F5344CB8AC3E}">
        <p14:creationId xmlns:p14="http://schemas.microsoft.com/office/powerpoint/2010/main" val="3617984138"/>
      </p:ext>
    </p:extLst>
  </p:cSld>
  <p:clrMapOvr>
    <a:masterClrMapping/>
  </p:clrMapOvr>
</p:sld>
</file>

<file path=ppt/theme/theme1.xml><?xml version="1.0" encoding="utf-8"?>
<a:theme xmlns:a="http://schemas.openxmlformats.org/drawingml/2006/main" name="PortalVTI">
  <a:themeElements>
    <a:clrScheme name="AnalogousFromDarkSeedLeftStep">
      <a:dk1>
        <a:srgbClr val="000000"/>
      </a:dk1>
      <a:lt1>
        <a:srgbClr val="FFFFFF"/>
      </a:lt1>
      <a:dk2>
        <a:srgbClr val="412E24"/>
      </a:dk2>
      <a:lt2>
        <a:srgbClr val="E8E2E8"/>
      </a:lt2>
      <a:accent1>
        <a:srgbClr val="47B547"/>
      </a:accent1>
      <a:accent2>
        <a:srgbClr val="6CB13B"/>
      </a:accent2>
      <a:accent3>
        <a:srgbClr val="98A942"/>
      </a:accent3>
      <a:accent4>
        <a:srgbClr val="B1933B"/>
      </a:accent4>
      <a:accent5>
        <a:srgbClr val="C3744D"/>
      </a:accent5>
      <a:accent6>
        <a:srgbClr val="B13B45"/>
      </a:accent6>
      <a:hlink>
        <a:srgbClr val="AF743A"/>
      </a:hlink>
      <a:folHlink>
        <a:srgbClr val="7F7F7F"/>
      </a:folHlink>
    </a:clrScheme>
    <a:fontScheme name="Earth">
      <a:majorFont>
        <a:latin typeface="Trade Gothic Next Cond"/>
        <a:ea typeface=""/>
        <a:cs typeface=""/>
      </a:majorFont>
      <a:minorFont>
        <a:latin typeface="Trade Gothic Next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ortalVTI" id="{0E0D5035-C7F2-4607-91F4-D5D5F886A15A}" vid="{EAFF3D8B-AC13-4E90-80A9-182200FBC866}"/>
    </a:ext>
  </a:extLst>
</a:theme>
</file>

<file path=docProps/app.xml><?xml version="1.0" encoding="utf-8"?>
<Properties xmlns="http://schemas.openxmlformats.org/officeDocument/2006/extended-properties" xmlns:vt="http://schemas.openxmlformats.org/officeDocument/2006/docPropsVTypes">
  <Template>{1E72C598-205B-4604-AF01-19B33C4CCB7B}tf10001105</Template>
  <TotalTime>5593</TotalTime>
  <Words>3033</Words>
  <Application>Microsoft Office PowerPoint</Application>
  <PresentationFormat>Widescreen</PresentationFormat>
  <Paragraphs>179</Paragraphs>
  <Slides>26</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26</vt:i4>
      </vt:variant>
    </vt:vector>
  </HeadingPairs>
  <TitlesOfParts>
    <vt:vector size="35" baseType="lpstr">
      <vt:lpstr>-apple-system</vt:lpstr>
      <vt:lpstr>Aptos</vt:lpstr>
      <vt:lpstr>Arial</vt:lpstr>
      <vt:lpstr>Tenorite</vt:lpstr>
      <vt:lpstr>Times New Roman</vt:lpstr>
      <vt:lpstr>Trade Gothic Next Cond</vt:lpstr>
      <vt:lpstr>Trade Gothic Next Light</vt:lpstr>
      <vt:lpstr>Wingdings</vt:lpstr>
      <vt:lpstr>PortalVTI</vt:lpstr>
      <vt:lpstr>Bank loan  Database Analytics  </vt:lpstr>
      <vt:lpstr>Agenda</vt:lpstr>
      <vt:lpstr>OBJECTIVES</vt:lpstr>
      <vt:lpstr>PowerPoint Presentation</vt:lpstr>
      <vt:lpstr>GOOD LOAN VS BAD LOAN</vt:lpstr>
      <vt:lpstr>Overview (GOOD LOAN VS BAD LOAN)</vt:lpstr>
      <vt:lpstr>Overview (Loan Status)</vt:lpstr>
      <vt:lpstr>PowerPoint Presentation</vt:lpstr>
      <vt:lpstr>Overview (Loan Status)</vt:lpstr>
      <vt:lpstr>OVERVIEW(Monthly)</vt:lpstr>
      <vt:lpstr>OVERVIEW(Monthly)</vt:lpstr>
      <vt:lpstr>Overview (states)</vt:lpstr>
      <vt:lpstr>PowerPoint Presentation</vt:lpstr>
      <vt:lpstr>PowerPoint Presentation</vt:lpstr>
      <vt:lpstr>Overview (states)</vt:lpstr>
      <vt:lpstr>Overview (terms)</vt:lpstr>
      <vt:lpstr>PowerPoint Presentation</vt:lpstr>
      <vt:lpstr>PowerPoint Presentation</vt:lpstr>
      <vt:lpstr>PowerPoint Presentation</vt:lpstr>
      <vt:lpstr>PowerPoint Presentation</vt:lpstr>
      <vt:lpstr>PowerPoint Presentation</vt:lpstr>
      <vt:lpstr>PowerPoint Presentation</vt:lpstr>
      <vt:lpstr>Project Limitations</vt:lpstr>
      <vt:lpstr>Recommendations for Future Projects:</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Mohammad Saifuddin Bin Sanusi</dc:creator>
  <cp:lastModifiedBy>Mohammad Saifuddin Bin Sanusi</cp:lastModifiedBy>
  <cp:revision>14</cp:revision>
  <dcterms:created xsi:type="dcterms:W3CDTF">2024-10-07T07:25:39Z</dcterms:created>
  <dcterms:modified xsi:type="dcterms:W3CDTF">2024-10-11T07:17:35Z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b7d474d-5971-4b8a-9656-2f217c7133f6_Enabled">
    <vt:lpwstr>true</vt:lpwstr>
  </property>
  <property fmtid="{D5CDD505-2E9C-101B-9397-08002B2CF9AE}" pid="3" name="MSIP_Label_1b7d474d-5971-4b8a-9656-2f217c7133f6_SetDate">
    <vt:lpwstr>2024-10-07T10:03:47Z</vt:lpwstr>
  </property>
  <property fmtid="{D5CDD505-2E9C-101B-9397-08002B2CF9AE}" pid="4" name="MSIP_Label_1b7d474d-5971-4b8a-9656-2f217c7133f6_Method">
    <vt:lpwstr>Privileged</vt:lpwstr>
  </property>
  <property fmtid="{D5CDD505-2E9C-101B-9397-08002B2CF9AE}" pid="5" name="MSIP_Label_1b7d474d-5971-4b8a-9656-2f217c7133f6_Name">
    <vt:lpwstr>Public</vt:lpwstr>
  </property>
  <property fmtid="{D5CDD505-2E9C-101B-9397-08002B2CF9AE}" pid="6" name="MSIP_Label_1b7d474d-5971-4b8a-9656-2f217c7133f6_SiteId">
    <vt:lpwstr>c5d57708-33ca-4279-9049-5b2ac8c607e5</vt:lpwstr>
  </property>
  <property fmtid="{D5CDD505-2E9C-101B-9397-08002B2CF9AE}" pid="7" name="MSIP_Label_1b7d474d-5971-4b8a-9656-2f217c7133f6_ActionId">
    <vt:lpwstr>ae50a1da-bfd5-4b24-870b-3da6d22d41c8</vt:lpwstr>
  </property>
  <property fmtid="{D5CDD505-2E9C-101B-9397-08002B2CF9AE}" pid="8" name="MSIP_Label_1b7d474d-5971-4b8a-9656-2f217c7133f6_ContentBits">
    <vt:lpwstr>0</vt:lpwstr>
  </property>
</Properties>
</file>